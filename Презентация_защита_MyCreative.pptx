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DB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4" d="100"/>
          <a:sy n="164" d="100"/>
        </p:scale>
        <p:origin x="146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0520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Здравствуйте. Тема моей курсовой работы — разработка концепции и веб-приложения для 3D-сканера MyCreative. Я покажу программную архитектуру, работу студии и личной библиотеки моделей, форматы экспорта, защиту пользовательских данных и результаты тестирования.
Сразу обозначу важное ограничение: физического сканера в проекте нет. Захват поверхности имитируется программно, но сервер, авторизация, хранение и операции с трёхмерными файлами реализованы в рабочем приложении.</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Проблема заключается не только в создании трёхмерной модели, но и в управлении всем её жизненным циклом. Файл нужно получить, проверить визуально, сохранить под понятным названием, затем найти и открыть снова. Без общей системы эти действия распадаются на отдельные программы и ручные операции.
Поэтому центральная идея проекта — единая веб-среда. Она объединяет демонстрационный сеанс, просмотр сетки, экспорт и личную библиотеку. Даже при отсутствии физического сканера этот жизненный цикл можно разрабатывать и тестировать.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достоверной оценки курсовой важно не смешивать действующий код с будущими возможностями. Работающие функции расположены в браузере и на сервере: это генерация учебной геометрии, просмотр, экспорт, авторизация, хранение и изменение записей.
Второй столбец — проектное предложение. Нельзя утверждать, что сканер подключён или проведены измерения в миллиметрах. В текущем SimulationAdapter явно указаны режим simulation и отсутствие устройства. Такой подход позволяет честно показать программную готовность и будущую точку подключения аппаратного слоя.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определения задач MyCreative рассмотрены три категории существующих решений. MeshLab предназначен преимущественно для просмотра и обработки полигональных сеток. CloudCompare содержит инструменты анализа облаков точек. Polycam представляет класс приложений, в которых модель получают с помощью поддерживаемых функций мобильного устройства.
Эти решения закрывают разные участки работы с 3D-данными. В данном проекте не ставилась задача повторить их возможности. MyCreative создавался как учебная веб-платформа, объединяющая просмотр, экспорт, авторизацию и управление личным каталогом моделей.</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сравнительном слайде показана разница в назначении продуктов. MeshLab и CloudCompare — специализированные настольные средства обработки и анализа геометрии. Polycam связан с созданием моделей средствами устройств. MyCreative выступает как веб-среда для работы с полученной или демонстрационной 3D-геометрией.
Основным преимуществом выбранной архитектуры является единый пользовательский поток: просмотр, экспорт, каталог и серверная учётная запись. Но в реализованной версии нет собственных датчиков, калибровки и измерений физического объекта. Это ограничение принципиально важно для сравнения.</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Цель работы — именно создание программного прототипа. Для этого сначала были определены сценарии пользователя и архитектура системы. Затем реализованы основные страницы, 3D-движок, клиент-серверное взаимодействие и серверное хранение файлов.
Отдельной задачей было обеспечение безопасности: пароли не сохраняются открытым текстом, а операции над моделью должны проверять её владельца. Итоговая проверка включает автоматические тесты и ручной сценарий для демонстрации на компьютере защиты.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проекте предусмотрены три процедурные фигуры, три уровня детализации и три поддерживаемых формата обмена. Это позволяет проверять разные топологии сеток без заранее подготовленных файлов.
Отдельно реализованы серверные функции личной библиотеки. Ключевые сценарии подтверждаются автоматическими тестами. При подготовке материалов я повторно запустил штатный набор: все 40 тестов прошли, ноль ошибок. Эти тесты относятся к программному коду, а не к физическому сканированию.</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схеме показан типовой сценарий. Сначала выбирается учебная геометрия и качество. Далее запускается симуляция с возможностью отмены. После завершения открывается результат: его можно вращать, масштабировать, видеть сетку и статистику.
Затем пользователь выбирает формат и скачивает файл. Если он вошёл в аккаунт, результат можно сохранить на сервере. Из личной библиотеки модель доступна повторно. Принципиально, что экспорт берёт текущую геометрию viewer, а не отдельный заранее подготовленный файл.</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Архитектура разделена на несколько слоёв. Браузер отвечает за страницы и визуализацию Three.js. Express принимает HTTP-запросы, проверяет авторизацию и формат файлов. Метаданные находятся в PostgreSQL или локальной PGlite; сами файлы моделей помещаются в закрытое хранилище.
Симулятор расположен отдельно от серверных функций. Благодаря этому теоретически можно заменить источник геометрии аппаратным адаптером, не меняя весь процесс регистрации или работы с библиотекой. При этом предстоит разработать отдельный канал передачи реальных измерений.</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клиентской части используются стандартные веб-технологии — HTML, CSS и JavaScript. Библиотека Three.js обеспечивает геометрию, камеры, освещение, загрузчики и экспортёры. Сервер написан на Node.js с Express.
В качестве базы предусмотрен PostgreSQL, а для удобной демонстрации — PGlite, встроенный PostgreSQL на WebAssembly. Библиотеки bcryptjs, jsonwebtoken и Helmet отвечают за отдельные защитные механизмы. Автоматические тесты используют встроенный Node.js test runner.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Рабочий клиент находится в папке public. Это важно, потому что в архиве также присутствуют более старые корневые HTML и JavaScript-файлы. Express отдаёт страницы из public.
Структура веб-интерфейса выделяет презентационные страницы, страницу концепции, рабочую студию, авторизацию и личную библиотеку. Пользователь может познакомиться с ограничениями до запуска симулятора и сохранить результат после входа в аккаунт.</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учебной студии доступны кристалл, сфера и кольцо. Это математические примитивы Three.js: IcosahedronGeometry, SphereGeometry и TorusGeometry. Разные формы позволяют проверить построение, отображение, изменение детализации и экспорт.
На демонстрации можно показать, как число вершин и треугольников изменяется при выборе уровня детализации. Нужно отдельно сказать, что количество полигонов не определяет измерительную точность сканера.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качестве аппаратного источника сейчас используется класс SimulationAdapter. Метод getStatus прямо возвращает отсутствие подключённого устройства; run моделирует три стадии с 30 обновлениями процента прогресса.
Во время работы параметры формы и качества блокируются. Кнопка отмены вызывает AbortController; адаптер проверяет signal и завершает операцию исключением AbortError. Такой интерфейс удобен для будущего подключения SDK, но текущий код не отправляет команды реальному прибору.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Основной 3D-просмотр реализован модулем model-viewer.js. Он создаёт сцену, камеру, свет, сетку и объекты Mesh. С помощью OrbitControls пользователь вращает камеру, а функция fit возвращает обзор. Можно включать каркасный режим для изучения структуры треугольников.
При замене моделей прежняя геометрия и материалы освобождаются. Если WebGL недоступен, приложение пытается использовать SVGRenderer с ограничением до 20 тысяч треугольников. Резервный режим не равен полной производительности аппаратной графики.</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Экспортная функция читает объект, который уже открыт в viewer. Доступны три формата: OBJ, PLY и GLTF. Их функции выполняют штатные экспортёры Three.js, результат превращается в Blob.
Один и тот же Blob может быть скачан пользователем или передан на сервер для сохранения. Такой подход обеспечивает соответствие наблюдаемой сетки и выгружаемого файла, что подтверждается тестами экспорта.</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Импортируемые файлы нельзя считать безопасными только потому, что они загружены с собственного интерфейса. Сервер проверяет расширение, размер, структуру и количество вершин или граней. Для GLTF предусмотрен запрет внешних URI, что исключает автоматическую подгрузку сторонних ресурсов.
Файл записывается под случайным именем и хранится вне общедоступной папки public. При ошибке сервер старается удалить временную копию. Такой подход соответствует общим рекомендациям OWASP для загрузки файлов, хотя не является полноценной промышленной песочницей.</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Схема данных состоит из двух связанных таблиц users и scans. Один пользователь может иметь несколько сохранённых моделей; внешний ключ поддерживает ссылочную целостность. В БД сохраняются метаданные, включая формат и служебное имя файла.
Содержимое самой модели находится в файловой системе. Это разделение упрощает получение списка и управление файлами. Однако у него есть известный недостаток: транзакция PostgreSQL не включает файловую систему. Поэтому после аварии возможна необходимость сверки файлов и записей.</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API организован вокруг двух групп ресурсов: авторизации и моделей. Отдельный маршрут health помогает понять, подключена ли база и что устройство отсутствует.
Операции имеют обычные HTTP-методы: GET для чтения, POST для создания, PATCH для изменения и DELETE для удаления. При ошибке сервер возвращает JSON с понятным текстом и соответствующим HTTP-статусом. Важно, что все операции над личной моделью проверяют владельца.</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 регистрации сервер нормализует email и проверяет ограничения. Пароль обрабатывается bcrypt с cost 12; в таблицу users записывается только password_hash.
После входа создаётся JWT со сроком действия семь дней и помещается в HttpOnly-cookie mc_session. Сервер получает cookie на следующих запросах и проверяет подпись. В Insomnia не нужно вставлять токен в Bearer Token: используется cookie jar. Для настоящего публичного хостинга потребуется HTTPS.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Самая важная граница безопасности — принадлежность записи конкретному пользователю. В SQL-запросах к модели проверяются одновременно id и user_id. Знание UUID чужого объекта не позволяет его скачать, изменить или удалить.
Дополнительные меры включают параметризованный SQL, защитные заголовки Helmet, лимиты запросов, ограничение файлов и запрет прямой выдачи хранилища. При этом в работе обозначены и оставшиеся риски: например, политика CSP пока допускает некоторые inline-ресурсы.</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приложении предусмотрены ограничения: максимум 10 МБ на файл, 100 моделей и 100 МБ для одного аккаунта. Проверка проводится на сервере; клиентское отображение квоты служит только информированию.
При сохранении сервер начинает SQL-транзакцию и блокирует строку пользователя на время расчёта квоты. Это снижает риск конкурирующих запросов. При ошибке выполняется откат и удаление временного файла. Важно честно отметить, что SQL и файловая система не образуют общую транзакцию.</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регистрации пользователь получает библиотеку, где хранятся только его модели. Список можно искать по названию, фильтровать по формату и сортировать. API возвращает до двенадцати записей на страницу и статистику использования квоты.
Пользователь может открыть предпросмотр, изменить имя, скачать файл или удалить его. Удаление требует подтверждения. Все эти операции проверяются на стороне сервера, поэтому ограничение доступа не зависит от того, скрыта ли кнопка в браузере.</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Штатные проверки повторно запускались командой npm test из папки backend. Результат: 40 тестов выполнены, все успешны, ошибок и пропусков нет.
Проверки охватывают регистрацию, вход, cookie, обработку файлов, ограничения доступа двух пользователей, форматы экспорта и отмену симуляции. API проверяется через реальный HTTP-сервер и временную PGlite, а не через заготовленные ответы. Эта статистика не доказывает точность физического сканирования.</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Тесты проверяют не только нормальную работу. Отрицательные сценарии особенно важны для защищённого веб-приложения: чужой файл должен быть недоступен, некорректный входной файл должен отвергаться, а ошибочные запросы не должны повреждать данные.
При этом нужно отличать автотесты от ручной проверки графики. Реальную работу на Windows x64, аппаратный WebGL и мобильную вёрстку следует проверить на целевой машине перед защитой.</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удобной защиты в архив добавлен демонстрационный режим на PGlite. На Windows требуется Node.js версии 22 или новее. Из корня проекта переходим в backend, выполняем npm ci и npm run demo, после чего открываем localhost:3000.
Аккаунты и модели сохраняются в backend/.demo и могут пережить перезапуск. Отдельно устанавливать PostgreSQL для этого режима не нужно. Если PowerShell блокирует файл npm.ps1, можно выполнять npm.cmd.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рабочем режиме приложение использует отдельную службу PostgreSQL. Необходимо создать базу mycreative, настроить DATABASE_URL и JWT_SECRET в .env и запустить npm start. При старте применяется schema.sql для отсутствующих таблиц.
Демонстрационный режим PGlite и основной режим PostgreSQL имеют разные данные. Перед защитой следует выбрать один режим и не переключать его случайно, иначе библиотека может показаться пустой. Для резервного копирования требуются и SQL-данные, и физические файлы моделей.</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схеме показано возможное развитие системы после появления оборудования. Конкретный сканер должен иметь драйвер или SDK. Управляющий сервис будет работать локально рядом с прибором, а сервер — проверять права и управлять задачами. Результат затем передаётся в обычную библиотеку и viewer.
В отличие от SimulationAdapter, такой модуль должен получать реальные координаты и сообщать ошибки физической связи. На текущем этапе этот слой существует только как спецификация будущей интеграции.</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Реальная аппаратная часть значительно сложнее демонстрационной. Нужно выбрать конкретную технологию измерения, получить поддерживаемый SDK, проверить режимы подключения и отключения, организовать калибровку.
Затем разрабатываются алгоритмы обработки измерений и сравнения с эталонными объектами. Только после этих испытаний можно обсуждать погрешность в физических единицах. Число треугольников в учебной сетке не является измерительной характеристикой.</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оценки готовности нужно назвать и ограничения. Отсутствует физический сканер, нет измерительной калибровки, поддерживается ограниченный набор форматов, нет восстановления пароля или промышленного мониторинга.
Следующим этапом целесообразно обеспечить согласованность БД и файлов, добавить управляемые миграции и проверить работу в разных браузерах. Только затем можно развивать аппаратную часть. Открытое описание рисков делает проект точнее, чем обещание несуществующих функций.</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План доработки разделён на четыре последовательных этапа. Сначала укрепляется стабильность программной части и управление данными. Затем создаётся адаптер к выбранному устройству с обработкой команд и ошибок.
На следующем этапе реализуется реконструкция по настоящим измерениям. Финальный этап — измерительные испытания на эталонных объектах с документированием параметров и погрешности. Такая последовательность не вынуждает переписывать уже существующий интерфейс библиотеки.</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теоретической части рекомендую выполнить короткую живую демонстрацию. Сначала показать страницу концепции, затем выбрать кольцо, запустить и отменить симуляцию. Повторным запуском получить готовый результат, включить каркас и повернуть модель.
Далее скачать выбранный формат, сохранить в личной библиотеке, показать поиск и переименование. Завершить можно командой npm test. Желательно заранее проверить все шаги на том компьютере, где будет защита, и использовать только тестовые учётные данные.</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результате курсовой создан работающий программный прототип MyCreative 2.0. Он объединяет 3D-студию, экспорт файлов, серверную авторизацию и персональную библиотеку. Программная часть проверена автоматическими тестами.
Ключевой итог состоит также в продуманном расширении: симулятор выделен в отдельный модуль, и после получения оборудования можно разработать адаптер. При этом реальную точность и качество измерений необходимо будет подтверждать отдельными испытаниями.</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Описание курсовой основано прежде всего на исходном архиве MyCreative, включая README, архитектуру, описание API и автоматические тесты. Дополнительно использованы официальные материалы по Three.js, PostgreSQL, PGlite и безопасности веб-приложений.
GitHub использован как источник документации PGlite; исходный проект пользователя не объявляется опубликованным на GitHub, поскольку адрес его репозитория не был предоставлен.</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Спасибо за внимание. Я готов ответить на вопросы о программной архитектуре, работе библиотек, безопасности, тестах и будущей интеграции с реальным устройством.
Если комиссия спросит о сканировании, следует прямо пояснить: реального оборудования нет, поэтому аппаратные измерения не выполнялись. Если спросят о сохранении, объяснить цепочку от Blob в браузере через Express API и проверку пользователя к метаданным PostgreSQL и файлу в закрытом каталоге.</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226"/>
        </a:solidFill>
        <a:effectLst/>
      </p:bgPr>
    </p:bg>
    <p:spTree>
      <p:nvGrpSpPr>
        <p:cNvPr id="1" name=""/>
        <p:cNvGrpSpPr/>
        <p:nvPr/>
      </p:nvGrpSpPr>
      <p:grpSpPr>
        <a:xfrm>
          <a:off x="0" y="0"/>
          <a:ext cx="0" cy="0"/>
          <a:chOff x="0" y="0"/>
          <a:chExt cx="0" cy="0"/>
        </a:xfrm>
      </p:grpSpPr>
      <p:sp>
        <p:nvSpPr>
          <p:cNvPr id="11" name="Rounded Rectangle 10"/>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40080" y="5303520"/>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Image 0" descr="/mnt/data/mycreative_assets/hero.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384048" y="5989320"/>
            <a:ext cx="11375136" cy="566928"/>
          </a:xfrm>
          <a:prstGeom prst="roundRect">
            <a:avLst>
              <a:gd name="adj" fmla="val 16129"/>
            </a:avLst>
          </a:prstGeom>
          <a:solidFill>
            <a:srgbClr val="102437"/>
          </a:solidFill>
          <a:ln w="15240">
            <a:solidFill>
              <a:srgbClr val="2C6970"/>
            </a:solidFill>
            <a:prstDash val="solid"/>
          </a:ln>
        </p:spPr>
        <p:txBody>
          <a:bodyPr/>
          <a:lstStyle/>
          <a:p>
            <a:endParaRPr/>
          </a:p>
        </p:txBody>
      </p:sp>
      <p:sp>
        <p:nvSpPr>
          <p:cNvPr id="5" name="Text 2"/>
          <p:cNvSpPr/>
          <p:nvPr/>
        </p:nvSpPr>
        <p:spPr>
          <a:xfrm>
            <a:off x="658368" y="201168"/>
            <a:ext cx="9144000" cy="246888"/>
          </a:xfrm>
          <a:prstGeom prst="rect">
            <a:avLst/>
          </a:prstGeom>
          <a:noFill/>
          <a:ln/>
        </p:spPr>
        <p:txBody>
          <a:bodyPr wrap="square" lIns="0" tIns="0" rIns="0" bIns="0" rtlCol="0" anchor="ctr">
            <a:normAutofit/>
          </a:bodyPr>
          <a:lstStyle/>
          <a:p>
            <a:pPr marL="0" indent="0">
              <a:buNone/>
            </a:pPr>
            <a:r>
              <a:rPr lang="en-US" sz="1200" b="1" dirty="0">
                <a:solidFill>
                  <a:srgbClr val="ADC3D1"/>
                </a:solidFill>
                <a:latin typeface="Segoe UI" pitchFamily="34" charset="0"/>
                <a:ea typeface="Aptos" pitchFamily="34" charset="-122"/>
                <a:cs typeface="Aptos" pitchFamily="34" charset="-120"/>
              </a:rPr>
              <a:t>ГБПОУ КОЛЛЕДЖ «ЦАРИЦЫНО»  ·  ПМ.09</a:t>
            </a:r>
            <a:endParaRPr lang="en-US" sz="1200" dirty="0"/>
          </a:p>
        </p:txBody>
      </p:sp>
      <p:sp>
        <p:nvSpPr>
          <p:cNvPr id="12" name="TextBox 11"/>
          <p:cNvSpPr txBox="1"/>
          <p:nvPr/>
        </p:nvSpPr>
        <p:spPr>
          <a:xfrm>
            <a:off x="384048" y="6519672"/>
            <a:ext cx="6583680" cy="201168"/>
          </a:xfrm>
          <a:prstGeom prst="rect">
            <a:avLst/>
          </a:prstGeom>
          <a:noFill/>
        </p:spPr>
        <p:txBody>
          <a:bodyPr wrap="none">
            <a:spAutoFit/>
          </a:bodyPr>
          <a:lstStyle/>
          <a:p>
            <a:r>
              <a:rPr sz="1250">
                <a:solidFill>
                  <a:srgbClr val="B0C6DE"/>
                </a:solidFill>
                <a:latin typeface="Segoe UI"/>
              </a:rPr>
              <a:t>Вашкинель Олег и Денисов Вячеслав • 23ИС4-1</a:t>
            </a:r>
          </a:p>
        </p:txBody>
      </p:sp>
      <p:sp>
        <p:nvSpPr>
          <p:cNvPr id="13" name="Rounded Rectangle 1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01</a:t>
            </a:r>
          </a:p>
        </p:txBody>
      </p:sp>
      <p:pic>
        <p:nvPicPr>
          <p:cNvPr id="14" name="Picture 13" descr="image.png"/>
          <p:cNvPicPr>
            <a:picLocks noChangeAspect="1"/>
          </p:cNvPicPr>
          <p:nvPr/>
        </p:nvPicPr>
        <p:blipFill>
          <a:blip r:embed="rId3"/>
          <a:stretch>
            <a:fillRect/>
          </a:stretch>
        </p:blipFill>
        <p:spPr>
          <a:xfrm>
            <a:off x="137160" y="777240"/>
            <a:ext cx="11887200" cy="6433073"/>
          </a:xfrm>
          <a:prstGeom prst="rect">
            <a:avLst/>
          </a:prstGeom>
        </p:spPr>
      </p:pic>
      <p:sp>
        <p:nvSpPr>
          <p:cNvPr id="15" name="Rounded Rectangle 14"/>
          <p:cNvSpPr/>
          <p:nvPr/>
        </p:nvSpPr>
        <p:spPr>
          <a:xfrm>
            <a:off x="548640" y="822960"/>
            <a:ext cx="4480560" cy="3931920"/>
          </a:xfrm>
          <a:prstGeom prst="roundRect">
            <a:avLst/>
          </a:prstGeom>
          <a:solidFill>
            <a:srgbClr val="071226"/>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1051560"/>
            <a:ext cx="3931920" cy="457200"/>
          </a:xfrm>
          <a:prstGeom prst="rect">
            <a:avLst/>
          </a:prstGeom>
          <a:noFill/>
        </p:spPr>
        <p:txBody>
          <a:bodyPr wrap="square">
            <a:spAutoFit/>
          </a:bodyPr>
          <a:lstStyle/>
          <a:p>
            <a:r>
              <a:rPr sz="2800" b="1">
                <a:solidFill>
                  <a:srgbClr val="F2F7FF"/>
                </a:solidFill>
                <a:latin typeface="Segoe UI"/>
              </a:rPr>
              <a:t>MYCREATIVE 2.0</a:t>
            </a:r>
          </a:p>
        </p:txBody>
      </p:sp>
      <p:sp>
        <p:nvSpPr>
          <p:cNvPr id="17" name="TextBox 16"/>
          <p:cNvSpPr txBox="1"/>
          <p:nvPr/>
        </p:nvSpPr>
        <p:spPr>
          <a:xfrm>
            <a:off x="777240" y="1490472"/>
            <a:ext cx="3931920" cy="640080"/>
          </a:xfrm>
          <a:prstGeom prst="rect">
            <a:avLst/>
          </a:prstGeom>
          <a:noFill/>
        </p:spPr>
        <p:txBody>
          <a:bodyPr wrap="square">
            <a:spAutoFit/>
          </a:bodyPr>
          <a:lstStyle/>
          <a:p>
            <a:r>
              <a:rPr sz="1500" b="1">
                <a:solidFill>
                  <a:srgbClr val="34DBD6"/>
                </a:solidFill>
                <a:latin typeface="Segoe UI"/>
              </a:rPr>
              <a:t>ВЕБ-ПРИЛОЖЕНИЕ И КОНЦЕПЦИЯ 3D-СКАНЕРА</a:t>
            </a:r>
          </a:p>
        </p:txBody>
      </p:sp>
      <p:sp>
        <p:nvSpPr>
          <p:cNvPr id="18" name="TextBox 17"/>
          <p:cNvSpPr txBox="1"/>
          <p:nvPr/>
        </p:nvSpPr>
        <p:spPr>
          <a:xfrm>
            <a:off x="777240" y="1965960"/>
            <a:ext cx="3931920" cy="822960"/>
          </a:xfrm>
          <a:prstGeom prst="rect">
            <a:avLst/>
          </a:prstGeom>
          <a:noFill/>
        </p:spPr>
        <p:txBody>
          <a:bodyPr wrap="square">
            <a:spAutoFit/>
          </a:bodyPr>
          <a:lstStyle/>
          <a:p>
            <a:r>
              <a:rPr sz="1250" b="0">
                <a:solidFill>
                  <a:srgbClr val="ACBDD2"/>
                </a:solidFill>
                <a:latin typeface="Segoe UI"/>
              </a:rPr>
              <a:t>Презентация курсового проекта по модулю ПМ.09</a:t>
            </a:r>
          </a:p>
          <a:p>
            <a:r>
              <a:rPr sz="1250" b="0">
                <a:solidFill>
                  <a:srgbClr val="ACBDD2"/>
                </a:solidFill>
                <a:latin typeface="Segoe UI"/>
              </a:rPr>
              <a:t>«Проектирование, разработка и оптимизация веб-приложений»</a:t>
            </a:r>
          </a:p>
        </p:txBody>
      </p:sp>
      <p:sp>
        <p:nvSpPr>
          <p:cNvPr id="19" name="TextBox 18"/>
          <p:cNvSpPr txBox="1"/>
          <p:nvPr/>
        </p:nvSpPr>
        <p:spPr>
          <a:xfrm>
            <a:off x="777240" y="2926080"/>
            <a:ext cx="3931920" cy="784830"/>
          </a:xfrm>
          <a:prstGeom prst="rect">
            <a:avLst/>
          </a:prstGeom>
          <a:noFill/>
        </p:spPr>
        <p:txBody>
          <a:bodyPr wrap="square">
            <a:spAutoFit/>
          </a:bodyPr>
          <a:lstStyle/>
          <a:p>
            <a:r>
              <a:rPr sz="1500" b="0" dirty="0" err="1">
                <a:solidFill>
                  <a:srgbClr val="F2F7FF"/>
                </a:solidFill>
                <a:latin typeface="Segoe UI"/>
              </a:rPr>
              <a:t>Подготовили</a:t>
            </a:r>
            <a:r>
              <a:rPr sz="1500" b="0" dirty="0">
                <a:solidFill>
                  <a:srgbClr val="F2F7FF"/>
                </a:solidFill>
                <a:latin typeface="Segoe UI"/>
              </a:rPr>
              <a:t>: Вашкинель </a:t>
            </a:r>
            <a:r>
              <a:rPr sz="1500" b="0" dirty="0" err="1">
                <a:solidFill>
                  <a:srgbClr val="F2F7FF"/>
                </a:solidFill>
                <a:latin typeface="Segoe UI"/>
              </a:rPr>
              <a:t>Олег</a:t>
            </a:r>
            <a:r>
              <a:rPr sz="1500" b="0" dirty="0">
                <a:solidFill>
                  <a:srgbClr val="F2F7FF"/>
                </a:solidFill>
                <a:latin typeface="Segoe UI"/>
              </a:rPr>
              <a:t> и </a:t>
            </a:r>
            <a:endParaRPr lang="ru-RU" sz="1500" b="0" dirty="0" smtClean="0">
              <a:solidFill>
                <a:srgbClr val="F2F7FF"/>
              </a:solidFill>
              <a:latin typeface="Segoe UI"/>
            </a:endParaRPr>
          </a:p>
          <a:p>
            <a:r>
              <a:rPr sz="1500" b="0" dirty="0" err="1" smtClean="0">
                <a:solidFill>
                  <a:srgbClr val="F2F7FF"/>
                </a:solidFill>
                <a:latin typeface="Segoe UI"/>
              </a:rPr>
              <a:t>Денисов</a:t>
            </a:r>
            <a:r>
              <a:rPr sz="1500" b="0" dirty="0" smtClean="0">
                <a:solidFill>
                  <a:srgbClr val="F2F7FF"/>
                </a:solidFill>
                <a:latin typeface="Segoe UI"/>
              </a:rPr>
              <a:t> </a:t>
            </a:r>
            <a:r>
              <a:rPr sz="1500" b="0" dirty="0" err="1">
                <a:solidFill>
                  <a:srgbClr val="F2F7FF"/>
                </a:solidFill>
                <a:latin typeface="Segoe UI"/>
              </a:rPr>
              <a:t>Вячеслав</a:t>
            </a:r>
            <a:endParaRPr sz="1500" b="0" dirty="0">
              <a:solidFill>
                <a:srgbClr val="F2F7FF"/>
              </a:solidFill>
              <a:latin typeface="Segoe UI"/>
            </a:endParaRPr>
          </a:p>
          <a:p>
            <a:r>
              <a:rPr sz="1500" b="0" dirty="0" err="1">
                <a:solidFill>
                  <a:srgbClr val="F2F7FF"/>
                </a:solidFill>
                <a:latin typeface="Segoe UI"/>
              </a:rPr>
              <a:t>Группа</a:t>
            </a:r>
            <a:r>
              <a:rPr sz="1500" b="0" dirty="0">
                <a:solidFill>
                  <a:srgbClr val="F2F7FF"/>
                </a:solidFill>
                <a:latin typeface="Segoe UI"/>
              </a:rPr>
              <a:t>: 23ИС4-1</a:t>
            </a:r>
          </a:p>
        </p:txBody>
      </p:sp>
      <p:sp>
        <p:nvSpPr>
          <p:cNvPr id="20" name="TextBox 19"/>
          <p:cNvSpPr txBox="1"/>
          <p:nvPr/>
        </p:nvSpPr>
        <p:spPr>
          <a:xfrm>
            <a:off x="777240" y="3977639"/>
            <a:ext cx="3931920" cy="365760"/>
          </a:xfrm>
          <a:prstGeom prst="rect">
            <a:avLst/>
          </a:prstGeom>
          <a:noFill/>
        </p:spPr>
        <p:txBody>
          <a:bodyPr wrap="square">
            <a:spAutoFit/>
          </a:bodyPr>
          <a:lstStyle/>
          <a:p>
            <a:r>
              <a:rPr sz="1250" b="0">
                <a:solidFill>
                  <a:srgbClr val="B0C6DE"/>
                </a:solidFill>
                <a:latin typeface="Segoe UI"/>
              </a:rPr>
              <a:t>ГБПОУ Колледж «Царицыно»</a:t>
            </a:r>
          </a:p>
        </p:txBody>
      </p:sp>
      <p:sp>
        <p:nvSpPr>
          <p:cNvPr id="21" name="Rounded Rectangle 20"/>
          <p:cNvSpPr/>
          <p:nvPr/>
        </p:nvSpPr>
        <p:spPr>
          <a:xfrm>
            <a:off x="777240" y="4572000"/>
            <a:ext cx="3474720" cy="411480"/>
          </a:xfrm>
          <a:prstGeom prst="roundRect">
            <a:avLst/>
          </a:prstGeom>
          <a:solidFill>
            <a:srgbClr val="153157"/>
          </a:solidFill>
          <a:ln>
            <a:solidFill>
              <a:srgbClr val="34DBD6"/>
            </a:solidFill>
          </a:ln>
        </p:spPr>
        <p:style>
          <a:lnRef idx="1">
            <a:schemeClr val="accent1"/>
          </a:lnRef>
          <a:fillRef idx="3">
            <a:schemeClr val="accent1"/>
          </a:fillRef>
          <a:effectRef idx="2">
            <a:schemeClr val="accent1"/>
          </a:effectRef>
          <a:fontRef idx="minor">
            <a:schemeClr val="lt1"/>
          </a:fontRef>
        </p:style>
        <p:txBody>
          <a:bodyPr rtlCol="0" anchor="ctr"/>
          <a:lstStyle/>
          <a:p>
            <a:r>
              <a:rPr sz="1150" b="1">
                <a:solidFill>
                  <a:srgbClr val="F2F7FF"/>
                </a:solidFill>
                <a:latin typeface="Segoe UI"/>
              </a:rPr>
              <a:t>Реальное ПО / программная симуляция / экспорт моделей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226"/>
        </a:solidFill>
        <a:effectLst/>
      </p:bgPr>
    </p:bg>
    <p:spTree>
      <p:nvGrpSpPr>
        <p:cNvPr id="1" name=""/>
        <p:cNvGrpSpPr/>
        <p:nvPr/>
      </p:nvGrpSpPr>
      <p:grpSpPr>
        <a:xfrm>
          <a:off x="0" y="0"/>
          <a:ext cx="0" cy="0"/>
          <a:chOff x="0" y="0"/>
          <a:chExt cx="0" cy="0"/>
        </a:xfrm>
      </p:grpSpPr>
      <p:sp>
        <p:nvSpPr>
          <p:cNvPr id="31" name="Rounded Rectangle 30"/>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20588" y="52669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Актуальность: единый цикл работы с 3D-данными</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02</a:t>
            </a:r>
            <a:endParaRPr lang="en-US" sz="900" dirty="0"/>
          </a:p>
        </p:txBody>
      </p:sp>
      <p:sp>
        <p:nvSpPr>
          <p:cNvPr id="8" name="Shape 6"/>
          <p:cNvSpPr/>
          <p:nvPr/>
        </p:nvSpPr>
        <p:spPr>
          <a:xfrm>
            <a:off x="640080" y="1554480"/>
            <a:ext cx="3511296" cy="3419856"/>
          </a:xfrm>
          <a:prstGeom prst="roundRect">
            <a:avLst>
              <a:gd name="adj" fmla="val 3743"/>
            </a:avLst>
          </a:prstGeom>
          <a:solidFill>
            <a:srgbClr val="183047"/>
          </a:solidFill>
          <a:ln w="15240">
            <a:solidFill>
              <a:srgbClr val="355064"/>
            </a:solidFill>
            <a:prstDash val="solid"/>
          </a:ln>
        </p:spPr>
        <p:txBody>
          <a:bodyPr/>
          <a:lstStyle/>
          <a:p>
            <a:endParaRPr/>
          </a:p>
        </p:txBody>
      </p:sp>
      <p:sp>
        <p:nvSpPr>
          <p:cNvPr id="9" name="Shape 7"/>
          <p:cNvSpPr/>
          <p:nvPr/>
        </p:nvSpPr>
        <p:spPr>
          <a:xfrm>
            <a:off x="795528" y="1773936"/>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50976" y="1755648"/>
            <a:ext cx="3054096"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01 / ПОЛУЧИТЬ</a:t>
            </a:r>
            <a:endParaRPr lang="en-US" sz="1800" dirty="0"/>
          </a:p>
        </p:txBody>
      </p:sp>
      <p:sp>
        <p:nvSpPr>
          <p:cNvPr id="11" name="Text 9"/>
          <p:cNvSpPr/>
          <p:nvPr/>
        </p:nvSpPr>
        <p:spPr>
          <a:xfrm>
            <a:off x="868680" y="2240280"/>
            <a:ext cx="3063240" cy="263347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Нужен понятный процесс запуска задания и получения цифровой геометрии.</a:t>
            </a:r>
            <a:endParaRPr lang="en-US" sz="1800" dirty="0"/>
          </a:p>
        </p:txBody>
      </p:sp>
      <p:sp>
        <p:nvSpPr>
          <p:cNvPr id="12" name="Shape 10"/>
          <p:cNvSpPr/>
          <p:nvPr/>
        </p:nvSpPr>
        <p:spPr>
          <a:xfrm>
            <a:off x="4334256" y="1554480"/>
            <a:ext cx="3511296" cy="3419856"/>
          </a:xfrm>
          <a:prstGeom prst="roundRect">
            <a:avLst>
              <a:gd name="adj" fmla="val 3743"/>
            </a:avLst>
          </a:prstGeom>
          <a:solidFill>
            <a:srgbClr val="183047"/>
          </a:solidFill>
          <a:ln w="15240">
            <a:solidFill>
              <a:srgbClr val="355064"/>
            </a:solidFill>
            <a:prstDash val="solid"/>
          </a:ln>
        </p:spPr>
        <p:txBody>
          <a:bodyPr/>
          <a:lstStyle/>
          <a:p>
            <a:endParaRPr/>
          </a:p>
        </p:txBody>
      </p:sp>
      <p:sp>
        <p:nvSpPr>
          <p:cNvPr id="13" name="Shape 11"/>
          <p:cNvSpPr/>
          <p:nvPr/>
        </p:nvSpPr>
        <p:spPr>
          <a:xfrm>
            <a:off x="4489704" y="1773936"/>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4645152" y="1755648"/>
            <a:ext cx="3054096"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02 / ПРОВЕРИТЬ</a:t>
            </a:r>
            <a:endParaRPr lang="en-US" sz="1800" dirty="0"/>
          </a:p>
        </p:txBody>
      </p:sp>
      <p:sp>
        <p:nvSpPr>
          <p:cNvPr id="15" name="Text 13"/>
          <p:cNvSpPr/>
          <p:nvPr/>
        </p:nvSpPr>
        <p:spPr>
          <a:xfrm>
            <a:off x="4562856" y="2240280"/>
            <a:ext cx="3063240" cy="263347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Пользователь должен вращать, масштабировать и изучать полигональную сетку.</a:t>
            </a:r>
            <a:endParaRPr lang="en-US" sz="1800" dirty="0"/>
          </a:p>
        </p:txBody>
      </p:sp>
      <p:sp>
        <p:nvSpPr>
          <p:cNvPr id="16" name="Shape 14"/>
          <p:cNvSpPr/>
          <p:nvPr/>
        </p:nvSpPr>
        <p:spPr>
          <a:xfrm>
            <a:off x="8028432" y="1554480"/>
            <a:ext cx="3511296" cy="3419856"/>
          </a:xfrm>
          <a:prstGeom prst="roundRect">
            <a:avLst>
              <a:gd name="adj" fmla="val 3743"/>
            </a:avLst>
          </a:prstGeom>
          <a:solidFill>
            <a:srgbClr val="183047"/>
          </a:solidFill>
          <a:ln w="15240">
            <a:solidFill>
              <a:srgbClr val="355064"/>
            </a:solidFill>
            <a:prstDash val="solid"/>
          </a:ln>
        </p:spPr>
        <p:txBody>
          <a:bodyPr/>
          <a:lstStyle/>
          <a:p>
            <a:endParaRPr/>
          </a:p>
        </p:txBody>
      </p:sp>
      <p:sp>
        <p:nvSpPr>
          <p:cNvPr id="17" name="Shape 15"/>
          <p:cNvSpPr/>
          <p:nvPr/>
        </p:nvSpPr>
        <p:spPr>
          <a:xfrm>
            <a:off x="8183880" y="1773936"/>
            <a:ext cx="59436" cy="347472"/>
          </a:xfrm>
          <a:prstGeom prst="rect">
            <a:avLst/>
          </a:prstGeom>
          <a:solidFill>
            <a:srgbClr val="9FDFBC"/>
          </a:solidFill>
          <a:ln w="12700">
            <a:solidFill>
              <a:srgbClr val="9FDFBC"/>
            </a:solidFill>
            <a:prstDash val="solid"/>
          </a:ln>
        </p:spPr>
        <p:txBody>
          <a:bodyPr/>
          <a:lstStyle/>
          <a:p>
            <a:endParaRPr/>
          </a:p>
        </p:txBody>
      </p:sp>
      <p:sp>
        <p:nvSpPr>
          <p:cNvPr id="18" name="Text 16"/>
          <p:cNvSpPr/>
          <p:nvPr/>
        </p:nvSpPr>
        <p:spPr>
          <a:xfrm>
            <a:off x="8339328" y="1755648"/>
            <a:ext cx="3054096"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03 / СОХРАНИТЬ</a:t>
            </a:r>
            <a:endParaRPr lang="en-US" sz="1800" dirty="0"/>
          </a:p>
        </p:txBody>
      </p:sp>
      <p:sp>
        <p:nvSpPr>
          <p:cNvPr id="19" name="Text 17"/>
          <p:cNvSpPr/>
          <p:nvPr/>
        </p:nvSpPr>
        <p:spPr>
          <a:xfrm>
            <a:off x="8257032" y="2240280"/>
            <a:ext cx="3063240" cy="263347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Результат требуется хранить, находить, экспортировать и загружать повторно.</a:t>
            </a:r>
            <a:endParaRPr lang="en-US" sz="1800" dirty="0"/>
          </a:p>
        </p:txBody>
      </p:sp>
      <p:sp>
        <p:nvSpPr>
          <p:cNvPr id="20" name="Shape 18"/>
          <p:cNvSpPr/>
          <p:nvPr/>
        </p:nvSpPr>
        <p:spPr>
          <a:xfrm>
            <a:off x="649224" y="5376672"/>
            <a:ext cx="2327148"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1" name="Text 19"/>
          <p:cNvSpPr/>
          <p:nvPr/>
        </p:nvSpPr>
        <p:spPr>
          <a:xfrm>
            <a:off x="777240" y="5440680"/>
            <a:ext cx="2071116"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УЧЕБНАЯ ЛАБОРАТОРИЯ</a:t>
            </a:r>
            <a:endParaRPr lang="en-US" sz="1100" dirty="0"/>
          </a:p>
        </p:txBody>
      </p:sp>
      <p:sp>
        <p:nvSpPr>
          <p:cNvPr id="22" name="Shape 20"/>
          <p:cNvSpPr/>
          <p:nvPr/>
        </p:nvSpPr>
        <p:spPr>
          <a:xfrm>
            <a:off x="3140964" y="5376672"/>
            <a:ext cx="1847088"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3" name="Text 21"/>
          <p:cNvSpPr/>
          <p:nvPr/>
        </p:nvSpPr>
        <p:spPr>
          <a:xfrm>
            <a:off x="3268980" y="5440680"/>
            <a:ext cx="1591056"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ВЕБ-ПРИЛОЖЕНИЕ</a:t>
            </a:r>
            <a:endParaRPr lang="en-US" sz="1100" dirty="0"/>
          </a:p>
        </p:txBody>
      </p:sp>
      <p:sp>
        <p:nvSpPr>
          <p:cNvPr id="24" name="Shape 22"/>
          <p:cNvSpPr/>
          <p:nvPr/>
        </p:nvSpPr>
        <p:spPr>
          <a:xfrm>
            <a:off x="5152644" y="5376672"/>
            <a:ext cx="2231136"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5" name="Text 23"/>
          <p:cNvSpPr/>
          <p:nvPr/>
        </p:nvSpPr>
        <p:spPr>
          <a:xfrm>
            <a:off x="5280660" y="5440680"/>
            <a:ext cx="1975104"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ЦИФРОВАЯ ГЕОМЕТРИЯ</a:t>
            </a:r>
            <a:endParaRPr lang="en-US" sz="1100" dirty="0"/>
          </a:p>
        </p:txBody>
      </p:sp>
      <p:sp>
        <p:nvSpPr>
          <p:cNvPr id="32" name="TextBox 31"/>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33" name="Rounded Rectangle 3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02</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226"/>
        </a:solidFill>
        <a:effectLst/>
      </p:bgPr>
    </p:bg>
    <p:spTree>
      <p:nvGrpSpPr>
        <p:cNvPr id="1" name=""/>
        <p:cNvGrpSpPr/>
        <p:nvPr/>
      </p:nvGrpSpPr>
      <p:grpSpPr>
        <a:xfrm>
          <a:off x="0" y="0"/>
          <a:ext cx="0" cy="0"/>
          <a:chOff x="0" y="0"/>
          <a:chExt cx="0" cy="0"/>
        </a:xfrm>
      </p:grpSpPr>
      <p:sp>
        <p:nvSpPr>
          <p:cNvPr id="21" name="Rounded Rectangle 20"/>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fontScale="92500"/>
          </a:bodyPr>
          <a:lstStyle/>
          <a:p>
            <a:pPr marL="0" indent="0">
              <a:buNone/>
            </a:pPr>
            <a:r>
              <a:rPr lang="en-US" sz="2800" b="1" dirty="0">
                <a:solidFill>
                  <a:srgbClr val="F2F9FC"/>
                </a:solidFill>
                <a:latin typeface="Segoe UI" pitchFamily="34" charset="0"/>
                <a:ea typeface="Aptos" pitchFamily="34" charset="-122"/>
                <a:cs typeface="Aptos" pitchFamily="34" charset="-120"/>
              </a:rPr>
              <a:t>Границы проекта: программная часть и аппаратная концепция</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03</a:t>
            </a:r>
            <a:endParaRPr lang="en-US" sz="900" dirty="0"/>
          </a:p>
        </p:txBody>
      </p:sp>
      <p:sp>
        <p:nvSpPr>
          <p:cNvPr id="8" name="Shape 6"/>
          <p:cNvSpPr/>
          <p:nvPr/>
        </p:nvSpPr>
        <p:spPr>
          <a:xfrm>
            <a:off x="713232" y="1490472"/>
            <a:ext cx="5257800" cy="4297680"/>
          </a:xfrm>
          <a:prstGeom prst="roundRect">
            <a:avLst>
              <a:gd name="adj" fmla="val 2979"/>
            </a:avLst>
          </a:prstGeom>
          <a:solidFill>
            <a:srgbClr val="183047"/>
          </a:solidFill>
          <a:ln w="15240">
            <a:solidFill>
              <a:srgbClr val="355064"/>
            </a:solidFill>
            <a:prstDash val="solid"/>
          </a:ln>
        </p:spPr>
        <p:txBody>
          <a:bodyPr/>
          <a:lstStyle/>
          <a:p>
            <a:endParaRPr/>
          </a:p>
        </p:txBody>
      </p:sp>
      <p:sp>
        <p:nvSpPr>
          <p:cNvPr id="9" name="Shape 7"/>
          <p:cNvSpPr/>
          <p:nvPr/>
        </p:nvSpPr>
        <p:spPr>
          <a:xfrm>
            <a:off x="868680" y="1709928"/>
            <a:ext cx="59436" cy="347472"/>
          </a:xfrm>
          <a:prstGeom prst="rect">
            <a:avLst/>
          </a:prstGeom>
          <a:solidFill>
            <a:srgbClr val="9FDFBC"/>
          </a:solidFill>
          <a:ln w="12700">
            <a:solidFill>
              <a:srgbClr val="9FDFBC"/>
            </a:solidFill>
            <a:prstDash val="solid"/>
          </a:ln>
        </p:spPr>
        <p:txBody>
          <a:bodyPr/>
          <a:lstStyle/>
          <a:p>
            <a:endParaRPr/>
          </a:p>
        </p:txBody>
      </p:sp>
      <p:sp>
        <p:nvSpPr>
          <p:cNvPr id="10" name="Text 8"/>
          <p:cNvSpPr/>
          <p:nvPr/>
        </p:nvSpPr>
        <p:spPr>
          <a:xfrm>
            <a:off x="1024128" y="1691640"/>
            <a:ext cx="4800600"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РАБОТАЕТ СЕЙЧАС</a:t>
            </a:r>
            <a:endParaRPr lang="en-US" sz="1800" dirty="0"/>
          </a:p>
        </p:txBody>
      </p:sp>
      <p:sp>
        <p:nvSpPr>
          <p:cNvPr id="11" name="Text 9"/>
          <p:cNvSpPr/>
          <p:nvPr/>
        </p:nvSpPr>
        <p:spPr>
          <a:xfrm>
            <a:off x="941832" y="2176272"/>
            <a:ext cx="4809744" cy="3511296"/>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 Генерация 3 тестовых 3D-объектов</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Отмена и прогресс симуляции</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Просмотр и экспорт OBJ / PLY / GLTF</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Регистрация и JWT-cookie</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Личная библиотека, импорт и удаление</a:t>
            </a:r>
            <a:endParaRPr lang="en-US" sz="1800" dirty="0"/>
          </a:p>
        </p:txBody>
      </p:sp>
      <p:sp>
        <p:nvSpPr>
          <p:cNvPr id="12" name="Shape 10"/>
          <p:cNvSpPr/>
          <p:nvPr/>
        </p:nvSpPr>
        <p:spPr>
          <a:xfrm>
            <a:off x="6199632" y="1490472"/>
            <a:ext cx="5257800" cy="4297680"/>
          </a:xfrm>
          <a:prstGeom prst="roundRect">
            <a:avLst>
              <a:gd name="adj" fmla="val 2979"/>
            </a:avLst>
          </a:prstGeom>
          <a:solidFill>
            <a:srgbClr val="183047"/>
          </a:solidFill>
          <a:ln w="15240">
            <a:solidFill>
              <a:srgbClr val="355064"/>
            </a:solidFill>
            <a:prstDash val="solid"/>
          </a:ln>
        </p:spPr>
        <p:txBody>
          <a:bodyPr/>
          <a:lstStyle/>
          <a:p>
            <a:endParaRPr/>
          </a:p>
        </p:txBody>
      </p:sp>
      <p:sp>
        <p:nvSpPr>
          <p:cNvPr id="13" name="Shape 11"/>
          <p:cNvSpPr/>
          <p:nvPr/>
        </p:nvSpPr>
        <p:spPr>
          <a:xfrm>
            <a:off x="6355080" y="1709928"/>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6510528" y="1691640"/>
            <a:ext cx="4800600"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ПЛАНИРУЕТСЯ ПОЗЖЕ</a:t>
            </a:r>
            <a:endParaRPr lang="en-US" sz="1800" dirty="0"/>
          </a:p>
        </p:txBody>
      </p:sp>
      <p:sp>
        <p:nvSpPr>
          <p:cNvPr id="15" name="Text 13"/>
          <p:cNvSpPr/>
          <p:nvPr/>
        </p:nvSpPr>
        <p:spPr>
          <a:xfrm>
            <a:off x="6428232" y="2176272"/>
            <a:ext cx="4809744" cy="3511296"/>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 Подключение датчика через SDK</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Аппаратная калибровка</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Захват реальной поверхности</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Реконструкция по измерениям</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 Оценка точности по эталонам</a:t>
            </a:r>
            <a:endParaRPr lang="en-US" sz="1800" dirty="0"/>
          </a:p>
        </p:txBody>
      </p:sp>
      <p:sp>
        <p:nvSpPr>
          <p:cNvPr id="23" name="Rounded Rectangle 2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03</a:t>
            </a:r>
          </a:p>
        </p:txBody>
      </p:sp>
      <p:sp>
        <p:nvSpPr>
          <p:cNvPr id="24" name="Oval 26"/>
          <p:cNvSpPr/>
          <p:nvPr/>
        </p:nvSpPr>
        <p:spPr>
          <a:xfrm>
            <a:off x="-720588" y="52669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226"/>
        </a:solidFill>
        <a:effectLst/>
      </p:bgPr>
    </p:bg>
    <p:spTree>
      <p:nvGrpSpPr>
        <p:cNvPr id="1" name=""/>
        <p:cNvGrpSpPr/>
        <p:nvPr/>
      </p:nvGrpSpPr>
      <p:grpSpPr>
        <a:xfrm>
          <a:off x="0" y="0"/>
          <a:ext cx="0" cy="0"/>
          <a:chOff x="0" y="0"/>
          <a:chExt cx="0" cy="0"/>
        </a:xfrm>
      </p:grpSpPr>
      <p:sp>
        <p:nvSpPr>
          <p:cNvPr id="31" name="Rounded Rectangle 30"/>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Анализ аналогов: три подхода к 3D-данным</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04</a:t>
            </a:r>
            <a:endParaRPr lang="en-US" sz="900" dirty="0"/>
          </a:p>
        </p:txBody>
      </p:sp>
      <p:sp>
        <p:nvSpPr>
          <p:cNvPr id="8" name="Shape 6"/>
          <p:cNvSpPr/>
          <p:nvPr/>
        </p:nvSpPr>
        <p:spPr>
          <a:xfrm>
            <a:off x="658368" y="1527048"/>
            <a:ext cx="3474720" cy="3474720"/>
          </a:xfrm>
          <a:prstGeom prst="roundRect">
            <a:avLst>
              <a:gd name="adj" fmla="val 3684"/>
            </a:avLst>
          </a:prstGeom>
          <a:solidFill>
            <a:srgbClr val="183047"/>
          </a:solidFill>
          <a:ln w="15240">
            <a:solidFill>
              <a:srgbClr val="355064"/>
            </a:solidFill>
            <a:prstDash val="solid"/>
          </a:ln>
        </p:spPr>
        <p:txBody>
          <a:bodyPr/>
          <a:lstStyle/>
          <a:p>
            <a:endParaRPr/>
          </a:p>
        </p:txBody>
      </p:sp>
      <p:sp>
        <p:nvSpPr>
          <p:cNvPr id="9" name="Shape 7"/>
          <p:cNvSpPr/>
          <p:nvPr/>
        </p:nvSpPr>
        <p:spPr>
          <a:xfrm>
            <a:off x="813816" y="1746504"/>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69264" y="1728216"/>
            <a:ext cx="3017520"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MeshLab</a:t>
            </a:r>
            <a:endParaRPr lang="en-US" sz="1800" dirty="0"/>
          </a:p>
        </p:txBody>
      </p:sp>
      <p:sp>
        <p:nvSpPr>
          <p:cNvPr id="11" name="Text 9"/>
          <p:cNvSpPr/>
          <p:nvPr/>
        </p:nvSpPr>
        <p:spPr>
          <a:xfrm>
            <a:off x="886968" y="2212848"/>
            <a:ext cx="3026664" cy="2688336"/>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Обработка полигональных сеток, диагностика геометрии и редактирование.</a:t>
            </a:r>
            <a:endParaRPr lang="en-US" sz="1700" dirty="0"/>
          </a:p>
        </p:txBody>
      </p:sp>
      <p:sp>
        <p:nvSpPr>
          <p:cNvPr id="12" name="Shape 10"/>
          <p:cNvSpPr/>
          <p:nvPr/>
        </p:nvSpPr>
        <p:spPr>
          <a:xfrm>
            <a:off x="4370832" y="1527048"/>
            <a:ext cx="3474720" cy="3474720"/>
          </a:xfrm>
          <a:prstGeom prst="roundRect">
            <a:avLst>
              <a:gd name="adj" fmla="val 3684"/>
            </a:avLst>
          </a:prstGeom>
          <a:solidFill>
            <a:srgbClr val="183047"/>
          </a:solidFill>
          <a:ln w="15240">
            <a:solidFill>
              <a:srgbClr val="355064"/>
            </a:solidFill>
            <a:prstDash val="solid"/>
          </a:ln>
        </p:spPr>
        <p:txBody>
          <a:bodyPr/>
          <a:lstStyle/>
          <a:p>
            <a:endParaRPr/>
          </a:p>
        </p:txBody>
      </p:sp>
      <p:sp>
        <p:nvSpPr>
          <p:cNvPr id="13" name="Shape 11"/>
          <p:cNvSpPr/>
          <p:nvPr/>
        </p:nvSpPr>
        <p:spPr>
          <a:xfrm>
            <a:off x="4526280" y="1746504"/>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4681728" y="1728216"/>
            <a:ext cx="3017520" cy="338328"/>
          </a:xfrm>
          <a:prstGeom prst="rect">
            <a:avLst/>
          </a:prstGeom>
          <a:noFill/>
          <a:ln/>
        </p:spPr>
        <p:txBody>
          <a:bodyPr wrap="square" lIns="0" tIns="0" rIns="0" bIns="0" rtlCol="0" anchor="ctr">
            <a:normAutofit/>
          </a:bodyPr>
          <a:lstStyle/>
          <a:p>
            <a:pPr marL="0" indent="0">
              <a:buNone/>
            </a:pPr>
            <a:r>
              <a:rPr lang="en-US" sz="1800" b="1" dirty="0">
                <a:solidFill>
                  <a:srgbClr val="EBC980"/>
                </a:solidFill>
                <a:latin typeface="Segoe UI" pitchFamily="34" charset="0"/>
                <a:ea typeface="Aptos" pitchFamily="34" charset="-122"/>
                <a:cs typeface="Aptos" pitchFamily="34" charset="-120"/>
              </a:rPr>
              <a:t>CloudCompare</a:t>
            </a:r>
            <a:endParaRPr lang="en-US" sz="1800" dirty="0"/>
          </a:p>
        </p:txBody>
      </p:sp>
      <p:sp>
        <p:nvSpPr>
          <p:cNvPr id="15" name="Text 13"/>
          <p:cNvSpPr/>
          <p:nvPr/>
        </p:nvSpPr>
        <p:spPr>
          <a:xfrm>
            <a:off x="4599432" y="2212848"/>
            <a:ext cx="3026664" cy="2688336"/>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Облака точек, измерительные инструменты и анализ 3D-данных.</a:t>
            </a:r>
            <a:endParaRPr lang="en-US" sz="1700" dirty="0"/>
          </a:p>
        </p:txBody>
      </p:sp>
      <p:sp>
        <p:nvSpPr>
          <p:cNvPr id="16" name="Shape 14"/>
          <p:cNvSpPr/>
          <p:nvPr/>
        </p:nvSpPr>
        <p:spPr>
          <a:xfrm>
            <a:off x="8065008" y="1527048"/>
            <a:ext cx="3474720" cy="3474720"/>
          </a:xfrm>
          <a:prstGeom prst="roundRect">
            <a:avLst>
              <a:gd name="adj" fmla="val 3684"/>
            </a:avLst>
          </a:prstGeom>
          <a:solidFill>
            <a:srgbClr val="183047"/>
          </a:solidFill>
          <a:ln w="15240">
            <a:solidFill>
              <a:srgbClr val="355064"/>
            </a:solidFill>
            <a:prstDash val="solid"/>
          </a:ln>
        </p:spPr>
        <p:txBody>
          <a:bodyPr/>
          <a:lstStyle/>
          <a:p>
            <a:endParaRPr/>
          </a:p>
        </p:txBody>
      </p:sp>
      <p:sp>
        <p:nvSpPr>
          <p:cNvPr id="17" name="Shape 15"/>
          <p:cNvSpPr/>
          <p:nvPr/>
        </p:nvSpPr>
        <p:spPr>
          <a:xfrm>
            <a:off x="8220456" y="1746504"/>
            <a:ext cx="59436" cy="347472"/>
          </a:xfrm>
          <a:prstGeom prst="rect">
            <a:avLst/>
          </a:prstGeom>
          <a:solidFill>
            <a:srgbClr val="9FDFBC"/>
          </a:solidFill>
          <a:ln w="12700">
            <a:solidFill>
              <a:srgbClr val="9FDFBC"/>
            </a:solidFill>
            <a:prstDash val="solid"/>
          </a:ln>
        </p:spPr>
        <p:txBody>
          <a:bodyPr/>
          <a:lstStyle/>
          <a:p>
            <a:endParaRPr/>
          </a:p>
        </p:txBody>
      </p:sp>
      <p:sp>
        <p:nvSpPr>
          <p:cNvPr id="18" name="Text 16"/>
          <p:cNvSpPr/>
          <p:nvPr/>
        </p:nvSpPr>
        <p:spPr>
          <a:xfrm>
            <a:off x="8375904" y="1728216"/>
            <a:ext cx="3017520" cy="338328"/>
          </a:xfrm>
          <a:prstGeom prst="rect">
            <a:avLst/>
          </a:prstGeom>
          <a:noFill/>
          <a:ln/>
        </p:spPr>
        <p:txBody>
          <a:bodyPr wrap="square" lIns="0" tIns="0" rIns="0" bIns="0" rtlCol="0" anchor="ctr">
            <a:normAutofit/>
          </a:bodyPr>
          <a:lstStyle/>
          <a:p>
            <a:pPr marL="0" indent="0">
              <a:buNone/>
            </a:pPr>
            <a:r>
              <a:rPr lang="en-US" sz="1800" b="1" dirty="0">
                <a:solidFill>
                  <a:srgbClr val="9FDFBC"/>
                </a:solidFill>
                <a:latin typeface="Segoe UI" pitchFamily="34" charset="0"/>
                <a:ea typeface="Aptos" pitchFamily="34" charset="-122"/>
                <a:cs typeface="Aptos" pitchFamily="34" charset="-120"/>
              </a:rPr>
              <a:t>Polycam</a:t>
            </a:r>
            <a:endParaRPr lang="en-US" sz="1800" dirty="0"/>
          </a:p>
        </p:txBody>
      </p:sp>
      <p:sp>
        <p:nvSpPr>
          <p:cNvPr id="19" name="Text 17"/>
          <p:cNvSpPr/>
          <p:nvPr/>
        </p:nvSpPr>
        <p:spPr>
          <a:xfrm>
            <a:off x="8293608" y="2212848"/>
            <a:ext cx="3026664" cy="2688336"/>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Создание 3D-моделей с использованием возможностей мобильного устройства.</a:t>
            </a:r>
            <a:endParaRPr lang="en-US" sz="1700" dirty="0"/>
          </a:p>
        </p:txBody>
      </p:sp>
      <p:sp>
        <p:nvSpPr>
          <p:cNvPr id="20" name="Shape 18"/>
          <p:cNvSpPr/>
          <p:nvPr/>
        </p:nvSpPr>
        <p:spPr>
          <a:xfrm>
            <a:off x="649224" y="5376672"/>
            <a:ext cx="1367028"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2" name="Shape 20"/>
          <p:cNvSpPr/>
          <p:nvPr/>
        </p:nvSpPr>
        <p:spPr>
          <a:xfrm>
            <a:off x="2180844" y="5376672"/>
            <a:ext cx="1325880"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3" name="Text 21"/>
          <p:cNvSpPr/>
          <p:nvPr/>
        </p:nvSpPr>
        <p:spPr>
          <a:xfrm>
            <a:off x="2308860" y="5440680"/>
            <a:ext cx="1069848"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АНАЛИЗ</a:t>
            </a:r>
            <a:endParaRPr lang="en-US" sz="1100" dirty="0"/>
          </a:p>
        </p:txBody>
      </p:sp>
      <p:sp>
        <p:nvSpPr>
          <p:cNvPr id="24" name="Shape 22"/>
          <p:cNvSpPr/>
          <p:nvPr/>
        </p:nvSpPr>
        <p:spPr>
          <a:xfrm>
            <a:off x="3671316" y="5376672"/>
            <a:ext cx="2039112"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5" name="Text 23"/>
          <p:cNvSpPr/>
          <p:nvPr/>
        </p:nvSpPr>
        <p:spPr>
          <a:xfrm>
            <a:off x="3799332" y="5440680"/>
            <a:ext cx="1783080"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ПОЛУЧЕНИЕ ДАННЫХ</a:t>
            </a:r>
            <a:endParaRPr lang="en-US" sz="1100" dirty="0"/>
          </a:p>
        </p:txBody>
      </p:sp>
      <p:sp>
        <p:nvSpPr>
          <p:cNvPr id="33" name="Rounded Rectangle 3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04</a:t>
            </a:r>
          </a:p>
        </p:txBody>
      </p:sp>
      <p:sp>
        <p:nvSpPr>
          <p:cNvPr id="34" name="Oval 26"/>
          <p:cNvSpPr/>
          <p:nvPr/>
        </p:nvSpPr>
        <p:spPr>
          <a:xfrm>
            <a:off x="-662940" y="5733288"/>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21" name="Text 19"/>
          <p:cNvSpPr/>
          <p:nvPr/>
        </p:nvSpPr>
        <p:spPr>
          <a:xfrm>
            <a:off x="777240" y="5454396"/>
            <a:ext cx="1110996"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ОБРАБОТКА</a:t>
            </a:r>
            <a:endParaRPr lang="en-US" sz="1100" dirty="0">
              <a:solidFill>
                <a:srgbClr val="34DBD6"/>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226"/>
        </a:solidFill>
        <a:effectLst/>
      </p:bgPr>
    </p:bg>
    <p:spTree>
      <p:nvGrpSpPr>
        <p:cNvPr id="1" name=""/>
        <p:cNvGrpSpPr/>
        <p:nvPr/>
      </p:nvGrpSpPr>
      <p:grpSpPr>
        <a:xfrm>
          <a:off x="0" y="0"/>
          <a:ext cx="0" cy="0"/>
          <a:chOff x="0" y="0"/>
          <a:chExt cx="0" cy="0"/>
        </a:xfrm>
      </p:grpSpPr>
      <p:sp>
        <p:nvSpPr>
          <p:cNvPr id="33" name="Rectangle 32"/>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Сравнение решений и место MyCreative</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05</a:t>
            </a:r>
            <a:endParaRPr lang="en-US" sz="900" dirty="0"/>
          </a:p>
        </p:txBody>
      </p:sp>
      <p:sp>
        <p:nvSpPr>
          <p:cNvPr id="8" name="Shape 6"/>
          <p:cNvSpPr/>
          <p:nvPr/>
        </p:nvSpPr>
        <p:spPr>
          <a:xfrm>
            <a:off x="694944" y="1481328"/>
            <a:ext cx="10808208" cy="585216"/>
          </a:xfrm>
          <a:prstGeom prst="roundRect">
            <a:avLst>
              <a:gd name="adj" fmla="val 21875"/>
            </a:avLst>
          </a:prstGeom>
          <a:solidFill>
            <a:srgbClr val="112339"/>
          </a:solidFill>
          <a:ln w="15240">
            <a:solidFill>
              <a:srgbClr val="355064"/>
            </a:solidFill>
            <a:prstDash val="solid"/>
          </a:ln>
        </p:spPr>
        <p:txBody>
          <a:bodyPr/>
          <a:lstStyle/>
          <a:p>
            <a:endParaRPr/>
          </a:p>
        </p:txBody>
      </p:sp>
      <p:sp>
        <p:nvSpPr>
          <p:cNvPr id="9" name="Text 7"/>
          <p:cNvSpPr/>
          <p:nvPr/>
        </p:nvSpPr>
        <p:spPr>
          <a:xfrm>
            <a:off x="896112" y="1591056"/>
            <a:ext cx="2560320" cy="310896"/>
          </a:xfrm>
          <a:prstGeom prst="rect">
            <a:avLst/>
          </a:prstGeom>
          <a:noFill/>
          <a:ln/>
        </p:spPr>
        <p:txBody>
          <a:bodyPr wrap="square" lIns="0" tIns="0" rIns="0" bIns="0" rtlCol="0" anchor="ctr">
            <a:normAutofit/>
          </a:bodyPr>
          <a:lstStyle/>
          <a:p>
            <a:pPr marL="0" indent="0">
              <a:buNone/>
            </a:pPr>
            <a:r>
              <a:rPr lang="en-US" sz="1300" b="1" dirty="0">
                <a:solidFill>
                  <a:srgbClr val="34DBD6"/>
                </a:solidFill>
                <a:latin typeface="Segoe UI" pitchFamily="34" charset="0"/>
                <a:ea typeface="Aptos" pitchFamily="34" charset="-122"/>
                <a:cs typeface="Aptos" pitchFamily="34" charset="-120"/>
              </a:rPr>
              <a:t>ПРОДУКТ</a:t>
            </a:r>
            <a:endParaRPr lang="en-US" sz="1300" dirty="0"/>
          </a:p>
        </p:txBody>
      </p:sp>
      <p:sp>
        <p:nvSpPr>
          <p:cNvPr id="10" name="Text 8"/>
          <p:cNvSpPr/>
          <p:nvPr/>
        </p:nvSpPr>
        <p:spPr>
          <a:xfrm>
            <a:off x="3584448" y="1591056"/>
            <a:ext cx="4142232" cy="310896"/>
          </a:xfrm>
          <a:prstGeom prst="rect">
            <a:avLst/>
          </a:prstGeom>
          <a:noFill/>
          <a:ln/>
        </p:spPr>
        <p:txBody>
          <a:bodyPr wrap="square" lIns="0" tIns="0" rIns="0" bIns="0" rtlCol="0" anchor="ctr">
            <a:normAutofit/>
          </a:bodyPr>
          <a:lstStyle/>
          <a:p>
            <a:pPr marL="0" indent="0">
              <a:buNone/>
            </a:pPr>
            <a:r>
              <a:rPr lang="en-US" sz="1300" b="1" dirty="0">
                <a:solidFill>
                  <a:srgbClr val="34DBD6"/>
                </a:solidFill>
                <a:latin typeface="Segoe UI" pitchFamily="34" charset="0"/>
                <a:ea typeface="Aptos" pitchFamily="34" charset="-122"/>
                <a:cs typeface="Aptos" pitchFamily="34" charset="-120"/>
              </a:rPr>
              <a:t>ОСНОВНОЕ НАЗНАЧЕНИЕ</a:t>
            </a:r>
            <a:endParaRPr lang="en-US" sz="1300" dirty="0"/>
          </a:p>
        </p:txBody>
      </p:sp>
      <p:sp>
        <p:nvSpPr>
          <p:cNvPr id="11" name="Text 9"/>
          <p:cNvSpPr/>
          <p:nvPr/>
        </p:nvSpPr>
        <p:spPr>
          <a:xfrm>
            <a:off x="8001000" y="1591056"/>
            <a:ext cx="3200400" cy="310896"/>
          </a:xfrm>
          <a:prstGeom prst="rect">
            <a:avLst/>
          </a:prstGeom>
          <a:noFill/>
          <a:ln/>
        </p:spPr>
        <p:txBody>
          <a:bodyPr wrap="square" lIns="0" tIns="0" rIns="0" bIns="0" rtlCol="0" anchor="ctr">
            <a:normAutofit/>
          </a:bodyPr>
          <a:lstStyle/>
          <a:p>
            <a:pPr marL="0" indent="0">
              <a:buNone/>
            </a:pPr>
            <a:r>
              <a:rPr lang="en-US" sz="1300" b="1" dirty="0">
                <a:solidFill>
                  <a:srgbClr val="34DBD6"/>
                </a:solidFill>
                <a:latin typeface="Segoe UI" pitchFamily="34" charset="0"/>
                <a:ea typeface="Aptos" pitchFamily="34" charset="-122"/>
                <a:cs typeface="Aptos" pitchFamily="34" charset="-120"/>
              </a:rPr>
              <a:t>ПЛАТФОРМА</a:t>
            </a:r>
            <a:endParaRPr lang="en-US" sz="1300" dirty="0"/>
          </a:p>
        </p:txBody>
      </p:sp>
      <p:sp>
        <p:nvSpPr>
          <p:cNvPr id="12" name="Shape 10"/>
          <p:cNvSpPr/>
          <p:nvPr/>
        </p:nvSpPr>
        <p:spPr>
          <a:xfrm>
            <a:off x="694944" y="2185416"/>
            <a:ext cx="10808208" cy="612648"/>
          </a:xfrm>
          <a:prstGeom prst="roundRect">
            <a:avLst>
              <a:gd name="adj" fmla="val 20896"/>
            </a:avLst>
          </a:prstGeom>
          <a:solidFill>
            <a:srgbClr val="183047"/>
          </a:solidFill>
          <a:ln w="15240">
            <a:solidFill>
              <a:srgbClr val="355064"/>
            </a:solidFill>
            <a:prstDash val="solid"/>
          </a:ln>
        </p:spPr>
        <p:txBody>
          <a:bodyPr/>
          <a:lstStyle/>
          <a:p>
            <a:endParaRPr/>
          </a:p>
        </p:txBody>
      </p:sp>
      <p:sp>
        <p:nvSpPr>
          <p:cNvPr id="13" name="Text 11"/>
          <p:cNvSpPr/>
          <p:nvPr/>
        </p:nvSpPr>
        <p:spPr>
          <a:xfrm>
            <a:off x="896112" y="2295144"/>
            <a:ext cx="2560320" cy="310896"/>
          </a:xfrm>
          <a:prstGeom prst="rect">
            <a:avLst/>
          </a:prstGeom>
          <a:noFill/>
          <a:ln/>
        </p:spPr>
        <p:txBody>
          <a:bodyPr wrap="square" lIns="0" tIns="0" rIns="0" bIns="0" rtlCol="0" anchor="ctr">
            <a:normAutofit/>
          </a:bodyPr>
          <a:lstStyle/>
          <a:p>
            <a:pPr marL="0" indent="0">
              <a:buNone/>
            </a:pPr>
            <a:r>
              <a:rPr lang="en-US" sz="1700" b="1" dirty="0">
                <a:solidFill>
                  <a:srgbClr val="F2F9FC"/>
                </a:solidFill>
                <a:latin typeface="Segoe UI" pitchFamily="34" charset="0"/>
                <a:ea typeface="Aptos" pitchFamily="34" charset="-122"/>
                <a:cs typeface="Aptos" pitchFamily="34" charset="-120"/>
              </a:rPr>
              <a:t>MeshLab</a:t>
            </a:r>
            <a:endParaRPr lang="en-US" sz="1700" dirty="0"/>
          </a:p>
        </p:txBody>
      </p:sp>
      <p:sp>
        <p:nvSpPr>
          <p:cNvPr id="14" name="Text 12"/>
          <p:cNvSpPr/>
          <p:nvPr/>
        </p:nvSpPr>
        <p:spPr>
          <a:xfrm>
            <a:off x="3584448" y="2295144"/>
            <a:ext cx="4142232"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Обработка сеток</a:t>
            </a:r>
            <a:endParaRPr lang="en-US" sz="1600" dirty="0"/>
          </a:p>
        </p:txBody>
      </p:sp>
      <p:sp>
        <p:nvSpPr>
          <p:cNvPr id="15" name="Text 13"/>
          <p:cNvSpPr/>
          <p:nvPr/>
        </p:nvSpPr>
        <p:spPr>
          <a:xfrm>
            <a:off x="8001000" y="2295144"/>
            <a:ext cx="3200400"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Настольное ПО</a:t>
            </a:r>
            <a:endParaRPr lang="en-US" sz="1600" dirty="0"/>
          </a:p>
        </p:txBody>
      </p:sp>
      <p:sp>
        <p:nvSpPr>
          <p:cNvPr id="16" name="Shape 14"/>
          <p:cNvSpPr/>
          <p:nvPr/>
        </p:nvSpPr>
        <p:spPr>
          <a:xfrm>
            <a:off x="694944" y="2889504"/>
            <a:ext cx="10808208" cy="612648"/>
          </a:xfrm>
          <a:prstGeom prst="roundRect">
            <a:avLst>
              <a:gd name="adj" fmla="val 20896"/>
            </a:avLst>
          </a:prstGeom>
          <a:solidFill>
            <a:srgbClr val="183047"/>
          </a:solidFill>
          <a:ln w="15240">
            <a:solidFill>
              <a:srgbClr val="355064"/>
            </a:solidFill>
            <a:prstDash val="solid"/>
          </a:ln>
        </p:spPr>
        <p:txBody>
          <a:bodyPr/>
          <a:lstStyle/>
          <a:p>
            <a:endParaRPr/>
          </a:p>
        </p:txBody>
      </p:sp>
      <p:sp>
        <p:nvSpPr>
          <p:cNvPr id="17" name="Text 15"/>
          <p:cNvSpPr/>
          <p:nvPr/>
        </p:nvSpPr>
        <p:spPr>
          <a:xfrm>
            <a:off x="896112" y="2999232"/>
            <a:ext cx="2560320" cy="310896"/>
          </a:xfrm>
          <a:prstGeom prst="rect">
            <a:avLst/>
          </a:prstGeom>
          <a:noFill/>
          <a:ln/>
        </p:spPr>
        <p:txBody>
          <a:bodyPr wrap="square" lIns="0" tIns="0" rIns="0" bIns="0" rtlCol="0" anchor="ctr">
            <a:normAutofit/>
          </a:bodyPr>
          <a:lstStyle/>
          <a:p>
            <a:pPr marL="0" indent="0">
              <a:buNone/>
            </a:pPr>
            <a:r>
              <a:rPr lang="en-US" sz="1700" b="1" dirty="0">
                <a:solidFill>
                  <a:srgbClr val="F2F9FC"/>
                </a:solidFill>
                <a:latin typeface="Segoe UI" pitchFamily="34" charset="0"/>
                <a:ea typeface="Aptos" pitchFamily="34" charset="-122"/>
                <a:cs typeface="Aptos" pitchFamily="34" charset="-120"/>
              </a:rPr>
              <a:t>CloudCompare</a:t>
            </a:r>
            <a:endParaRPr lang="en-US" sz="1700" dirty="0"/>
          </a:p>
        </p:txBody>
      </p:sp>
      <p:sp>
        <p:nvSpPr>
          <p:cNvPr id="18" name="Text 16"/>
          <p:cNvSpPr/>
          <p:nvPr/>
        </p:nvSpPr>
        <p:spPr>
          <a:xfrm>
            <a:off x="3584448" y="2999232"/>
            <a:ext cx="4142232"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Работа с облаками точек</a:t>
            </a:r>
            <a:endParaRPr lang="en-US" sz="1600" dirty="0"/>
          </a:p>
        </p:txBody>
      </p:sp>
      <p:sp>
        <p:nvSpPr>
          <p:cNvPr id="19" name="Text 17"/>
          <p:cNvSpPr/>
          <p:nvPr/>
        </p:nvSpPr>
        <p:spPr>
          <a:xfrm>
            <a:off x="8001000" y="2999232"/>
            <a:ext cx="3200400"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Настольное ПО</a:t>
            </a:r>
            <a:endParaRPr lang="en-US" sz="1600" dirty="0"/>
          </a:p>
        </p:txBody>
      </p:sp>
      <p:sp>
        <p:nvSpPr>
          <p:cNvPr id="20" name="Shape 18"/>
          <p:cNvSpPr/>
          <p:nvPr/>
        </p:nvSpPr>
        <p:spPr>
          <a:xfrm>
            <a:off x="694944" y="3593592"/>
            <a:ext cx="10808208" cy="612648"/>
          </a:xfrm>
          <a:prstGeom prst="roundRect">
            <a:avLst>
              <a:gd name="adj" fmla="val 20896"/>
            </a:avLst>
          </a:prstGeom>
          <a:solidFill>
            <a:srgbClr val="183047"/>
          </a:solidFill>
          <a:ln w="15240">
            <a:solidFill>
              <a:srgbClr val="355064"/>
            </a:solidFill>
            <a:prstDash val="solid"/>
          </a:ln>
        </p:spPr>
        <p:txBody>
          <a:bodyPr/>
          <a:lstStyle/>
          <a:p>
            <a:endParaRPr/>
          </a:p>
        </p:txBody>
      </p:sp>
      <p:sp>
        <p:nvSpPr>
          <p:cNvPr id="21" name="Text 19"/>
          <p:cNvSpPr/>
          <p:nvPr/>
        </p:nvSpPr>
        <p:spPr>
          <a:xfrm>
            <a:off x="896112" y="3703320"/>
            <a:ext cx="2560320" cy="310896"/>
          </a:xfrm>
          <a:prstGeom prst="rect">
            <a:avLst/>
          </a:prstGeom>
          <a:noFill/>
          <a:ln/>
        </p:spPr>
        <p:txBody>
          <a:bodyPr wrap="square" lIns="0" tIns="0" rIns="0" bIns="0" rtlCol="0" anchor="ctr">
            <a:normAutofit/>
          </a:bodyPr>
          <a:lstStyle/>
          <a:p>
            <a:pPr marL="0" indent="0">
              <a:buNone/>
            </a:pPr>
            <a:r>
              <a:rPr lang="en-US" sz="1700" b="1" dirty="0">
                <a:solidFill>
                  <a:srgbClr val="F2F9FC"/>
                </a:solidFill>
                <a:latin typeface="Segoe UI" pitchFamily="34" charset="0"/>
                <a:ea typeface="Aptos" pitchFamily="34" charset="-122"/>
                <a:cs typeface="Aptos" pitchFamily="34" charset="-120"/>
              </a:rPr>
              <a:t>Polycam</a:t>
            </a:r>
            <a:endParaRPr lang="en-US" sz="1700" dirty="0"/>
          </a:p>
        </p:txBody>
      </p:sp>
      <p:sp>
        <p:nvSpPr>
          <p:cNvPr id="22" name="Text 20"/>
          <p:cNvSpPr/>
          <p:nvPr/>
        </p:nvSpPr>
        <p:spPr>
          <a:xfrm>
            <a:off x="3584448" y="3703320"/>
            <a:ext cx="4142232"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Получение 3D-моделей</a:t>
            </a:r>
            <a:endParaRPr lang="en-US" sz="1600" dirty="0"/>
          </a:p>
        </p:txBody>
      </p:sp>
      <p:sp>
        <p:nvSpPr>
          <p:cNvPr id="23" name="Text 21"/>
          <p:cNvSpPr/>
          <p:nvPr/>
        </p:nvSpPr>
        <p:spPr>
          <a:xfrm>
            <a:off x="8001000" y="3703320"/>
            <a:ext cx="3200400"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Мобильный / веб</a:t>
            </a:r>
            <a:endParaRPr lang="en-US" sz="1600" dirty="0"/>
          </a:p>
        </p:txBody>
      </p:sp>
      <p:sp>
        <p:nvSpPr>
          <p:cNvPr id="24" name="Shape 22"/>
          <p:cNvSpPr/>
          <p:nvPr/>
        </p:nvSpPr>
        <p:spPr>
          <a:xfrm>
            <a:off x="694944" y="4297680"/>
            <a:ext cx="10808208" cy="612648"/>
          </a:xfrm>
          <a:prstGeom prst="roundRect">
            <a:avLst>
              <a:gd name="adj" fmla="val 20896"/>
            </a:avLst>
          </a:prstGeom>
          <a:solidFill>
            <a:srgbClr val="183047"/>
          </a:solidFill>
          <a:ln w="15240">
            <a:solidFill>
              <a:srgbClr val="355064"/>
            </a:solidFill>
            <a:prstDash val="solid"/>
          </a:ln>
        </p:spPr>
        <p:txBody>
          <a:bodyPr/>
          <a:lstStyle/>
          <a:p>
            <a:endParaRPr/>
          </a:p>
        </p:txBody>
      </p:sp>
      <p:sp>
        <p:nvSpPr>
          <p:cNvPr id="25" name="Text 23"/>
          <p:cNvSpPr/>
          <p:nvPr/>
        </p:nvSpPr>
        <p:spPr>
          <a:xfrm>
            <a:off x="896112" y="4407408"/>
            <a:ext cx="2560320" cy="310896"/>
          </a:xfrm>
          <a:prstGeom prst="rect">
            <a:avLst/>
          </a:prstGeom>
          <a:noFill/>
          <a:ln/>
        </p:spPr>
        <p:txBody>
          <a:bodyPr wrap="square" lIns="0" tIns="0" rIns="0" bIns="0" rtlCol="0" anchor="ctr">
            <a:normAutofit/>
          </a:bodyPr>
          <a:lstStyle/>
          <a:p>
            <a:pPr marL="0" indent="0">
              <a:buNone/>
            </a:pPr>
            <a:r>
              <a:rPr lang="en-US" sz="1700" b="1" dirty="0">
                <a:solidFill>
                  <a:srgbClr val="F2F9FC"/>
                </a:solidFill>
                <a:latin typeface="Segoe UI" pitchFamily="34" charset="0"/>
                <a:ea typeface="Aptos" pitchFamily="34" charset="-122"/>
                <a:cs typeface="Aptos" pitchFamily="34" charset="-120"/>
              </a:rPr>
              <a:t>MyCreative 2.0</a:t>
            </a:r>
            <a:endParaRPr lang="en-US" sz="1700" dirty="0"/>
          </a:p>
        </p:txBody>
      </p:sp>
      <p:sp>
        <p:nvSpPr>
          <p:cNvPr id="26" name="Text 24"/>
          <p:cNvSpPr/>
          <p:nvPr/>
        </p:nvSpPr>
        <p:spPr>
          <a:xfrm>
            <a:off x="3584448" y="4407408"/>
            <a:ext cx="4142232"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Просмотр, экспорт, библиотека</a:t>
            </a:r>
            <a:endParaRPr lang="en-US" sz="1600" dirty="0"/>
          </a:p>
        </p:txBody>
      </p:sp>
      <p:sp>
        <p:nvSpPr>
          <p:cNvPr id="27" name="Text 25"/>
          <p:cNvSpPr/>
          <p:nvPr/>
        </p:nvSpPr>
        <p:spPr>
          <a:xfrm>
            <a:off x="8001000" y="4407408"/>
            <a:ext cx="3200400" cy="310896"/>
          </a:xfrm>
          <a:prstGeom prst="rect">
            <a:avLst/>
          </a:prstGeom>
          <a:noFill/>
          <a:ln/>
        </p:spPr>
        <p:txBody>
          <a:bodyPr wrap="square" lIns="0" tIns="0" rIns="0" bIns="0" rtlCol="0" anchor="ctr">
            <a:normAutofit/>
          </a:bodyPr>
          <a:lstStyle/>
          <a:p>
            <a:pPr marL="0" indent="0">
              <a:buNone/>
            </a:pPr>
            <a:r>
              <a:rPr lang="en-US" sz="1600" dirty="0">
                <a:solidFill>
                  <a:srgbClr val="F2F9FC"/>
                </a:solidFill>
                <a:latin typeface="Segoe UI" pitchFamily="34" charset="0"/>
                <a:ea typeface="Aptos" pitchFamily="34" charset="-122"/>
                <a:cs typeface="Aptos" pitchFamily="34" charset="-120"/>
              </a:rPr>
              <a:t>Веб-приложение</a:t>
            </a:r>
            <a:endParaRPr lang="en-US" sz="1600" dirty="0"/>
          </a:p>
        </p:txBody>
      </p:sp>
      <p:sp>
        <p:nvSpPr>
          <p:cNvPr id="36" name="Rounded Rectangle 35"/>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05</a:t>
            </a:r>
          </a:p>
        </p:txBody>
      </p:sp>
      <p:sp>
        <p:nvSpPr>
          <p:cNvPr id="37" name="Oval 26"/>
          <p:cNvSpPr/>
          <p:nvPr/>
        </p:nvSpPr>
        <p:spPr>
          <a:xfrm>
            <a:off x="-628548" y="5806440"/>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28" name="Text 26"/>
          <p:cNvSpPr/>
          <p:nvPr/>
        </p:nvSpPr>
        <p:spPr>
          <a:xfrm>
            <a:off x="758952" y="5431536"/>
            <a:ext cx="10652760" cy="502920"/>
          </a:xfrm>
          <a:prstGeom prst="rect">
            <a:avLst/>
          </a:prstGeom>
          <a:noFill/>
          <a:ln/>
        </p:spPr>
        <p:txBody>
          <a:bodyPr wrap="square" lIns="0" tIns="0" rIns="0" bIns="0" rtlCol="0" anchor="ctr">
            <a:normAutofit/>
          </a:bodyPr>
          <a:lstStyle/>
          <a:p>
            <a:pPr marL="0" indent="0">
              <a:buNone/>
            </a:pPr>
            <a:r>
              <a:rPr lang="en-US" sz="1700" b="1" dirty="0">
                <a:solidFill>
                  <a:srgbClr val="EBC980"/>
                </a:solidFill>
                <a:latin typeface="Segoe UI" pitchFamily="34" charset="0"/>
                <a:ea typeface="Aptos" pitchFamily="34" charset="-122"/>
                <a:cs typeface="Aptos" pitchFamily="34" charset="-120"/>
              </a:rPr>
              <a:t>ВАЖНО: MyCreative не выполняет физический захват в текущей версии.</a:t>
            </a:r>
            <a:endParaRPr lang="en-US" sz="17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226"/>
        </a:solidFill>
        <a:effectLst/>
      </p:bgPr>
    </p:bg>
    <p:spTree>
      <p:nvGrpSpPr>
        <p:cNvPr id="1" name=""/>
        <p:cNvGrpSpPr/>
        <p:nvPr/>
      </p:nvGrpSpPr>
      <p:grpSpPr>
        <a:xfrm>
          <a:off x="0" y="0"/>
          <a:ext cx="0" cy="0"/>
          <a:chOff x="0" y="0"/>
          <a:chExt cx="0" cy="0"/>
        </a:xfrm>
      </p:grpSpPr>
      <p:sp>
        <p:nvSpPr>
          <p:cNvPr id="23" name="Rounded Rectangle 22"/>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Цель и задачи курсовой работы</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06</a:t>
            </a:r>
            <a:endParaRPr lang="en-US" sz="900" dirty="0"/>
          </a:p>
        </p:txBody>
      </p:sp>
      <p:sp>
        <p:nvSpPr>
          <p:cNvPr id="8" name="Text 6"/>
          <p:cNvSpPr/>
          <p:nvPr/>
        </p:nvSpPr>
        <p:spPr>
          <a:xfrm>
            <a:off x="731520" y="1426464"/>
            <a:ext cx="1828800" cy="329184"/>
          </a:xfrm>
          <a:prstGeom prst="rect">
            <a:avLst/>
          </a:prstGeom>
          <a:noFill/>
          <a:ln/>
        </p:spPr>
        <p:txBody>
          <a:bodyPr wrap="square" lIns="0" tIns="0" rIns="0" bIns="0" rtlCol="0" anchor="ctr">
            <a:normAutofit/>
          </a:bodyPr>
          <a:lstStyle/>
          <a:p>
            <a:pPr marL="0" indent="0">
              <a:buNone/>
            </a:pPr>
            <a:r>
              <a:rPr lang="en-US" sz="1500" b="1" dirty="0">
                <a:solidFill>
                  <a:srgbClr val="34DBD6"/>
                </a:solidFill>
                <a:latin typeface="Segoe UI" pitchFamily="34" charset="0"/>
                <a:ea typeface="Aptos" pitchFamily="34" charset="-122"/>
                <a:cs typeface="Aptos" pitchFamily="34" charset="-120"/>
              </a:rPr>
              <a:t>ЦЕЛЬ</a:t>
            </a:r>
            <a:endParaRPr lang="en-US" sz="1500" dirty="0"/>
          </a:p>
        </p:txBody>
      </p:sp>
      <p:sp>
        <p:nvSpPr>
          <p:cNvPr id="9" name="Text 7"/>
          <p:cNvSpPr/>
          <p:nvPr/>
        </p:nvSpPr>
        <p:spPr>
          <a:xfrm>
            <a:off x="731520" y="1828800"/>
            <a:ext cx="10149840" cy="932688"/>
          </a:xfrm>
          <a:prstGeom prst="rect">
            <a:avLst/>
          </a:prstGeom>
          <a:noFill/>
          <a:ln/>
        </p:spPr>
        <p:txBody>
          <a:bodyPr wrap="square" lIns="0" tIns="0" rIns="0" bIns="0" rtlCol="0" anchor="ctr">
            <a:normAutofit/>
          </a:bodyPr>
          <a:lstStyle/>
          <a:p>
            <a:pPr marL="0" indent="0">
              <a:buNone/>
            </a:pPr>
            <a:r>
              <a:rPr lang="en-US" sz="2900" b="1" dirty="0">
                <a:solidFill>
                  <a:srgbClr val="F2F9FC"/>
                </a:solidFill>
                <a:latin typeface="Segoe UI" pitchFamily="34" charset="0"/>
                <a:ea typeface="Aptos" pitchFamily="34" charset="-122"/>
                <a:cs typeface="Aptos" pitchFamily="34" charset="-120"/>
              </a:rPr>
              <a:t>Разработать работающий программный прототип системы управления результатами 3D-сканирования.</a:t>
            </a:r>
            <a:endParaRPr lang="en-US" sz="2900" dirty="0"/>
          </a:p>
        </p:txBody>
      </p:sp>
      <p:sp>
        <p:nvSpPr>
          <p:cNvPr id="10" name="Shape 8"/>
          <p:cNvSpPr/>
          <p:nvPr/>
        </p:nvSpPr>
        <p:spPr>
          <a:xfrm>
            <a:off x="777240" y="3255264"/>
            <a:ext cx="100584" cy="100584"/>
          </a:xfrm>
          <a:prstGeom prst="ellipse">
            <a:avLst/>
          </a:prstGeom>
          <a:solidFill>
            <a:srgbClr val="42D3C4"/>
          </a:solidFill>
          <a:ln w="12700">
            <a:solidFill>
              <a:srgbClr val="42D3C4"/>
            </a:solidFill>
            <a:prstDash val="solid"/>
          </a:ln>
        </p:spPr>
        <p:txBody>
          <a:bodyPr/>
          <a:lstStyle/>
          <a:p>
            <a:endParaRPr/>
          </a:p>
        </p:txBody>
      </p:sp>
      <p:sp>
        <p:nvSpPr>
          <p:cNvPr id="11" name="Text 9"/>
          <p:cNvSpPr/>
          <p:nvPr/>
        </p:nvSpPr>
        <p:spPr>
          <a:xfrm>
            <a:off x="1069848" y="3127248"/>
            <a:ext cx="100401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Спроектировать архитектуру и интерфейс пользователя.</a:t>
            </a:r>
            <a:endParaRPr lang="en-US" sz="1800" dirty="0"/>
          </a:p>
        </p:txBody>
      </p:sp>
      <p:sp>
        <p:nvSpPr>
          <p:cNvPr id="12" name="Shape 10"/>
          <p:cNvSpPr/>
          <p:nvPr/>
        </p:nvSpPr>
        <p:spPr>
          <a:xfrm>
            <a:off x="777240" y="3895344"/>
            <a:ext cx="100584" cy="100584"/>
          </a:xfrm>
          <a:prstGeom prst="ellipse">
            <a:avLst/>
          </a:prstGeom>
          <a:solidFill>
            <a:srgbClr val="42D3C4"/>
          </a:solidFill>
          <a:ln w="12700">
            <a:solidFill>
              <a:srgbClr val="42D3C4"/>
            </a:solidFill>
            <a:prstDash val="solid"/>
          </a:ln>
        </p:spPr>
        <p:txBody>
          <a:bodyPr/>
          <a:lstStyle/>
          <a:p>
            <a:endParaRPr/>
          </a:p>
        </p:txBody>
      </p:sp>
      <p:sp>
        <p:nvSpPr>
          <p:cNvPr id="13" name="Text 11"/>
          <p:cNvSpPr/>
          <p:nvPr/>
        </p:nvSpPr>
        <p:spPr>
          <a:xfrm>
            <a:off x="1069848" y="3767328"/>
            <a:ext cx="100401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Реализовать 3D-просмотр, экспорт и личную библиотеку.</a:t>
            </a:r>
            <a:endParaRPr lang="en-US" sz="1800" dirty="0"/>
          </a:p>
        </p:txBody>
      </p:sp>
      <p:sp>
        <p:nvSpPr>
          <p:cNvPr id="14" name="Shape 12"/>
          <p:cNvSpPr/>
          <p:nvPr/>
        </p:nvSpPr>
        <p:spPr>
          <a:xfrm>
            <a:off x="777240" y="4535424"/>
            <a:ext cx="100584" cy="100584"/>
          </a:xfrm>
          <a:prstGeom prst="ellipse">
            <a:avLst/>
          </a:prstGeom>
          <a:solidFill>
            <a:srgbClr val="42D3C4"/>
          </a:solidFill>
          <a:ln w="12700">
            <a:solidFill>
              <a:srgbClr val="42D3C4"/>
            </a:solidFill>
            <a:prstDash val="solid"/>
          </a:ln>
        </p:spPr>
        <p:txBody>
          <a:bodyPr/>
          <a:lstStyle/>
          <a:p>
            <a:endParaRPr/>
          </a:p>
        </p:txBody>
      </p:sp>
      <p:sp>
        <p:nvSpPr>
          <p:cNvPr id="15" name="Text 13"/>
          <p:cNvSpPr/>
          <p:nvPr/>
        </p:nvSpPr>
        <p:spPr>
          <a:xfrm>
            <a:off x="1069848" y="4407408"/>
            <a:ext cx="100401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Разработать авторизацию, хранение и защиту доступа.</a:t>
            </a:r>
            <a:endParaRPr lang="en-US" sz="1800" dirty="0"/>
          </a:p>
        </p:txBody>
      </p:sp>
      <p:sp>
        <p:nvSpPr>
          <p:cNvPr id="16" name="Shape 14"/>
          <p:cNvSpPr/>
          <p:nvPr/>
        </p:nvSpPr>
        <p:spPr>
          <a:xfrm>
            <a:off x="777240" y="5175504"/>
            <a:ext cx="100584" cy="100584"/>
          </a:xfrm>
          <a:prstGeom prst="ellipse">
            <a:avLst/>
          </a:prstGeom>
          <a:solidFill>
            <a:srgbClr val="42D3C4"/>
          </a:solidFill>
          <a:ln w="12700">
            <a:solidFill>
              <a:srgbClr val="42D3C4"/>
            </a:solidFill>
            <a:prstDash val="solid"/>
          </a:ln>
        </p:spPr>
        <p:txBody>
          <a:bodyPr/>
          <a:lstStyle/>
          <a:p>
            <a:endParaRPr/>
          </a:p>
        </p:txBody>
      </p:sp>
      <p:sp>
        <p:nvSpPr>
          <p:cNvPr id="17" name="Text 15"/>
          <p:cNvSpPr/>
          <p:nvPr/>
        </p:nvSpPr>
        <p:spPr>
          <a:xfrm>
            <a:off x="1069848" y="5047488"/>
            <a:ext cx="100401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Проверить программные сценарии тестами.</a:t>
            </a:r>
            <a:endParaRPr lang="en-US" sz="1800" dirty="0"/>
          </a:p>
        </p:txBody>
      </p:sp>
      <p:sp>
        <p:nvSpPr>
          <p:cNvPr id="25" name="Rounded Rectangle 24"/>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06</a:t>
            </a:r>
          </a:p>
        </p:txBody>
      </p:sp>
      <p:sp>
        <p:nvSpPr>
          <p:cNvPr id="26" name="Oval 26"/>
          <p:cNvSpPr/>
          <p:nvPr/>
        </p:nvSpPr>
        <p:spPr>
          <a:xfrm>
            <a:off x="-720588" y="5687568"/>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226"/>
        </a:solidFill>
        <a:effectLst/>
      </p:bgPr>
    </p:bg>
    <p:spTree>
      <p:nvGrpSpPr>
        <p:cNvPr id="1" name=""/>
        <p:cNvGrpSpPr/>
        <p:nvPr/>
      </p:nvGrpSpPr>
      <p:grpSpPr>
        <a:xfrm>
          <a:off x="0" y="0"/>
          <a:ext cx="0" cy="0"/>
          <a:chOff x="0" y="0"/>
          <a:chExt cx="0" cy="0"/>
        </a:xfrm>
      </p:grpSpPr>
      <p:sp>
        <p:nvSpPr>
          <p:cNvPr id="29" name="Rounded Rectangle 28"/>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MyCreative 2.0 — основные возможности</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07</a:t>
            </a:r>
            <a:endParaRPr lang="en-US" sz="900" dirty="0"/>
          </a:p>
        </p:txBody>
      </p:sp>
      <p:sp>
        <p:nvSpPr>
          <p:cNvPr id="8" name="Shape 6"/>
          <p:cNvSpPr/>
          <p:nvPr/>
        </p:nvSpPr>
        <p:spPr>
          <a:xfrm>
            <a:off x="640080" y="1581912"/>
            <a:ext cx="3401568" cy="1673352"/>
          </a:xfrm>
          <a:prstGeom prst="roundRect">
            <a:avLst>
              <a:gd name="adj" fmla="val 7650"/>
            </a:avLst>
          </a:prstGeom>
          <a:solidFill>
            <a:srgbClr val="183047"/>
          </a:solidFill>
          <a:ln w="15240">
            <a:solidFill>
              <a:srgbClr val="355064"/>
            </a:solidFill>
            <a:prstDash val="solid"/>
          </a:ln>
        </p:spPr>
        <p:txBody>
          <a:bodyPr/>
          <a:lstStyle/>
          <a:p>
            <a:endParaRPr/>
          </a:p>
        </p:txBody>
      </p:sp>
      <p:sp>
        <p:nvSpPr>
          <p:cNvPr id="9" name="Text 7"/>
          <p:cNvSpPr/>
          <p:nvPr/>
        </p:nvSpPr>
        <p:spPr>
          <a:xfrm>
            <a:off x="859536" y="1764792"/>
            <a:ext cx="9144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42D3C4"/>
                </a:solidFill>
                <a:latin typeface="Segoe UI" pitchFamily="34" charset="0"/>
                <a:ea typeface="Aptos" pitchFamily="34" charset="-122"/>
                <a:cs typeface="Aptos" pitchFamily="34" charset="-120"/>
              </a:rPr>
              <a:t>03</a:t>
            </a:r>
            <a:endParaRPr lang="en-US" sz="3600" dirty="0"/>
          </a:p>
        </p:txBody>
      </p:sp>
      <p:sp>
        <p:nvSpPr>
          <p:cNvPr id="10" name="Text 8"/>
          <p:cNvSpPr/>
          <p:nvPr/>
        </p:nvSpPr>
        <p:spPr>
          <a:xfrm>
            <a:off x="1673352" y="1801368"/>
            <a:ext cx="2212848" cy="356616"/>
          </a:xfrm>
          <a:prstGeom prst="rect">
            <a:avLst/>
          </a:prstGeom>
          <a:noFill/>
          <a:ln/>
        </p:spPr>
        <p:txBody>
          <a:bodyPr wrap="square" lIns="0" tIns="0" rIns="0" bIns="0" rtlCol="0" anchor="ctr">
            <a:normAutofit/>
          </a:bodyPr>
          <a:lstStyle/>
          <a:p>
            <a:pPr marL="0" indent="0">
              <a:buNone/>
            </a:pPr>
            <a:r>
              <a:rPr lang="ru-RU" sz="1700" b="1" dirty="0">
                <a:solidFill>
                  <a:srgbClr val="F2F9FC"/>
                </a:solidFill>
                <a:latin typeface="Segoe UI" pitchFamily="34" charset="0"/>
                <a:ea typeface="Aptos" pitchFamily="34" charset="-122"/>
                <a:cs typeface="Aptos" pitchFamily="34" charset="-120"/>
              </a:rPr>
              <a:t>Г</a:t>
            </a:r>
            <a:r>
              <a:rPr lang="en-US" sz="1700" b="1" dirty="0" err="1" smtClean="0">
                <a:solidFill>
                  <a:srgbClr val="F2F9FC"/>
                </a:solidFill>
                <a:latin typeface="Segoe UI" pitchFamily="34" charset="0"/>
                <a:ea typeface="Aptos" pitchFamily="34" charset="-122"/>
                <a:cs typeface="Aptos" pitchFamily="34" charset="-120"/>
              </a:rPr>
              <a:t>еометрии</a:t>
            </a:r>
            <a:endParaRPr lang="en-US" sz="1700" dirty="0"/>
          </a:p>
        </p:txBody>
      </p:sp>
      <p:sp>
        <p:nvSpPr>
          <p:cNvPr id="11" name="Text 9"/>
          <p:cNvSpPr/>
          <p:nvPr/>
        </p:nvSpPr>
        <p:spPr>
          <a:xfrm>
            <a:off x="859536" y="2587752"/>
            <a:ext cx="2880360" cy="420624"/>
          </a:xfrm>
          <a:prstGeom prst="rect">
            <a:avLst/>
          </a:prstGeom>
          <a:noFill/>
          <a:ln/>
        </p:spPr>
        <p:txBody>
          <a:bodyPr wrap="square" lIns="0" tIns="0" rIns="0" bIns="0" rtlCol="0" anchor="ctr">
            <a:normAutofit/>
          </a:bodyPr>
          <a:lstStyle/>
          <a:p>
            <a:pPr marL="0" indent="0">
              <a:buNone/>
            </a:pPr>
            <a:r>
              <a:rPr lang="ru-RU" sz="1300" dirty="0">
                <a:solidFill>
                  <a:srgbClr val="ADC3D1"/>
                </a:solidFill>
                <a:latin typeface="Segoe UI" pitchFamily="34" charset="0"/>
                <a:ea typeface="Aptos" pitchFamily="34" charset="-122"/>
                <a:cs typeface="Aptos" pitchFamily="34" charset="-120"/>
              </a:rPr>
              <a:t>К</a:t>
            </a:r>
            <a:r>
              <a:rPr lang="en-US" sz="1300" dirty="0" err="1" smtClean="0">
                <a:solidFill>
                  <a:srgbClr val="ADC3D1"/>
                </a:solidFill>
                <a:latin typeface="Segoe UI" pitchFamily="34" charset="0"/>
                <a:ea typeface="Aptos" pitchFamily="34" charset="-122"/>
                <a:cs typeface="Aptos" pitchFamily="34" charset="-120"/>
              </a:rPr>
              <a:t>ристалл</a:t>
            </a:r>
            <a:r>
              <a:rPr lang="en-US" sz="1300" dirty="0">
                <a:solidFill>
                  <a:srgbClr val="ADC3D1"/>
                </a:solidFill>
                <a:latin typeface="Segoe UI" pitchFamily="34" charset="0"/>
                <a:ea typeface="Aptos" pitchFamily="34" charset="-122"/>
                <a:cs typeface="Aptos" pitchFamily="34" charset="-120"/>
              </a:rPr>
              <a:t>, </a:t>
            </a:r>
            <a:r>
              <a:rPr lang="ru-RU" sz="1300" dirty="0" smtClean="0">
                <a:solidFill>
                  <a:srgbClr val="ADC3D1"/>
                </a:solidFill>
                <a:latin typeface="Segoe UI" pitchFamily="34" charset="0"/>
                <a:ea typeface="Aptos" pitchFamily="34" charset="-122"/>
                <a:cs typeface="Aptos" pitchFamily="34" charset="-120"/>
              </a:rPr>
              <a:t>С</a:t>
            </a:r>
            <a:r>
              <a:rPr lang="en-US" sz="1300" dirty="0" err="1" smtClean="0">
                <a:solidFill>
                  <a:srgbClr val="ADC3D1"/>
                </a:solidFill>
                <a:latin typeface="Segoe UI" pitchFamily="34" charset="0"/>
                <a:ea typeface="Aptos" pitchFamily="34" charset="-122"/>
                <a:cs typeface="Aptos" pitchFamily="34" charset="-120"/>
              </a:rPr>
              <a:t>фера</a:t>
            </a:r>
            <a:r>
              <a:rPr lang="en-US" sz="1300" dirty="0">
                <a:solidFill>
                  <a:srgbClr val="ADC3D1"/>
                </a:solidFill>
                <a:latin typeface="Segoe UI" pitchFamily="34" charset="0"/>
                <a:ea typeface="Aptos" pitchFamily="34" charset="-122"/>
                <a:cs typeface="Aptos" pitchFamily="34" charset="-120"/>
              </a:rPr>
              <a:t>, </a:t>
            </a:r>
            <a:r>
              <a:rPr lang="ru-RU" sz="1300" dirty="0" smtClean="0">
                <a:solidFill>
                  <a:srgbClr val="ADC3D1"/>
                </a:solidFill>
                <a:latin typeface="Segoe UI" pitchFamily="34" charset="0"/>
                <a:ea typeface="Aptos" pitchFamily="34" charset="-122"/>
                <a:cs typeface="Aptos" pitchFamily="34" charset="-120"/>
              </a:rPr>
              <a:t>К</a:t>
            </a:r>
            <a:r>
              <a:rPr lang="en-US" sz="1300" dirty="0" err="1" smtClean="0">
                <a:solidFill>
                  <a:srgbClr val="ADC3D1"/>
                </a:solidFill>
                <a:latin typeface="Segoe UI" pitchFamily="34" charset="0"/>
                <a:ea typeface="Aptos" pitchFamily="34" charset="-122"/>
                <a:cs typeface="Aptos" pitchFamily="34" charset="-120"/>
              </a:rPr>
              <a:t>ольцо</a:t>
            </a:r>
            <a:endParaRPr lang="en-US" sz="1300" dirty="0"/>
          </a:p>
        </p:txBody>
      </p:sp>
      <p:sp>
        <p:nvSpPr>
          <p:cNvPr id="12" name="Shape 10"/>
          <p:cNvSpPr/>
          <p:nvPr/>
        </p:nvSpPr>
        <p:spPr>
          <a:xfrm>
            <a:off x="4398264" y="1581912"/>
            <a:ext cx="3401568" cy="1673352"/>
          </a:xfrm>
          <a:prstGeom prst="roundRect">
            <a:avLst>
              <a:gd name="adj" fmla="val 7650"/>
            </a:avLst>
          </a:prstGeom>
          <a:solidFill>
            <a:srgbClr val="183047"/>
          </a:solidFill>
          <a:ln w="15240">
            <a:solidFill>
              <a:srgbClr val="355064"/>
            </a:solidFill>
            <a:prstDash val="solid"/>
          </a:ln>
        </p:spPr>
        <p:txBody>
          <a:bodyPr/>
          <a:lstStyle/>
          <a:p>
            <a:endParaRPr/>
          </a:p>
        </p:txBody>
      </p:sp>
      <p:sp>
        <p:nvSpPr>
          <p:cNvPr id="13" name="Text 11"/>
          <p:cNvSpPr/>
          <p:nvPr/>
        </p:nvSpPr>
        <p:spPr>
          <a:xfrm>
            <a:off x="4617720" y="1764792"/>
            <a:ext cx="9144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42D3C4"/>
                </a:solidFill>
                <a:latin typeface="Segoe UI" pitchFamily="34" charset="0"/>
                <a:ea typeface="Aptos" pitchFamily="34" charset="-122"/>
                <a:cs typeface="Aptos" pitchFamily="34" charset="-120"/>
              </a:rPr>
              <a:t>03</a:t>
            </a:r>
            <a:endParaRPr lang="en-US" sz="3600" dirty="0"/>
          </a:p>
        </p:txBody>
      </p:sp>
      <p:sp>
        <p:nvSpPr>
          <p:cNvPr id="14" name="Text 12"/>
          <p:cNvSpPr/>
          <p:nvPr/>
        </p:nvSpPr>
        <p:spPr>
          <a:xfrm>
            <a:off x="5431536" y="1801368"/>
            <a:ext cx="2212848" cy="356616"/>
          </a:xfrm>
          <a:prstGeom prst="rect">
            <a:avLst/>
          </a:prstGeom>
          <a:noFill/>
          <a:ln/>
        </p:spPr>
        <p:txBody>
          <a:bodyPr wrap="square" lIns="0" tIns="0" rIns="0" bIns="0" rtlCol="0" anchor="ctr">
            <a:normAutofit/>
          </a:bodyPr>
          <a:lstStyle/>
          <a:p>
            <a:pPr marL="0" indent="0">
              <a:buNone/>
            </a:pPr>
            <a:r>
              <a:rPr lang="ru-RU" sz="1700" b="1" dirty="0">
                <a:solidFill>
                  <a:srgbClr val="F2F9FC"/>
                </a:solidFill>
                <a:latin typeface="Segoe UI" pitchFamily="34" charset="0"/>
                <a:ea typeface="Aptos" pitchFamily="34" charset="-122"/>
                <a:cs typeface="Aptos" pitchFamily="34" charset="-120"/>
              </a:rPr>
              <a:t>Ф</a:t>
            </a:r>
            <a:r>
              <a:rPr lang="en-US" sz="1700" b="1" dirty="0" err="1" smtClean="0">
                <a:solidFill>
                  <a:srgbClr val="F2F9FC"/>
                </a:solidFill>
                <a:latin typeface="Segoe UI" pitchFamily="34" charset="0"/>
                <a:ea typeface="Aptos" pitchFamily="34" charset="-122"/>
                <a:cs typeface="Aptos" pitchFamily="34" charset="-120"/>
              </a:rPr>
              <a:t>ормата</a:t>
            </a:r>
            <a:endParaRPr lang="en-US" sz="1700" dirty="0"/>
          </a:p>
        </p:txBody>
      </p:sp>
      <p:sp>
        <p:nvSpPr>
          <p:cNvPr id="15" name="Text 13"/>
          <p:cNvSpPr/>
          <p:nvPr/>
        </p:nvSpPr>
        <p:spPr>
          <a:xfrm>
            <a:off x="4617720" y="2587752"/>
            <a:ext cx="2880360" cy="420624"/>
          </a:xfrm>
          <a:prstGeom prst="rect">
            <a:avLst/>
          </a:prstGeom>
          <a:noFill/>
          <a:ln/>
        </p:spPr>
        <p:txBody>
          <a:bodyPr wrap="square" lIns="0" tIns="0" rIns="0" bIns="0" rtlCol="0" anchor="ctr">
            <a:normAutofit/>
          </a:bodyPr>
          <a:lstStyle/>
          <a:p>
            <a:pPr marL="0" indent="0">
              <a:buNone/>
            </a:pPr>
            <a:r>
              <a:rPr lang="en-US" sz="1300" b="1" dirty="0">
                <a:solidFill>
                  <a:srgbClr val="34DBD6"/>
                </a:solidFill>
                <a:latin typeface="Segoe UI" pitchFamily="34" charset="0"/>
                <a:ea typeface="Aptos" pitchFamily="34" charset="-122"/>
                <a:cs typeface="Aptos" pitchFamily="34" charset="-120"/>
              </a:rPr>
              <a:t>OBJ · PLY · GLTF</a:t>
            </a:r>
            <a:endParaRPr lang="en-US" sz="1300" dirty="0"/>
          </a:p>
        </p:txBody>
      </p:sp>
      <p:sp>
        <p:nvSpPr>
          <p:cNvPr id="16" name="Shape 14"/>
          <p:cNvSpPr/>
          <p:nvPr/>
        </p:nvSpPr>
        <p:spPr>
          <a:xfrm>
            <a:off x="8156448" y="1581912"/>
            <a:ext cx="3401568" cy="1673352"/>
          </a:xfrm>
          <a:prstGeom prst="roundRect">
            <a:avLst>
              <a:gd name="adj" fmla="val 7650"/>
            </a:avLst>
          </a:prstGeom>
          <a:solidFill>
            <a:srgbClr val="183047"/>
          </a:solidFill>
          <a:ln w="15240">
            <a:solidFill>
              <a:srgbClr val="355064"/>
            </a:solidFill>
            <a:prstDash val="solid"/>
          </a:ln>
        </p:spPr>
        <p:txBody>
          <a:bodyPr/>
          <a:lstStyle/>
          <a:p>
            <a:endParaRPr/>
          </a:p>
        </p:txBody>
      </p:sp>
      <p:sp>
        <p:nvSpPr>
          <p:cNvPr id="17" name="Text 15"/>
          <p:cNvSpPr/>
          <p:nvPr/>
        </p:nvSpPr>
        <p:spPr>
          <a:xfrm>
            <a:off x="8375904" y="1764792"/>
            <a:ext cx="9144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42D3C4"/>
                </a:solidFill>
                <a:latin typeface="Segoe UI" pitchFamily="34" charset="0"/>
                <a:ea typeface="Aptos" pitchFamily="34" charset="-122"/>
                <a:cs typeface="Aptos" pitchFamily="34" charset="-120"/>
              </a:rPr>
              <a:t>40</a:t>
            </a:r>
            <a:endParaRPr lang="en-US" sz="3600" dirty="0"/>
          </a:p>
        </p:txBody>
      </p:sp>
      <p:sp>
        <p:nvSpPr>
          <p:cNvPr id="18" name="Text 16"/>
          <p:cNvSpPr/>
          <p:nvPr/>
        </p:nvSpPr>
        <p:spPr>
          <a:xfrm>
            <a:off x="9189720" y="1801368"/>
            <a:ext cx="2212848" cy="356616"/>
          </a:xfrm>
          <a:prstGeom prst="rect">
            <a:avLst/>
          </a:prstGeom>
          <a:noFill/>
          <a:ln/>
        </p:spPr>
        <p:txBody>
          <a:bodyPr wrap="square" lIns="0" tIns="0" rIns="0" bIns="0" rtlCol="0" anchor="ctr">
            <a:normAutofit/>
          </a:bodyPr>
          <a:lstStyle/>
          <a:p>
            <a:pPr marL="0" indent="0">
              <a:buNone/>
            </a:pPr>
            <a:r>
              <a:rPr lang="ru-RU" sz="1700" b="1" dirty="0">
                <a:solidFill>
                  <a:srgbClr val="F2F9FC"/>
                </a:solidFill>
                <a:latin typeface="Segoe UI" pitchFamily="34" charset="0"/>
                <a:ea typeface="Aptos" pitchFamily="34" charset="-122"/>
                <a:cs typeface="Aptos" pitchFamily="34" charset="-120"/>
              </a:rPr>
              <a:t>Т</a:t>
            </a:r>
            <a:r>
              <a:rPr lang="en-US" sz="1700" b="1" dirty="0" err="1" smtClean="0">
                <a:solidFill>
                  <a:srgbClr val="F2F9FC"/>
                </a:solidFill>
                <a:latin typeface="Segoe UI" pitchFamily="34" charset="0"/>
                <a:ea typeface="Aptos" pitchFamily="34" charset="-122"/>
                <a:cs typeface="Aptos" pitchFamily="34" charset="-120"/>
              </a:rPr>
              <a:t>естов</a:t>
            </a:r>
            <a:endParaRPr lang="en-US" sz="1700" dirty="0"/>
          </a:p>
        </p:txBody>
      </p:sp>
      <p:sp>
        <p:nvSpPr>
          <p:cNvPr id="19" name="Text 17"/>
          <p:cNvSpPr/>
          <p:nvPr/>
        </p:nvSpPr>
        <p:spPr>
          <a:xfrm>
            <a:off x="8375904" y="2587752"/>
            <a:ext cx="2880360" cy="420624"/>
          </a:xfrm>
          <a:prstGeom prst="rect">
            <a:avLst/>
          </a:prstGeom>
          <a:noFill/>
          <a:ln/>
        </p:spPr>
        <p:txBody>
          <a:bodyPr wrap="square" lIns="0" tIns="0" rIns="0" bIns="0" rtlCol="0" anchor="ctr">
            <a:normAutofit/>
          </a:bodyPr>
          <a:lstStyle/>
          <a:p>
            <a:pPr marL="0" indent="0">
              <a:buNone/>
            </a:pPr>
            <a:r>
              <a:rPr lang="en-US" sz="1300" dirty="0">
                <a:solidFill>
                  <a:srgbClr val="ADC3D1"/>
                </a:solidFill>
                <a:latin typeface="Segoe UI" pitchFamily="34" charset="0"/>
                <a:ea typeface="Aptos" pitchFamily="34" charset="-122"/>
                <a:cs typeface="Aptos" pitchFamily="34" charset="-120"/>
              </a:rPr>
              <a:t>40 </a:t>
            </a:r>
            <a:r>
              <a:rPr lang="ru-RU" sz="1300" dirty="0" smtClean="0">
                <a:solidFill>
                  <a:srgbClr val="ADC3D1"/>
                </a:solidFill>
                <a:latin typeface="Segoe UI" pitchFamily="34" charset="0"/>
                <a:ea typeface="Aptos" pitchFamily="34" charset="-122"/>
                <a:cs typeface="Aptos" pitchFamily="34" charset="-120"/>
              </a:rPr>
              <a:t>В</a:t>
            </a:r>
            <a:r>
              <a:rPr lang="en-US" sz="1300" dirty="0" err="1" smtClean="0">
                <a:solidFill>
                  <a:srgbClr val="ADC3D1"/>
                </a:solidFill>
                <a:latin typeface="Segoe UI" pitchFamily="34" charset="0"/>
                <a:ea typeface="Aptos" pitchFamily="34" charset="-122"/>
                <a:cs typeface="Aptos" pitchFamily="34" charset="-120"/>
              </a:rPr>
              <a:t>ыполнено</a:t>
            </a:r>
            <a:r>
              <a:rPr lang="en-US" sz="1300" dirty="0" smtClean="0">
                <a:solidFill>
                  <a:srgbClr val="ADC3D1"/>
                </a:solidFill>
                <a:latin typeface="Segoe UI" pitchFamily="34" charset="0"/>
                <a:ea typeface="Aptos" pitchFamily="34" charset="-122"/>
                <a:cs typeface="Aptos" pitchFamily="34" charset="-120"/>
              </a:rPr>
              <a:t> </a:t>
            </a:r>
            <a:r>
              <a:rPr lang="en-US" sz="1300" dirty="0">
                <a:solidFill>
                  <a:srgbClr val="ADC3D1"/>
                </a:solidFill>
                <a:latin typeface="Segoe UI" pitchFamily="34" charset="0"/>
                <a:ea typeface="Aptos" pitchFamily="34" charset="-122"/>
                <a:cs typeface="Aptos" pitchFamily="34" charset="-120"/>
              </a:rPr>
              <a:t>успешно</a:t>
            </a:r>
            <a:endParaRPr lang="en-US" sz="1300" dirty="0"/>
          </a:p>
        </p:txBody>
      </p:sp>
      <p:sp>
        <p:nvSpPr>
          <p:cNvPr id="20" name="Shape 18"/>
          <p:cNvSpPr/>
          <p:nvPr/>
        </p:nvSpPr>
        <p:spPr>
          <a:xfrm>
            <a:off x="640080" y="3694176"/>
            <a:ext cx="10881360" cy="1508760"/>
          </a:xfrm>
          <a:prstGeom prst="roundRect">
            <a:avLst>
              <a:gd name="adj" fmla="val 8485"/>
            </a:avLst>
          </a:prstGeom>
          <a:solidFill>
            <a:srgbClr val="183047"/>
          </a:solidFill>
          <a:ln w="15240">
            <a:solidFill>
              <a:srgbClr val="355064"/>
            </a:solidFill>
            <a:prstDash val="solid"/>
          </a:ln>
        </p:spPr>
        <p:txBody>
          <a:bodyPr/>
          <a:lstStyle/>
          <a:p>
            <a:endParaRPr/>
          </a:p>
        </p:txBody>
      </p:sp>
      <p:sp>
        <p:nvSpPr>
          <p:cNvPr id="21" name="Shape 19"/>
          <p:cNvSpPr/>
          <p:nvPr/>
        </p:nvSpPr>
        <p:spPr>
          <a:xfrm>
            <a:off x="795528" y="3913632"/>
            <a:ext cx="59436" cy="347472"/>
          </a:xfrm>
          <a:prstGeom prst="rect">
            <a:avLst/>
          </a:prstGeom>
          <a:solidFill>
            <a:srgbClr val="42D3C4"/>
          </a:solidFill>
          <a:ln w="12700">
            <a:solidFill>
              <a:srgbClr val="42D3C4"/>
            </a:solidFill>
            <a:prstDash val="solid"/>
          </a:ln>
        </p:spPr>
        <p:txBody>
          <a:bodyPr/>
          <a:lstStyle/>
          <a:p>
            <a:endParaRPr/>
          </a:p>
        </p:txBody>
      </p:sp>
      <p:sp>
        <p:nvSpPr>
          <p:cNvPr id="22" name="Text 20"/>
          <p:cNvSpPr/>
          <p:nvPr/>
        </p:nvSpPr>
        <p:spPr>
          <a:xfrm>
            <a:off x="950976" y="3895344"/>
            <a:ext cx="10424160"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СЕРВЕРНЫЕ ФУНКЦИИ</a:t>
            </a:r>
            <a:endParaRPr lang="en-US" sz="1800" dirty="0"/>
          </a:p>
        </p:txBody>
      </p:sp>
      <p:sp>
        <p:nvSpPr>
          <p:cNvPr id="23" name="Text 21"/>
          <p:cNvSpPr/>
          <p:nvPr/>
        </p:nvSpPr>
        <p:spPr>
          <a:xfrm>
            <a:off x="868680" y="4379976"/>
            <a:ext cx="10433304" cy="722376"/>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Регистрация • JWT-cookie • импорт • поиск • переименование • скачивание • удаление</a:t>
            </a:r>
            <a:endParaRPr lang="en-US" sz="1900" dirty="0"/>
          </a:p>
        </p:txBody>
      </p:sp>
      <p:sp>
        <p:nvSpPr>
          <p:cNvPr id="31" name="Rounded Rectangle 30"/>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07</a:t>
            </a:r>
          </a:p>
        </p:txBody>
      </p:sp>
      <p:sp>
        <p:nvSpPr>
          <p:cNvPr id="32" name="Oval 26"/>
          <p:cNvSpPr/>
          <p:nvPr/>
        </p:nvSpPr>
        <p:spPr>
          <a:xfrm>
            <a:off x="-713232" y="531266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226"/>
        </a:solidFill>
        <a:effectLst/>
      </p:bgPr>
    </p:bg>
    <p:spTree>
      <p:nvGrpSpPr>
        <p:cNvPr id="1" name=""/>
        <p:cNvGrpSpPr/>
        <p:nvPr/>
      </p:nvGrpSpPr>
      <p:grpSpPr>
        <a:xfrm>
          <a:off x="0" y="0"/>
          <a:ext cx="0" cy="0"/>
          <a:chOff x="0" y="0"/>
          <a:chExt cx="0" cy="0"/>
        </a:xfrm>
      </p:grpSpPr>
      <p:sp>
        <p:nvSpPr>
          <p:cNvPr id="13" name="Rectangle 12"/>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Пользовательский путь: от идеи до файла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08</a:t>
            </a:r>
            <a:endParaRPr lang="en-US" sz="900" dirty="0"/>
          </a:p>
        </p:txBody>
      </p:sp>
      <p:pic>
        <p:nvPicPr>
          <p:cNvPr id="8" name="Image 0" descr="/mnt/data/mycreative_assets/workflow.png"/>
          <p:cNvPicPr>
            <a:picLocks noChangeAspect="1"/>
          </p:cNvPicPr>
          <p:nvPr/>
        </p:nvPicPr>
        <p:blipFill>
          <a:blip r:embed="rId3"/>
          <a:stretch>
            <a:fillRect/>
          </a:stretch>
        </p:blipFill>
        <p:spPr>
          <a:xfrm>
            <a:off x="594360" y="1508760"/>
            <a:ext cx="10972800" cy="4087368"/>
          </a:xfrm>
          <a:prstGeom prst="rect">
            <a:avLst/>
          </a:prstGeom>
        </p:spPr>
      </p:pic>
      <p:sp>
        <p:nvSpPr>
          <p:cNvPr id="16" name="Rounded Rectangle 15"/>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08</a:t>
            </a:r>
          </a:p>
        </p:txBody>
      </p:sp>
      <p:sp>
        <p:nvSpPr>
          <p:cNvPr id="17"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226"/>
        </a:solidFill>
        <a:effectLst/>
      </p:bgPr>
    </p:bg>
    <p:spTree>
      <p:nvGrpSpPr>
        <p:cNvPr id="1" name=""/>
        <p:cNvGrpSpPr/>
        <p:nvPr/>
      </p:nvGrpSpPr>
      <p:grpSpPr>
        <a:xfrm>
          <a:off x="0" y="0"/>
          <a:ext cx="0" cy="0"/>
          <a:chOff x="0" y="0"/>
          <a:chExt cx="0" cy="0"/>
        </a:xfrm>
      </p:grpSpPr>
      <p:sp>
        <p:nvSpPr>
          <p:cNvPr id="14" name="Rounded Rectangle 13"/>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Архитектура программной системы</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09</a:t>
            </a:r>
            <a:endParaRPr lang="en-US" sz="900" dirty="0"/>
          </a:p>
        </p:txBody>
      </p:sp>
      <p:sp>
        <p:nvSpPr>
          <p:cNvPr id="16" name="Rounded Rectangle 15"/>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09</a:t>
            </a:r>
          </a:p>
        </p:txBody>
      </p:sp>
      <p:sp>
        <p:nvSpPr>
          <p:cNvPr id="17" name="Rounded Rectangle 16"/>
          <p:cNvSpPr/>
          <p:nvPr/>
        </p:nvSpPr>
        <p:spPr>
          <a:xfrm>
            <a:off x="6928618" y="1453896"/>
            <a:ext cx="4206240" cy="4434840"/>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8"/>
          <p:cNvSpPr/>
          <p:nvPr/>
        </p:nvSpPr>
        <p:spPr>
          <a:xfrm>
            <a:off x="7023613" y="1842632"/>
            <a:ext cx="3644902" cy="3644902"/>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Image 0" descr="/mnt/data/mycreative_assets/architecture.png"/>
          <p:cNvPicPr>
            <a:picLocks noChangeAspect="1"/>
          </p:cNvPicPr>
          <p:nvPr/>
        </p:nvPicPr>
        <p:blipFill>
          <a:blip r:embed="rId3"/>
          <a:stretch>
            <a:fillRect/>
          </a:stretch>
        </p:blipFill>
        <p:spPr>
          <a:xfrm>
            <a:off x="2489701" y="1421892"/>
            <a:ext cx="5627637" cy="4466844"/>
          </a:xfrm>
          <a:prstGeom prst="rect">
            <a:avLst/>
          </a:prstGeom>
        </p:spPr>
      </p:pic>
      <p:sp>
        <p:nvSpPr>
          <p:cNvPr id="19" name="TextBox 18"/>
          <p:cNvSpPr txBox="1"/>
          <p:nvPr/>
        </p:nvSpPr>
        <p:spPr>
          <a:xfrm>
            <a:off x="3279638" y="5469655"/>
            <a:ext cx="3657600" cy="274320"/>
          </a:xfrm>
          <a:prstGeom prst="rect">
            <a:avLst/>
          </a:prstGeom>
          <a:noFill/>
        </p:spPr>
        <p:txBody>
          <a:bodyPr wrap="none">
            <a:spAutoFit/>
          </a:bodyPr>
          <a:lstStyle/>
          <a:p>
            <a:pPr algn="ctr"/>
            <a:r>
              <a:rPr sz="1050" dirty="0" err="1">
                <a:solidFill>
                  <a:srgbClr val="ACBDD2"/>
                </a:solidFill>
                <a:latin typeface="Segoe UI"/>
              </a:rPr>
              <a:t>Визуальная</a:t>
            </a:r>
            <a:r>
              <a:rPr sz="1050" dirty="0">
                <a:solidFill>
                  <a:srgbClr val="ACBDD2"/>
                </a:solidFill>
                <a:latin typeface="Segoe UI"/>
              </a:rPr>
              <a:t> </a:t>
            </a:r>
            <a:r>
              <a:rPr sz="1050" dirty="0" err="1">
                <a:solidFill>
                  <a:srgbClr val="ACBDD2"/>
                </a:solidFill>
                <a:latin typeface="Segoe UI"/>
              </a:rPr>
              <a:t>схема</a:t>
            </a:r>
            <a:r>
              <a:rPr sz="1050" dirty="0">
                <a:solidFill>
                  <a:srgbClr val="ACBDD2"/>
                </a:solidFill>
                <a:latin typeface="Segoe UI"/>
              </a:rPr>
              <a:t> </a:t>
            </a:r>
            <a:r>
              <a:rPr sz="1050" dirty="0" err="1">
                <a:solidFill>
                  <a:srgbClr val="ACBDD2"/>
                </a:solidFill>
                <a:latin typeface="Segoe UI"/>
              </a:rPr>
              <a:t>проекта</a:t>
            </a:r>
            <a:endParaRPr sz="1050" dirty="0">
              <a:solidFill>
                <a:srgbClr val="ACBDD2"/>
              </a:solidFill>
              <a:latin typeface="Segoe UI"/>
            </a:endParaRPr>
          </a:p>
        </p:txBody>
      </p:sp>
      <p:sp>
        <p:nvSpPr>
          <p:cNvPr id="21" name="Oval 26"/>
          <p:cNvSpPr/>
          <p:nvPr/>
        </p:nvSpPr>
        <p:spPr>
          <a:xfrm>
            <a:off x="-619259" y="4916763"/>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226"/>
        </a:solidFill>
        <a:effectLst/>
      </p:bgPr>
    </p:bg>
    <p:spTree>
      <p:nvGrpSpPr>
        <p:cNvPr id="1" name=""/>
        <p:cNvGrpSpPr/>
        <p:nvPr/>
      </p:nvGrpSpPr>
      <p:grpSpPr>
        <a:xfrm>
          <a:off x="0" y="0"/>
          <a:ext cx="0" cy="0"/>
          <a:chOff x="0" y="0"/>
          <a:chExt cx="0" cy="0"/>
        </a:xfrm>
      </p:grpSpPr>
      <p:sp>
        <p:nvSpPr>
          <p:cNvPr id="37" name="Rounded Rectangle 36"/>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23195" y="1618488"/>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40" name="Oval 26"/>
          <p:cNvSpPr/>
          <p:nvPr/>
        </p:nvSpPr>
        <p:spPr>
          <a:xfrm>
            <a:off x="-731520" y="5303520"/>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Технологический стек</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10</a:t>
            </a:r>
            <a:endParaRPr lang="en-US" sz="900" dirty="0"/>
          </a:p>
        </p:txBody>
      </p:sp>
      <p:sp>
        <p:nvSpPr>
          <p:cNvPr id="8" name="Shape 6"/>
          <p:cNvSpPr/>
          <p:nvPr/>
        </p:nvSpPr>
        <p:spPr>
          <a:xfrm>
            <a:off x="640080" y="1417320"/>
            <a:ext cx="5285232" cy="1261872"/>
          </a:xfrm>
          <a:prstGeom prst="roundRect">
            <a:avLst>
              <a:gd name="adj" fmla="val 10145"/>
            </a:avLst>
          </a:prstGeom>
          <a:solidFill>
            <a:srgbClr val="183047"/>
          </a:solidFill>
          <a:ln w="15240">
            <a:solidFill>
              <a:srgbClr val="355064"/>
            </a:solidFill>
            <a:prstDash val="solid"/>
          </a:ln>
        </p:spPr>
        <p:txBody>
          <a:bodyPr/>
          <a:lstStyle/>
          <a:p>
            <a:endParaRPr/>
          </a:p>
        </p:txBody>
      </p:sp>
      <p:sp>
        <p:nvSpPr>
          <p:cNvPr id="9" name="Shape 7"/>
          <p:cNvSpPr/>
          <p:nvPr/>
        </p:nvSpPr>
        <p:spPr>
          <a:xfrm>
            <a:off x="795528" y="1636776"/>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50976" y="1618488"/>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FRONTEND</a:t>
            </a:r>
            <a:endParaRPr lang="en-US" sz="1800" dirty="0"/>
          </a:p>
        </p:txBody>
      </p:sp>
      <p:sp>
        <p:nvSpPr>
          <p:cNvPr id="11" name="Text 9"/>
          <p:cNvSpPr/>
          <p:nvPr/>
        </p:nvSpPr>
        <p:spPr>
          <a:xfrm>
            <a:off x="868680" y="2103120"/>
            <a:ext cx="4837176" cy="475488"/>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HTML  ·  CSS  ·  JavaScript</a:t>
            </a:r>
            <a:endParaRPr lang="en-US" sz="1600" dirty="0"/>
          </a:p>
        </p:txBody>
      </p:sp>
      <p:sp>
        <p:nvSpPr>
          <p:cNvPr id="12" name="Shape 10"/>
          <p:cNvSpPr/>
          <p:nvPr/>
        </p:nvSpPr>
        <p:spPr>
          <a:xfrm>
            <a:off x="6199632" y="1417320"/>
            <a:ext cx="5285232" cy="1261872"/>
          </a:xfrm>
          <a:prstGeom prst="roundRect">
            <a:avLst>
              <a:gd name="adj" fmla="val 10145"/>
            </a:avLst>
          </a:prstGeom>
          <a:solidFill>
            <a:srgbClr val="183047"/>
          </a:solidFill>
          <a:ln w="15240">
            <a:solidFill>
              <a:srgbClr val="355064"/>
            </a:solidFill>
            <a:prstDash val="solid"/>
          </a:ln>
        </p:spPr>
        <p:txBody>
          <a:bodyPr/>
          <a:lstStyle/>
          <a:p>
            <a:endParaRPr/>
          </a:p>
        </p:txBody>
      </p:sp>
      <p:sp>
        <p:nvSpPr>
          <p:cNvPr id="13" name="Shape 11"/>
          <p:cNvSpPr/>
          <p:nvPr/>
        </p:nvSpPr>
        <p:spPr>
          <a:xfrm>
            <a:off x="6355080" y="1636776"/>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6510528" y="1618488"/>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3D</a:t>
            </a:r>
            <a:endParaRPr lang="en-US" sz="1800" dirty="0"/>
          </a:p>
        </p:txBody>
      </p:sp>
      <p:sp>
        <p:nvSpPr>
          <p:cNvPr id="15" name="Text 13"/>
          <p:cNvSpPr/>
          <p:nvPr/>
        </p:nvSpPr>
        <p:spPr>
          <a:xfrm>
            <a:off x="6428232" y="2103120"/>
            <a:ext cx="4837176" cy="475488"/>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Three.js  ·  OrbitControls</a:t>
            </a:r>
            <a:endParaRPr lang="en-US" sz="1600" dirty="0"/>
          </a:p>
        </p:txBody>
      </p:sp>
      <p:sp>
        <p:nvSpPr>
          <p:cNvPr id="16" name="Shape 14"/>
          <p:cNvSpPr/>
          <p:nvPr/>
        </p:nvSpPr>
        <p:spPr>
          <a:xfrm>
            <a:off x="640080" y="2898648"/>
            <a:ext cx="5285232" cy="1261872"/>
          </a:xfrm>
          <a:prstGeom prst="roundRect">
            <a:avLst>
              <a:gd name="adj" fmla="val 10145"/>
            </a:avLst>
          </a:prstGeom>
          <a:solidFill>
            <a:srgbClr val="183047"/>
          </a:solidFill>
          <a:ln w="15240">
            <a:solidFill>
              <a:srgbClr val="355064"/>
            </a:solidFill>
            <a:prstDash val="solid"/>
          </a:ln>
        </p:spPr>
        <p:txBody>
          <a:bodyPr/>
          <a:lstStyle/>
          <a:p>
            <a:endParaRPr/>
          </a:p>
        </p:txBody>
      </p:sp>
      <p:sp>
        <p:nvSpPr>
          <p:cNvPr id="17" name="Shape 15"/>
          <p:cNvSpPr/>
          <p:nvPr/>
        </p:nvSpPr>
        <p:spPr>
          <a:xfrm>
            <a:off x="795528" y="3118104"/>
            <a:ext cx="59436" cy="347472"/>
          </a:xfrm>
          <a:prstGeom prst="rect">
            <a:avLst/>
          </a:prstGeom>
          <a:solidFill>
            <a:srgbClr val="42D3C4"/>
          </a:solidFill>
          <a:ln w="12700">
            <a:solidFill>
              <a:srgbClr val="42D3C4"/>
            </a:solidFill>
            <a:prstDash val="solid"/>
          </a:ln>
        </p:spPr>
        <p:txBody>
          <a:bodyPr/>
          <a:lstStyle/>
          <a:p>
            <a:endParaRPr/>
          </a:p>
        </p:txBody>
      </p:sp>
      <p:sp>
        <p:nvSpPr>
          <p:cNvPr id="18" name="Text 16"/>
          <p:cNvSpPr/>
          <p:nvPr/>
        </p:nvSpPr>
        <p:spPr>
          <a:xfrm>
            <a:off x="950976" y="3099816"/>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BACKEND</a:t>
            </a:r>
            <a:endParaRPr lang="en-US" sz="1800" dirty="0"/>
          </a:p>
        </p:txBody>
      </p:sp>
      <p:sp>
        <p:nvSpPr>
          <p:cNvPr id="19" name="Text 17"/>
          <p:cNvSpPr/>
          <p:nvPr/>
        </p:nvSpPr>
        <p:spPr>
          <a:xfrm>
            <a:off x="868680" y="3584448"/>
            <a:ext cx="4837176" cy="475488"/>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Node.js  ·  Express</a:t>
            </a:r>
            <a:endParaRPr lang="en-US" sz="1600" dirty="0"/>
          </a:p>
        </p:txBody>
      </p:sp>
      <p:sp>
        <p:nvSpPr>
          <p:cNvPr id="20" name="Shape 18"/>
          <p:cNvSpPr/>
          <p:nvPr/>
        </p:nvSpPr>
        <p:spPr>
          <a:xfrm>
            <a:off x="6199632" y="2898648"/>
            <a:ext cx="5285232" cy="1261872"/>
          </a:xfrm>
          <a:prstGeom prst="roundRect">
            <a:avLst>
              <a:gd name="adj" fmla="val 10145"/>
            </a:avLst>
          </a:prstGeom>
          <a:solidFill>
            <a:srgbClr val="183047"/>
          </a:solidFill>
          <a:ln w="15240">
            <a:solidFill>
              <a:srgbClr val="355064"/>
            </a:solidFill>
            <a:prstDash val="solid"/>
          </a:ln>
        </p:spPr>
        <p:txBody>
          <a:bodyPr/>
          <a:lstStyle/>
          <a:p>
            <a:endParaRPr/>
          </a:p>
        </p:txBody>
      </p:sp>
      <p:sp>
        <p:nvSpPr>
          <p:cNvPr id="21" name="Shape 19"/>
          <p:cNvSpPr/>
          <p:nvPr/>
        </p:nvSpPr>
        <p:spPr>
          <a:xfrm>
            <a:off x="6355080" y="3118104"/>
            <a:ext cx="59436" cy="347472"/>
          </a:xfrm>
          <a:prstGeom prst="rect">
            <a:avLst/>
          </a:prstGeom>
          <a:solidFill>
            <a:srgbClr val="EBC980"/>
          </a:solidFill>
          <a:ln w="12700">
            <a:solidFill>
              <a:srgbClr val="EBC980"/>
            </a:solidFill>
            <a:prstDash val="solid"/>
          </a:ln>
        </p:spPr>
        <p:txBody>
          <a:bodyPr/>
          <a:lstStyle/>
          <a:p>
            <a:endParaRPr/>
          </a:p>
        </p:txBody>
      </p:sp>
      <p:sp>
        <p:nvSpPr>
          <p:cNvPr id="22" name="Text 20"/>
          <p:cNvSpPr/>
          <p:nvPr/>
        </p:nvSpPr>
        <p:spPr>
          <a:xfrm>
            <a:off x="6510528" y="3099816"/>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ДАННЫЕ</a:t>
            </a:r>
            <a:endParaRPr lang="en-US" sz="1800" dirty="0"/>
          </a:p>
        </p:txBody>
      </p:sp>
      <p:sp>
        <p:nvSpPr>
          <p:cNvPr id="23" name="Text 21"/>
          <p:cNvSpPr/>
          <p:nvPr/>
        </p:nvSpPr>
        <p:spPr>
          <a:xfrm>
            <a:off x="6428232" y="3584448"/>
            <a:ext cx="4837176" cy="475488"/>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PostgreSQL  ·  PGlite</a:t>
            </a:r>
            <a:endParaRPr lang="en-US" sz="1600" dirty="0"/>
          </a:p>
        </p:txBody>
      </p:sp>
      <p:sp>
        <p:nvSpPr>
          <p:cNvPr id="24" name="Shape 22"/>
          <p:cNvSpPr/>
          <p:nvPr/>
        </p:nvSpPr>
        <p:spPr>
          <a:xfrm>
            <a:off x="640080" y="4379976"/>
            <a:ext cx="5285232" cy="1261872"/>
          </a:xfrm>
          <a:prstGeom prst="roundRect">
            <a:avLst>
              <a:gd name="adj" fmla="val 10145"/>
            </a:avLst>
          </a:prstGeom>
          <a:solidFill>
            <a:srgbClr val="183047"/>
          </a:solidFill>
          <a:ln w="15240">
            <a:solidFill>
              <a:srgbClr val="355064"/>
            </a:solidFill>
            <a:prstDash val="solid"/>
          </a:ln>
        </p:spPr>
        <p:txBody>
          <a:bodyPr/>
          <a:lstStyle/>
          <a:p>
            <a:endParaRPr/>
          </a:p>
        </p:txBody>
      </p:sp>
      <p:sp>
        <p:nvSpPr>
          <p:cNvPr id="25" name="Shape 23"/>
          <p:cNvSpPr/>
          <p:nvPr/>
        </p:nvSpPr>
        <p:spPr>
          <a:xfrm>
            <a:off x="795528" y="4599432"/>
            <a:ext cx="59436" cy="347472"/>
          </a:xfrm>
          <a:prstGeom prst="rect">
            <a:avLst/>
          </a:prstGeom>
          <a:solidFill>
            <a:srgbClr val="42D3C4"/>
          </a:solidFill>
          <a:ln w="12700">
            <a:solidFill>
              <a:srgbClr val="42D3C4"/>
            </a:solidFill>
            <a:prstDash val="solid"/>
          </a:ln>
        </p:spPr>
        <p:txBody>
          <a:bodyPr/>
          <a:lstStyle/>
          <a:p>
            <a:endParaRPr/>
          </a:p>
        </p:txBody>
      </p:sp>
      <p:sp>
        <p:nvSpPr>
          <p:cNvPr id="26" name="Text 24"/>
          <p:cNvSpPr/>
          <p:nvPr/>
        </p:nvSpPr>
        <p:spPr>
          <a:xfrm>
            <a:off x="950976" y="4581144"/>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БЕЗОПАСНОСТЬ</a:t>
            </a:r>
            <a:endParaRPr lang="en-US" sz="1800" dirty="0"/>
          </a:p>
        </p:txBody>
      </p:sp>
      <p:sp>
        <p:nvSpPr>
          <p:cNvPr id="27" name="Text 25"/>
          <p:cNvSpPr/>
          <p:nvPr/>
        </p:nvSpPr>
        <p:spPr>
          <a:xfrm>
            <a:off x="868680" y="5065776"/>
            <a:ext cx="4837176" cy="475488"/>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bcryptjs  ·  JWT  ·  Helmet</a:t>
            </a:r>
            <a:endParaRPr lang="en-US" sz="1600" dirty="0"/>
          </a:p>
        </p:txBody>
      </p:sp>
      <p:sp>
        <p:nvSpPr>
          <p:cNvPr id="28" name="Shape 26"/>
          <p:cNvSpPr/>
          <p:nvPr/>
        </p:nvSpPr>
        <p:spPr>
          <a:xfrm>
            <a:off x="6199632" y="4379976"/>
            <a:ext cx="5285232" cy="1261872"/>
          </a:xfrm>
          <a:prstGeom prst="roundRect">
            <a:avLst>
              <a:gd name="adj" fmla="val 10145"/>
            </a:avLst>
          </a:prstGeom>
          <a:solidFill>
            <a:srgbClr val="183047"/>
          </a:solidFill>
          <a:ln w="15240">
            <a:solidFill>
              <a:srgbClr val="355064"/>
            </a:solidFill>
            <a:prstDash val="solid"/>
          </a:ln>
        </p:spPr>
        <p:txBody>
          <a:bodyPr/>
          <a:lstStyle/>
          <a:p>
            <a:endParaRPr/>
          </a:p>
        </p:txBody>
      </p:sp>
      <p:sp>
        <p:nvSpPr>
          <p:cNvPr id="29" name="Shape 27"/>
          <p:cNvSpPr/>
          <p:nvPr/>
        </p:nvSpPr>
        <p:spPr>
          <a:xfrm>
            <a:off x="6355080" y="4599432"/>
            <a:ext cx="59436" cy="347472"/>
          </a:xfrm>
          <a:prstGeom prst="rect">
            <a:avLst/>
          </a:prstGeom>
          <a:solidFill>
            <a:srgbClr val="EBC980"/>
          </a:solidFill>
          <a:ln w="12700">
            <a:solidFill>
              <a:srgbClr val="EBC980"/>
            </a:solidFill>
            <a:prstDash val="solid"/>
          </a:ln>
        </p:spPr>
        <p:txBody>
          <a:bodyPr/>
          <a:lstStyle/>
          <a:p>
            <a:endParaRPr/>
          </a:p>
        </p:txBody>
      </p:sp>
      <p:sp>
        <p:nvSpPr>
          <p:cNvPr id="30" name="Text 28"/>
          <p:cNvSpPr/>
          <p:nvPr/>
        </p:nvSpPr>
        <p:spPr>
          <a:xfrm>
            <a:off x="6510528" y="4581144"/>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ТЕСТИРОВАНИЕ</a:t>
            </a:r>
            <a:endParaRPr lang="en-US" sz="1800" dirty="0"/>
          </a:p>
        </p:txBody>
      </p:sp>
      <p:sp>
        <p:nvSpPr>
          <p:cNvPr id="31" name="Text 29"/>
          <p:cNvSpPr/>
          <p:nvPr/>
        </p:nvSpPr>
        <p:spPr>
          <a:xfrm>
            <a:off x="6428232" y="5065776"/>
            <a:ext cx="4837176" cy="475488"/>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node:test  ·  HTTP integration</a:t>
            </a:r>
            <a:endParaRPr lang="en-US" sz="1600" dirty="0"/>
          </a:p>
        </p:txBody>
      </p:sp>
      <p:sp>
        <p:nvSpPr>
          <p:cNvPr id="39" name="Rounded Rectangle 38"/>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10</a:t>
            </a:r>
          </a:p>
        </p:txBody>
      </p:sp>
      <p:sp>
        <p:nvSpPr>
          <p:cNvPr id="41" name="TextBox 40"/>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226"/>
        </a:solidFill>
        <a:effectLst/>
      </p:bgPr>
    </p:bg>
    <p:spTree>
      <p:nvGrpSpPr>
        <p:cNvPr id="1" name=""/>
        <p:cNvGrpSpPr/>
        <p:nvPr/>
      </p:nvGrpSpPr>
      <p:grpSpPr>
        <a:xfrm>
          <a:off x="0" y="0"/>
          <a:ext cx="0" cy="0"/>
          <a:chOff x="0" y="0"/>
          <a:chExt cx="0" cy="0"/>
        </a:xfrm>
      </p:grpSpPr>
      <p:sp>
        <p:nvSpPr>
          <p:cNvPr id="37" name="Rounded Rectangle 36"/>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712464" y="1330452"/>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Состав веб-интерфейса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11</a:t>
            </a:r>
            <a:endParaRPr lang="en-US" sz="900" dirty="0"/>
          </a:p>
        </p:txBody>
      </p:sp>
      <p:sp>
        <p:nvSpPr>
          <p:cNvPr id="8" name="Shape 6"/>
          <p:cNvSpPr/>
          <p:nvPr/>
        </p:nvSpPr>
        <p:spPr>
          <a:xfrm>
            <a:off x="658368" y="1481328"/>
            <a:ext cx="3511296" cy="1709928"/>
          </a:xfrm>
          <a:prstGeom prst="roundRect">
            <a:avLst>
              <a:gd name="adj" fmla="val 7487"/>
            </a:avLst>
          </a:prstGeom>
          <a:solidFill>
            <a:srgbClr val="183047"/>
          </a:solidFill>
          <a:ln w="15240">
            <a:solidFill>
              <a:srgbClr val="355064"/>
            </a:solidFill>
            <a:prstDash val="solid"/>
          </a:ln>
        </p:spPr>
        <p:txBody>
          <a:bodyPr/>
          <a:lstStyle/>
          <a:p>
            <a:endParaRPr/>
          </a:p>
        </p:txBody>
      </p:sp>
      <p:sp>
        <p:nvSpPr>
          <p:cNvPr id="9" name="Shape 7"/>
          <p:cNvSpPr/>
          <p:nvPr/>
        </p:nvSpPr>
        <p:spPr>
          <a:xfrm>
            <a:off x="813816" y="1700784"/>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69264" y="1682496"/>
            <a:ext cx="3054096"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Главная</a:t>
            </a:r>
            <a:endParaRPr lang="en-US" sz="1800" dirty="0"/>
          </a:p>
        </p:txBody>
      </p:sp>
      <p:sp>
        <p:nvSpPr>
          <p:cNvPr id="11" name="Text 9"/>
          <p:cNvSpPr/>
          <p:nvPr/>
        </p:nvSpPr>
        <p:spPr>
          <a:xfrm>
            <a:off x="886968" y="2167128"/>
            <a:ext cx="3063240" cy="923544"/>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знакомство с проектом</a:t>
            </a:r>
            <a:endParaRPr lang="en-US" sz="1500" dirty="0"/>
          </a:p>
        </p:txBody>
      </p:sp>
      <p:sp>
        <p:nvSpPr>
          <p:cNvPr id="12" name="Shape 10"/>
          <p:cNvSpPr/>
          <p:nvPr/>
        </p:nvSpPr>
        <p:spPr>
          <a:xfrm>
            <a:off x="4407408" y="1481328"/>
            <a:ext cx="3511296" cy="1709928"/>
          </a:xfrm>
          <a:prstGeom prst="roundRect">
            <a:avLst>
              <a:gd name="adj" fmla="val 7487"/>
            </a:avLst>
          </a:prstGeom>
          <a:solidFill>
            <a:srgbClr val="183047"/>
          </a:solidFill>
          <a:ln w="15240">
            <a:solidFill>
              <a:srgbClr val="355064"/>
            </a:solidFill>
            <a:prstDash val="solid"/>
          </a:ln>
        </p:spPr>
        <p:txBody>
          <a:bodyPr/>
          <a:lstStyle/>
          <a:p>
            <a:endParaRPr/>
          </a:p>
        </p:txBody>
      </p:sp>
      <p:sp>
        <p:nvSpPr>
          <p:cNvPr id="13" name="Shape 11"/>
          <p:cNvSpPr/>
          <p:nvPr/>
        </p:nvSpPr>
        <p:spPr>
          <a:xfrm>
            <a:off x="4562856" y="1700784"/>
            <a:ext cx="59436" cy="347472"/>
          </a:xfrm>
          <a:prstGeom prst="rect">
            <a:avLst/>
          </a:prstGeom>
          <a:solidFill>
            <a:srgbClr val="42D3C4"/>
          </a:solidFill>
          <a:ln w="12700">
            <a:solidFill>
              <a:srgbClr val="42D3C4"/>
            </a:solidFill>
            <a:prstDash val="solid"/>
          </a:ln>
        </p:spPr>
        <p:txBody>
          <a:bodyPr/>
          <a:lstStyle/>
          <a:p>
            <a:endParaRPr/>
          </a:p>
        </p:txBody>
      </p:sp>
      <p:sp>
        <p:nvSpPr>
          <p:cNvPr id="14" name="Text 12"/>
          <p:cNvSpPr/>
          <p:nvPr/>
        </p:nvSpPr>
        <p:spPr>
          <a:xfrm>
            <a:off x="4718304" y="1682496"/>
            <a:ext cx="3054096"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Концепция</a:t>
            </a:r>
            <a:endParaRPr lang="en-US" sz="1800" dirty="0"/>
          </a:p>
        </p:txBody>
      </p:sp>
      <p:sp>
        <p:nvSpPr>
          <p:cNvPr id="15" name="Text 13"/>
          <p:cNvSpPr/>
          <p:nvPr/>
        </p:nvSpPr>
        <p:spPr>
          <a:xfrm>
            <a:off x="4636008" y="2167128"/>
            <a:ext cx="3063240" cy="923544"/>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реализовано / запланировано</a:t>
            </a:r>
            <a:endParaRPr lang="en-US" sz="1500" dirty="0"/>
          </a:p>
        </p:txBody>
      </p:sp>
      <p:sp>
        <p:nvSpPr>
          <p:cNvPr id="16" name="Shape 14"/>
          <p:cNvSpPr/>
          <p:nvPr/>
        </p:nvSpPr>
        <p:spPr>
          <a:xfrm>
            <a:off x="8156448" y="1481328"/>
            <a:ext cx="3511296" cy="1709928"/>
          </a:xfrm>
          <a:prstGeom prst="roundRect">
            <a:avLst>
              <a:gd name="adj" fmla="val 7487"/>
            </a:avLst>
          </a:prstGeom>
          <a:solidFill>
            <a:srgbClr val="183047"/>
          </a:solidFill>
          <a:ln w="15240">
            <a:solidFill>
              <a:srgbClr val="355064"/>
            </a:solidFill>
            <a:prstDash val="solid"/>
          </a:ln>
        </p:spPr>
        <p:txBody>
          <a:bodyPr/>
          <a:lstStyle/>
          <a:p>
            <a:endParaRPr/>
          </a:p>
        </p:txBody>
      </p:sp>
      <p:sp>
        <p:nvSpPr>
          <p:cNvPr id="17" name="Shape 15"/>
          <p:cNvSpPr/>
          <p:nvPr/>
        </p:nvSpPr>
        <p:spPr>
          <a:xfrm>
            <a:off x="8311896" y="1700784"/>
            <a:ext cx="59436" cy="347472"/>
          </a:xfrm>
          <a:prstGeom prst="rect">
            <a:avLst/>
          </a:prstGeom>
          <a:solidFill>
            <a:srgbClr val="EBC980"/>
          </a:solidFill>
          <a:ln w="12700">
            <a:solidFill>
              <a:srgbClr val="EBC980"/>
            </a:solidFill>
            <a:prstDash val="solid"/>
          </a:ln>
        </p:spPr>
        <p:txBody>
          <a:bodyPr/>
          <a:lstStyle/>
          <a:p>
            <a:endParaRPr/>
          </a:p>
        </p:txBody>
      </p:sp>
      <p:sp>
        <p:nvSpPr>
          <p:cNvPr id="18" name="Text 16"/>
          <p:cNvSpPr/>
          <p:nvPr/>
        </p:nvSpPr>
        <p:spPr>
          <a:xfrm>
            <a:off x="8467344" y="1682496"/>
            <a:ext cx="3054096" cy="338328"/>
          </a:xfrm>
          <a:prstGeom prst="rect">
            <a:avLst/>
          </a:prstGeom>
          <a:noFill/>
          <a:ln/>
        </p:spPr>
        <p:txBody>
          <a:bodyPr wrap="square" lIns="0" tIns="0" rIns="0" bIns="0" rtlCol="0" anchor="ctr">
            <a:normAutofit/>
          </a:bodyPr>
          <a:lstStyle/>
          <a:p>
            <a:pPr marL="0" indent="0">
              <a:buNone/>
            </a:pPr>
            <a:r>
              <a:rPr lang="en-US" sz="1800" b="1" dirty="0">
                <a:solidFill>
                  <a:srgbClr val="EBC980"/>
                </a:solidFill>
                <a:latin typeface="Segoe UI" pitchFamily="34" charset="0"/>
                <a:ea typeface="Aptos" pitchFamily="34" charset="-122"/>
                <a:cs typeface="Aptos" pitchFamily="34" charset="-120"/>
              </a:rPr>
              <a:t>Сканер</a:t>
            </a:r>
            <a:endParaRPr lang="en-US" sz="1800" dirty="0"/>
          </a:p>
        </p:txBody>
      </p:sp>
      <p:sp>
        <p:nvSpPr>
          <p:cNvPr id="19" name="Text 17"/>
          <p:cNvSpPr/>
          <p:nvPr/>
        </p:nvSpPr>
        <p:spPr>
          <a:xfrm>
            <a:off x="8385048" y="2167128"/>
            <a:ext cx="3063240" cy="923544"/>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демонстрация и 3D-сетка</a:t>
            </a:r>
            <a:endParaRPr lang="en-US" sz="1500" dirty="0"/>
          </a:p>
        </p:txBody>
      </p:sp>
      <p:sp>
        <p:nvSpPr>
          <p:cNvPr id="20" name="Shape 18"/>
          <p:cNvSpPr/>
          <p:nvPr/>
        </p:nvSpPr>
        <p:spPr>
          <a:xfrm>
            <a:off x="658368" y="3456432"/>
            <a:ext cx="3511296" cy="1709928"/>
          </a:xfrm>
          <a:prstGeom prst="roundRect">
            <a:avLst>
              <a:gd name="adj" fmla="val 7487"/>
            </a:avLst>
          </a:prstGeom>
          <a:solidFill>
            <a:srgbClr val="183047"/>
          </a:solidFill>
          <a:ln w="15240">
            <a:solidFill>
              <a:srgbClr val="355064"/>
            </a:solidFill>
            <a:prstDash val="solid"/>
          </a:ln>
        </p:spPr>
        <p:txBody>
          <a:bodyPr/>
          <a:lstStyle/>
          <a:p>
            <a:endParaRPr/>
          </a:p>
        </p:txBody>
      </p:sp>
      <p:sp>
        <p:nvSpPr>
          <p:cNvPr id="21" name="Shape 19"/>
          <p:cNvSpPr/>
          <p:nvPr/>
        </p:nvSpPr>
        <p:spPr>
          <a:xfrm>
            <a:off x="813816" y="3675888"/>
            <a:ext cx="59436" cy="347472"/>
          </a:xfrm>
          <a:prstGeom prst="rect">
            <a:avLst/>
          </a:prstGeom>
          <a:solidFill>
            <a:srgbClr val="42D3C4"/>
          </a:solidFill>
          <a:ln w="12700">
            <a:solidFill>
              <a:srgbClr val="42D3C4"/>
            </a:solidFill>
            <a:prstDash val="solid"/>
          </a:ln>
        </p:spPr>
        <p:txBody>
          <a:bodyPr/>
          <a:lstStyle/>
          <a:p>
            <a:endParaRPr/>
          </a:p>
        </p:txBody>
      </p:sp>
      <p:sp>
        <p:nvSpPr>
          <p:cNvPr id="22" name="Text 20"/>
          <p:cNvSpPr/>
          <p:nvPr/>
        </p:nvSpPr>
        <p:spPr>
          <a:xfrm>
            <a:off x="969264" y="3657600"/>
            <a:ext cx="3054096"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Вход</a:t>
            </a:r>
            <a:endParaRPr lang="en-US" sz="1800" dirty="0"/>
          </a:p>
        </p:txBody>
      </p:sp>
      <p:sp>
        <p:nvSpPr>
          <p:cNvPr id="23" name="Text 21"/>
          <p:cNvSpPr/>
          <p:nvPr/>
        </p:nvSpPr>
        <p:spPr>
          <a:xfrm>
            <a:off x="886968" y="4142232"/>
            <a:ext cx="3063240" cy="923544"/>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регистрация и сессия</a:t>
            </a:r>
            <a:endParaRPr lang="en-US" sz="1500" dirty="0"/>
          </a:p>
        </p:txBody>
      </p:sp>
      <p:sp>
        <p:nvSpPr>
          <p:cNvPr id="24" name="Shape 22"/>
          <p:cNvSpPr/>
          <p:nvPr/>
        </p:nvSpPr>
        <p:spPr>
          <a:xfrm>
            <a:off x="4407408" y="3456432"/>
            <a:ext cx="3511296" cy="1709928"/>
          </a:xfrm>
          <a:prstGeom prst="roundRect">
            <a:avLst>
              <a:gd name="adj" fmla="val 7487"/>
            </a:avLst>
          </a:prstGeom>
          <a:solidFill>
            <a:srgbClr val="183047"/>
          </a:solidFill>
          <a:ln w="15240">
            <a:solidFill>
              <a:srgbClr val="355064"/>
            </a:solidFill>
            <a:prstDash val="solid"/>
          </a:ln>
        </p:spPr>
        <p:txBody>
          <a:bodyPr/>
          <a:lstStyle/>
          <a:p>
            <a:endParaRPr/>
          </a:p>
        </p:txBody>
      </p:sp>
      <p:sp>
        <p:nvSpPr>
          <p:cNvPr id="25" name="Shape 23"/>
          <p:cNvSpPr/>
          <p:nvPr/>
        </p:nvSpPr>
        <p:spPr>
          <a:xfrm>
            <a:off x="4562856" y="3675888"/>
            <a:ext cx="59436" cy="347472"/>
          </a:xfrm>
          <a:prstGeom prst="rect">
            <a:avLst/>
          </a:prstGeom>
          <a:solidFill>
            <a:srgbClr val="42D3C4"/>
          </a:solidFill>
          <a:ln w="12700">
            <a:solidFill>
              <a:srgbClr val="42D3C4"/>
            </a:solidFill>
            <a:prstDash val="solid"/>
          </a:ln>
        </p:spPr>
        <p:txBody>
          <a:bodyPr/>
          <a:lstStyle/>
          <a:p>
            <a:endParaRPr/>
          </a:p>
        </p:txBody>
      </p:sp>
      <p:sp>
        <p:nvSpPr>
          <p:cNvPr id="26" name="Text 24"/>
          <p:cNvSpPr/>
          <p:nvPr/>
        </p:nvSpPr>
        <p:spPr>
          <a:xfrm>
            <a:off x="4718304" y="3657600"/>
            <a:ext cx="3054096"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Библиотека</a:t>
            </a:r>
            <a:endParaRPr lang="en-US" sz="1800" dirty="0"/>
          </a:p>
        </p:txBody>
      </p:sp>
      <p:sp>
        <p:nvSpPr>
          <p:cNvPr id="27" name="Text 25"/>
          <p:cNvSpPr/>
          <p:nvPr/>
        </p:nvSpPr>
        <p:spPr>
          <a:xfrm>
            <a:off x="4636008" y="4142232"/>
            <a:ext cx="3063240" cy="923544"/>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личные модели и операции</a:t>
            </a:r>
            <a:endParaRPr lang="en-US" sz="1500" dirty="0"/>
          </a:p>
        </p:txBody>
      </p:sp>
      <p:sp>
        <p:nvSpPr>
          <p:cNvPr id="28" name="Shape 26"/>
          <p:cNvSpPr/>
          <p:nvPr/>
        </p:nvSpPr>
        <p:spPr>
          <a:xfrm>
            <a:off x="8156448" y="3456432"/>
            <a:ext cx="3511296" cy="1709928"/>
          </a:xfrm>
          <a:prstGeom prst="roundRect">
            <a:avLst>
              <a:gd name="adj" fmla="val 7487"/>
            </a:avLst>
          </a:prstGeom>
          <a:solidFill>
            <a:srgbClr val="183047"/>
          </a:solidFill>
          <a:ln w="15240">
            <a:solidFill>
              <a:srgbClr val="355064"/>
            </a:solidFill>
            <a:prstDash val="solid"/>
          </a:ln>
        </p:spPr>
        <p:txBody>
          <a:bodyPr/>
          <a:lstStyle/>
          <a:p>
            <a:endParaRPr/>
          </a:p>
        </p:txBody>
      </p:sp>
      <p:sp>
        <p:nvSpPr>
          <p:cNvPr id="29" name="Shape 27"/>
          <p:cNvSpPr/>
          <p:nvPr/>
        </p:nvSpPr>
        <p:spPr>
          <a:xfrm>
            <a:off x="8311896" y="3675888"/>
            <a:ext cx="59436" cy="347472"/>
          </a:xfrm>
          <a:prstGeom prst="rect">
            <a:avLst/>
          </a:prstGeom>
          <a:solidFill>
            <a:srgbClr val="42D3C4"/>
          </a:solidFill>
          <a:ln w="12700">
            <a:solidFill>
              <a:srgbClr val="42D3C4"/>
            </a:solidFill>
            <a:prstDash val="solid"/>
          </a:ln>
        </p:spPr>
        <p:txBody>
          <a:bodyPr/>
          <a:lstStyle/>
          <a:p>
            <a:endParaRPr/>
          </a:p>
        </p:txBody>
      </p:sp>
      <p:sp>
        <p:nvSpPr>
          <p:cNvPr id="30" name="Text 28"/>
          <p:cNvSpPr/>
          <p:nvPr/>
        </p:nvSpPr>
        <p:spPr>
          <a:xfrm>
            <a:off x="8467344" y="3657600"/>
            <a:ext cx="3054096"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О проекте</a:t>
            </a:r>
            <a:endParaRPr lang="en-US" sz="1800" dirty="0"/>
          </a:p>
        </p:txBody>
      </p:sp>
      <p:sp>
        <p:nvSpPr>
          <p:cNvPr id="31" name="Text 29"/>
          <p:cNvSpPr/>
          <p:nvPr/>
        </p:nvSpPr>
        <p:spPr>
          <a:xfrm>
            <a:off x="8385048" y="4142232"/>
            <a:ext cx="3063240" cy="923544"/>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назначение и контекст</a:t>
            </a:r>
            <a:endParaRPr lang="en-US" sz="1500" dirty="0"/>
          </a:p>
        </p:txBody>
      </p:sp>
      <p:sp>
        <p:nvSpPr>
          <p:cNvPr id="39" name="Rounded Rectangle 38"/>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11</a:t>
            </a:r>
          </a:p>
        </p:txBody>
      </p:sp>
      <p:sp>
        <p:nvSpPr>
          <p:cNvPr id="40" name="Oval 26"/>
          <p:cNvSpPr/>
          <p:nvPr/>
        </p:nvSpPr>
        <p:spPr>
          <a:xfrm>
            <a:off x="-685800" y="5486400"/>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226"/>
        </a:solidFill>
        <a:effectLst/>
      </p:bgPr>
    </p:bg>
    <p:spTree>
      <p:nvGrpSpPr>
        <p:cNvPr id="1" name=""/>
        <p:cNvGrpSpPr/>
        <p:nvPr/>
      </p:nvGrpSpPr>
      <p:grpSpPr>
        <a:xfrm>
          <a:off x="0" y="0"/>
          <a:ext cx="0" cy="0"/>
          <a:chOff x="0" y="0"/>
          <a:chExt cx="0" cy="0"/>
        </a:xfrm>
      </p:grpSpPr>
      <p:sp>
        <p:nvSpPr>
          <p:cNvPr id="29" name="Rounded Rectangle 28"/>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424160" y="294696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2"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Три демонстрационных объекта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12</a:t>
            </a:r>
            <a:endParaRPr lang="en-US" sz="900" dirty="0"/>
          </a:p>
        </p:txBody>
      </p:sp>
      <p:sp>
        <p:nvSpPr>
          <p:cNvPr id="8" name="Shape 6"/>
          <p:cNvSpPr/>
          <p:nvPr/>
        </p:nvSpPr>
        <p:spPr>
          <a:xfrm>
            <a:off x="658368" y="1645920"/>
            <a:ext cx="3474720" cy="3520440"/>
          </a:xfrm>
          <a:prstGeom prst="roundRect">
            <a:avLst>
              <a:gd name="adj" fmla="val 3684"/>
            </a:avLst>
          </a:prstGeom>
          <a:solidFill>
            <a:srgbClr val="183047"/>
          </a:solidFill>
          <a:ln w="15240">
            <a:solidFill>
              <a:srgbClr val="355064"/>
            </a:solidFill>
            <a:prstDash val="solid"/>
          </a:ln>
        </p:spPr>
        <p:txBody>
          <a:bodyPr/>
          <a:lstStyle/>
          <a:p>
            <a:endParaRPr/>
          </a:p>
        </p:txBody>
      </p:sp>
      <p:sp>
        <p:nvSpPr>
          <p:cNvPr id="9" name="Text 7"/>
          <p:cNvSpPr/>
          <p:nvPr/>
        </p:nvSpPr>
        <p:spPr>
          <a:xfrm>
            <a:off x="868680" y="1892808"/>
            <a:ext cx="914400" cy="548640"/>
          </a:xfrm>
          <a:prstGeom prst="rect">
            <a:avLst/>
          </a:prstGeom>
          <a:noFill/>
          <a:ln/>
        </p:spPr>
        <p:txBody>
          <a:bodyPr wrap="square" lIns="0" tIns="0" rIns="0" bIns="0" rtlCol="0" anchor="ctr">
            <a:normAutofit fontScale="92500" lnSpcReduction="10000"/>
          </a:bodyPr>
          <a:lstStyle/>
          <a:p>
            <a:pPr marL="0" indent="0">
              <a:buNone/>
            </a:pPr>
            <a:r>
              <a:rPr lang="en-US" sz="4200" b="1" dirty="0">
                <a:solidFill>
                  <a:srgbClr val="42D3C4"/>
                </a:solidFill>
                <a:latin typeface="Segoe UI" pitchFamily="34" charset="0"/>
                <a:ea typeface="Aptos" pitchFamily="34" charset="-122"/>
                <a:cs typeface="Aptos" pitchFamily="34" charset="-120"/>
              </a:rPr>
              <a:t>01</a:t>
            </a:r>
            <a:endParaRPr lang="en-US" sz="4200" dirty="0"/>
          </a:p>
        </p:txBody>
      </p:sp>
      <p:sp>
        <p:nvSpPr>
          <p:cNvPr id="10" name="Text 8"/>
          <p:cNvSpPr/>
          <p:nvPr/>
        </p:nvSpPr>
        <p:spPr>
          <a:xfrm>
            <a:off x="877824" y="2761488"/>
            <a:ext cx="3044952" cy="457200"/>
          </a:xfrm>
          <a:prstGeom prst="rect">
            <a:avLst/>
          </a:prstGeom>
          <a:noFill/>
          <a:ln/>
        </p:spPr>
        <p:txBody>
          <a:bodyPr wrap="square" lIns="0" tIns="0" rIns="0" bIns="0" rtlCol="0" anchor="ctr">
            <a:normAutofit/>
          </a:bodyPr>
          <a:lstStyle/>
          <a:p>
            <a:pPr marL="0" indent="0">
              <a:buNone/>
            </a:pPr>
            <a:r>
              <a:rPr lang="en-US" sz="2200" b="1" dirty="0">
                <a:solidFill>
                  <a:srgbClr val="F2F9FC"/>
                </a:solidFill>
                <a:latin typeface="Segoe UI" pitchFamily="34" charset="0"/>
                <a:ea typeface="Aptos" pitchFamily="34" charset="-122"/>
                <a:cs typeface="Aptos" pitchFamily="34" charset="-120"/>
              </a:rPr>
              <a:t>КРИСТАЛЛ</a:t>
            </a:r>
            <a:endParaRPr lang="en-US" sz="2200" dirty="0"/>
          </a:p>
        </p:txBody>
      </p:sp>
      <p:sp>
        <p:nvSpPr>
          <p:cNvPr id="11" name="Text 9"/>
          <p:cNvSpPr/>
          <p:nvPr/>
        </p:nvSpPr>
        <p:spPr>
          <a:xfrm>
            <a:off x="877824" y="3913632"/>
            <a:ext cx="3026664" cy="393192"/>
          </a:xfrm>
          <a:prstGeom prst="rect">
            <a:avLst/>
          </a:prstGeom>
          <a:noFill/>
          <a:ln/>
        </p:spPr>
        <p:txBody>
          <a:bodyPr wrap="square" lIns="0" tIns="0" rIns="0" bIns="0" rtlCol="0" anchor="ctr">
            <a:normAutofit/>
          </a:bodyPr>
          <a:lstStyle/>
          <a:p>
            <a:pPr marL="0" indent="0">
              <a:buNone/>
            </a:pPr>
            <a:r>
              <a:rPr lang="en-US" sz="1700" dirty="0">
                <a:solidFill>
                  <a:srgbClr val="ADC3D1"/>
                </a:solidFill>
                <a:latin typeface="Segoe UI" pitchFamily="34" charset="0"/>
                <a:ea typeface="Aptos" pitchFamily="34" charset="-122"/>
                <a:cs typeface="Aptos" pitchFamily="34" charset="-120"/>
              </a:rPr>
              <a:t>IcosahedronGeometry</a:t>
            </a:r>
            <a:endParaRPr lang="en-US" sz="1700" dirty="0"/>
          </a:p>
        </p:txBody>
      </p:sp>
      <p:sp>
        <p:nvSpPr>
          <p:cNvPr id="12" name="Shape 10"/>
          <p:cNvSpPr/>
          <p:nvPr/>
        </p:nvSpPr>
        <p:spPr>
          <a:xfrm>
            <a:off x="4407408" y="1645920"/>
            <a:ext cx="3474720" cy="3520440"/>
          </a:xfrm>
          <a:prstGeom prst="roundRect">
            <a:avLst>
              <a:gd name="adj" fmla="val 3684"/>
            </a:avLst>
          </a:prstGeom>
          <a:solidFill>
            <a:srgbClr val="183047"/>
          </a:solidFill>
          <a:ln w="15240">
            <a:solidFill>
              <a:srgbClr val="355064"/>
            </a:solidFill>
            <a:prstDash val="solid"/>
          </a:ln>
        </p:spPr>
        <p:txBody>
          <a:bodyPr/>
          <a:lstStyle/>
          <a:p>
            <a:endParaRPr/>
          </a:p>
        </p:txBody>
      </p:sp>
      <p:sp>
        <p:nvSpPr>
          <p:cNvPr id="13" name="Text 11"/>
          <p:cNvSpPr/>
          <p:nvPr/>
        </p:nvSpPr>
        <p:spPr>
          <a:xfrm>
            <a:off x="4617720" y="1892808"/>
            <a:ext cx="914400" cy="548640"/>
          </a:xfrm>
          <a:prstGeom prst="rect">
            <a:avLst/>
          </a:prstGeom>
          <a:noFill/>
          <a:ln/>
        </p:spPr>
        <p:txBody>
          <a:bodyPr wrap="square" lIns="0" tIns="0" rIns="0" bIns="0" rtlCol="0" anchor="ctr">
            <a:normAutofit fontScale="92500" lnSpcReduction="10000"/>
          </a:bodyPr>
          <a:lstStyle/>
          <a:p>
            <a:pPr marL="0" indent="0">
              <a:buNone/>
            </a:pPr>
            <a:r>
              <a:rPr lang="en-US" sz="4200" b="1" dirty="0">
                <a:solidFill>
                  <a:srgbClr val="42D3C4"/>
                </a:solidFill>
                <a:latin typeface="Segoe UI" pitchFamily="34" charset="0"/>
                <a:ea typeface="Aptos" pitchFamily="34" charset="-122"/>
                <a:cs typeface="Aptos" pitchFamily="34" charset="-120"/>
              </a:rPr>
              <a:t>02</a:t>
            </a:r>
            <a:endParaRPr lang="en-US" sz="4200" dirty="0"/>
          </a:p>
        </p:txBody>
      </p:sp>
      <p:sp>
        <p:nvSpPr>
          <p:cNvPr id="14" name="Text 12"/>
          <p:cNvSpPr/>
          <p:nvPr/>
        </p:nvSpPr>
        <p:spPr>
          <a:xfrm>
            <a:off x="4626864" y="2761488"/>
            <a:ext cx="3044952" cy="457200"/>
          </a:xfrm>
          <a:prstGeom prst="rect">
            <a:avLst/>
          </a:prstGeom>
          <a:noFill/>
          <a:ln/>
        </p:spPr>
        <p:txBody>
          <a:bodyPr wrap="square" lIns="0" tIns="0" rIns="0" bIns="0" rtlCol="0" anchor="ctr">
            <a:normAutofit/>
          </a:bodyPr>
          <a:lstStyle/>
          <a:p>
            <a:pPr marL="0" indent="0">
              <a:buNone/>
            </a:pPr>
            <a:r>
              <a:rPr lang="en-US" sz="2200" b="1" dirty="0">
                <a:solidFill>
                  <a:srgbClr val="F2F9FC"/>
                </a:solidFill>
                <a:latin typeface="Segoe UI" pitchFamily="34" charset="0"/>
                <a:ea typeface="Aptos" pitchFamily="34" charset="-122"/>
                <a:cs typeface="Aptos" pitchFamily="34" charset="-120"/>
              </a:rPr>
              <a:t>СФЕРА</a:t>
            </a:r>
            <a:endParaRPr lang="en-US" sz="2200" dirty="0"/>
          </a:p>
        </p:txBody>
      </p:sp>
      <p:sp>
        <p:nvSpPr>
          <p:cNvPr id="15" name="Text 13"/>
          <p:cNvSpPr/>
          <p:nvPr/>
        </p:nvSpPr>
        <p:spPr>
          <a:xfrm>
            <a:off x="4626864" y="3913632"/>
            <a:ext cx="3026664" cy="393192"/>
          </a:xfrm>
          <a:prstGeom prst="rect">
            <a:avLst/>
          </a:prstGeom>
          <a:noFill/>
          <a:ln/>
        </p:spPr>
        <p:txBody>
          <a:bodyPr wrap="square" lIns="0" tIns="0" rIns="0" bIns="0" rtlCol="0" anchor="ctr">
            <a:normAutofit/>
          </a:bodyPr>
          <a:lstStyle/>
          <a:p>
            <a:pPr marL="0" indent="0">
              <a:buNone/>
            </a:pPr>
            <a:r>
              <a:rPr lang="en-US" sz="1700" dirty="0">
                <a:solidFill>
                  <a:srgbClr val="ADC3D1"/>
                </a:solidFill>
                <a:latin typeface="Segoe UI" pitchFamily="34" charset="0"/>
                <a:ea typeface="Aptos" pitchFamily="34" charset="-122"/>
                <a:cs typeface="Aptos" pitchFamily="34" charset="-120"/>
              </a:rPr>
              <a:t>SphereGeometry</a:t>
            </a:r>
            <a:endParaRPr lang="en-US" sz="1700" dirty="0"/>
          </a:p>
        </p:txBody>
      </p:sp>
      <p:sp>
        <p:nvSpPr>
          <p:cNvPr id="16" name="Shape 14"/>
          <p:cNvSpPr/>
          <p:nvPr/>
        </p:nvSpPr>
        <p:spPr>
          <a:xfrm>
            <a:off x="8156448" y="1645920"/>
            <a:ext cx="3474720" cy="3520440"/>
          </a:xfrm>
          <a:prstGeom prst="roundRect">
            <a:avLst>
              <a:gd name="adj" fmla="val 3684"/>
            </a:avLst>
          </a:prstGeom>
          <a:solidFill>
            <a:srgbClr val="183047"/>
          </a:solidFill>
          <a:ln w="15240">
            <a:solidFill>
              <a:srgbClr val="355064"/>
            </a:solidFill>
            <a:prstDash val="solid"/>
          </a:ln>
        </p:spPr>
        <p:txBody>
          <a:bodyPr/>
          <a:lstStyle/>
          <a:p>
            <a:endParaRPr/>
          </a:p>
        </p:txBody>
      </p:sp>
      <p:sp>
        <p:nvSpPr>
          <p:cNvPr id="17" name="Text 15"/>
          <p:cNvSpPr/>
          <p:nvPr/>
        </p:nvSpPr>
        <p:spPr>
          <a:xfrm>
            <a:off x="8366760" y="1892808"/>
            <a:ext cx="914400" cy="548640"/>
          </a:xfrm>
          <a:prstGeom prst="rect">
            <a:avLst/>
          </a:prstGeom>
          <a:noFill/>
          <a:ln/>
        </p:spPr>
        <p:txBody>
          <a:bodyPr wrap="square" lIns="0" tIns="0" rIns="0" bIns="0" rtlCol="0" anchor="ctr">
            <a:normAutofit fontScale="92500" lnSpcReduction="10000"/>
          </a:bodyPr>
          <a:lstStyle/>
          <a:p>
            <a:pPr marL="0" indent="0">
              <a:buNone/>
            </a:pPr>
            <a:r>
              <a:rPr lang="en-US" sz="4200" b="1" dirty="0">
                <a:solidFill>
                  <a:srgbClr val="42D3C4"/>
                </a:solidFill>
                <a:latin typeface="Segoe UI" pitchFamily="34" charset="0"/>
                <a:ea typeface="Aptos" pitchFamily="34" charset="-122"/>
                <a:cs typeface="Aptos" pitchFamily="34" charset="-120"/>
              </a:rPr>
              <a:t>03</a:t>
            </a:r>
            <a:endParaRPr lang="en-US" sz="4200" dirty="0"/>
          </a:p>
        </p:txBody>
      </p:sp>
      <p:sp>
        <p:nvSpPr>
          <p:cNvPr id="18" name="Text 16"/>
          <p:cNvSpPr/>
          <p:nvPr/>
        </p:nvSpPr>
        <p:spPr>
          <a:xfrm>
            <a:off x="8375904" y="2761488"/>
            <a:ext cx="3044952" cy="457200"/>
          </a:xfrm>
          <a:prstGeom prst="rect">
            <a:avLst/>
          </a:prstGeom>
          <a:noFill/>
          <a:ln/>
        </p:spPr>
        <p:txBody>
          <a:bodyPr wrap="square" lIns="0" tIns="0" rIns="0" bIns="0" rtlCol="0" anchor="ctr">
            <a:normAutofit/>
          </a:bodyPr>
          <a:lstStyle/>
          <a:p>
            <a:pPr marL="0" indent="0">
              <a:buNone/>
            </a:pPr>
            <a:r>
              <a:rPr lang="en-US" sz="2200" b="1" dirty="0">
                <a:solidFill>
                  <a:srgbClr val="F2F9FC"/>
                </a:solidFill>
                <a:latin typeface="Segoe UI" pitchFamily="34" charset="0"/>
                <a:ea typeface="Aptos" pitchFamily="34" charset="-122"/>
                <a:cs typeface="Aptos" pitchFamily="34" charset="-120"/>
              </a:rPr>
              <a:t>КОЛЬЦО</a:t>
            </a:r>
            <a:endParaRPr lang="en-US" sz="2200" dirty="0"/>
          </a:p>
        </p:txBody>
      </p:sp>
      <p:sp>
        <p:nvSpPr>
          <p:cNvPr id="19" name="Text 17"/>
          <p:cNvSpPr/>
          <p:nvPr/>
        </p:nvSpPr>
        <p:spPr>
          <a:xfrm>
            <a:off x="8375904" y="3913632"/>
            <a:ext cx="3026664" cy="393192"/>
          </a:xfrm>
          <a:prstGeom prst="rect">
            <a:avLst/>
          </a:prstGeom>
          <a:noFill/>
          <a:ln/>
        </p:spPr>
        <p:txBody>
          <a:bodyPr wrap="square" lIns="0" tIns="0" rIns="0" bIns="0" rtlCol="0" anchor="ctr">
            <a:normAutofit/>
          </a:bodyPr>
          <a:lstStyle/>
          <a:p>
            <a:pPr marL="0" indent="0">
              <a:buNone/>
            </a:pPr>
            <a:r>
              <a:rPr lang="en-US" sz="1700" dirty="0">
                <a:solidFill>
                  <a:srgbClr val="ADC3D1"/>
                </a:solidFill>
                <a:latin typeface="Segoe UI" pitchFamily="34" charset="0"/>
                <a:ea typeface="Aptos" pitchFamily="34" charset="-122"/>
                <a:cs typeface="Aptos" pitchFamily="34" charset="-120"/>
              </a:rPr>
              <a:t>TorusGeometry</a:t>
            </a:r>
            <a:endParaRPr lang="en-US" sz="1700" dirty="0"/>
          </a:p>
        </p:txBody>
      </p:sp>
      <p:sp>
        <p:nvSpPr>
          <p:cNvPr id="20" name="Shape 18"/>
          <p:cNvSpPr/>
          <p:nvPr/>
        </p:nvSpPr>
        <p:spPr>
          <a:xfrm>
            <a:off x="649224" y="5440680"/>
            <a:ext cx="3767328"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1" name="Text 19"/>
          <p:cNvSpPr/>
          <p:nvPr/>
        </p:nvSpPr>
        <p:spPr>
          <a:xfrm>
            <a:off x="777240" y="5504688"/>
            <a:ext cx="3511296" cy="201168"/>
          </a:xfrm>
          <a:prstGeom prst="rect">
            <a:avLst/>
          </a:prstGeom>
          <a:noFill/>
          <a:ln/>
        </p:spPr>
        <p:txBody>
          <a:bodyPr wrap="square" lIns="0" tIns="0" rIns="0" bIns="0" rtlCol="0" anchor="ctr">
            <a:normAutofit/>
          </a:bodyPr>
          <a:lstStyle/>
          <a:p>
            <a:pPr marL="0" indent="0" algn="ctr">
              <a:buNone/>
            </a:pPr>
            <a:r>
              <a:rPr lang="en-US" sz="1100" b="1" dirty="0">
                <a:solidFill>
                  <a:srgbClr val="ADC3D1"/>
                </a:solidFill>
                <a:latin typeface="Segoe UI" pitchFamily="34" charset="0"/>
                <a:ea typeface="Aptos" pitchFamily="34" charset="-122"/>
                <a:cs typeface="Aptos" pitchFamily="34" charset="-120"/>
              </a:rPr>
              <a:t>ГЕОМЕТРИЯ СОЗДАЁТСЯ АЛГОРИТМИЧЕСКИ</a:t>
            </a:r>
            <a:endParaRPr lang="en-US" sz="1100" dirty="0"/>
          </a:p>
        </p:txBody>
      </p:sp>
      <p:sp>
        <p:nvSpPr>
          <p:cNvPr id="22" name="Shape 20"/>
          <p:cNvSpPr/>
          <p:nvPr/>
        </p:nvSpPr>
        <p:spPr>
          <a:xfrm>
            <a:off x="4581144" y="5440680"/>
            <a:ext cx="2423160"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23" name="Text 21"/>
          <p:cNvSpPr/>
          <p:nvPr/>
        </p:nvSpPr>
        <p:spPr>
          <a:xfrm>
            <a:off x="4709160" y="5504688"/>
            <a:ext cx="2167128"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ЭТО НЕ РЕАЛЬНЫЙ СКАН</a:t>
            </a:r>
            <a:endParaRPr lang="en-US" sz="1100" dirty="0"/>
          </a:p>
        </p:txBody>
      </p:sp>
      <p:sp>
        <p:nvSpPr>
          <p:cNvPr id="31" name="Rounded Rectangle 30"/>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12</a:t>
            </a:r>
          </a:p>
        </p:txBody>
      </p:sp>
      <p:sp>
        <p:nvSpPr>
          <p:cNvPr id="33" name="TextBox 32"/>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226"/>
        </a:solidFill>
        <a:effectLst/>
      </p:bgPr>
    </p:bg>
    <p:spTree>
      <p:nvGrpSpPr>
        <p:cNvPr id="1" name=""/>
        <p:cNvGrpSpPr/>
        <p:nvPr/>
      </p:nvGrpSpPr>
      <p:grpSpPr>
        <a:xfrm>
          <a:off x="0" y="0"/>
          <a:ext cx="0" cy="0"/>
          <a:chOff x="0" y="0"/>
          <a:chExt cx="0" cy="0"/>
        </a:xfrm>
      </p:grpSpPr>
      <p:sp>
        <p:nvSpPr>
          <p:cNvPr id="21" name="Rounded Rectangle 20"/>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519672" y="4233672"/>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SimulationAdapter: управляемый учебный сеанс</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13</a:t>
            </a:r>
            <a:endParaRPr lang="en-US" sz="900" dirty="0"/>
          </a:p>
        </p:txBody>
      </p:sp>
      <p:sp>
        <p:nvSpPr>
          <p:cNvPr id="8" name="Shape 6"/>
          <p:cNvSpPr/>
          <p:nvPr/>
        </p:nvSpPr>
        <p:spPr>
          <a:xfrm>
            <a:off x="713232" y="1527048"/>
            <a:ext cx="6812280" cy="4133088"/>
          </a:xfrm>
          <a:prstGeom prst="roundRect">
            <a:avLst>
              <a:gd name="adj" fmla="val 3097"/>
            </a:avLst>
          </a:prstGeom>
          <a:solidFill>
            <a:srgbClr val="183047"/>
          </a:solidFill>
          <a:ln w="15240">
            <a:solidFill>
              <a:srgbClr val="355064"/>
            </a:solidFill>
            <a:prstDash val="solid"/>
          </a:ln>
        </p:spPr>
        <p:txBody>
          <a:bodyPr/>
          <a:lstStyle/>
          <a:p>
            <a:endParaRPr/>
          </a:p>
        </p:txBody>
      </p:sp>
      <p:sp>
        <p:nvSpPr>
          <p:cNvPr id="9" name="Shape 7"/>
          <p:cNvSpPr/>
          <p:nvPr/>
        </p:nvSpPr>
        <p:spPr>
          <a:xfrm>
            <a:off x="868680" y="1746504"/>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1024128" y="1728216"/>
            <a:ext cx="6355080"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ЦИКЛ ЗАДАНИЯ</a:t>
            </a:r>
            <a:endParaRPr lang="en-US" sz="1800" dirty="0"/>
          </a:p>
        </p:txBody>
      </p:sp>
      <p:sp>
        <p:nvSpPr>
          <p:cNvPr id="11" name="Text 9"/>
          <p:cNvSpPr/>
          <p:nvPr/>
        </p:nvSpPr>
        <p:spPr>
          <a:xfrm>
            <a:off x="941832" y="2212848"/>
            <a:ext cx="6364224" cy="3346704"/>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getStatus()  →  simulation / deviceConnected: false</a:t>
            </a:r>
            <a:endParaRPr lang="en-US" sz="1800" dirty="0"/>
          </a:p>
          <a:p>
            <a:pPr marL="0" indent="0">
              <a:buNone/>
            </a:pP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run(signal, onProgress)</a:t>
            </a:r>
            <a:endParaRPr lang="en-US" sz="1800" dirty="0"/>
          </a:p>
          <a:p>
            <a:pPr marL="0" indent="0">
              <a:buNone/>
            </a:pP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30 тактов → подготовка → имитация захвата → сетка</a:t>
            </a:r>
            <a:endParaRPr lang="en-US" sz="1800" dirty="0"/>
          </a:p>
        </p:txBody>
      </p:sp>
      <p:sp>
        <p:nvSpPr>
          <p:cNvPr id="12" name="Shape 10"/>
          <p:cNvSpPr/>
          <p:nvPr/>
        </p:nvSpPr>
        <p:spPr>
          <a:xfrm>
            <a:off x="7763256" y="1527048"/>
            <a:ext cx="3685032" cy="4133088"/>
          </a:xfrm>
          <a:prstGeom prst="roundRect">
            <a:avLst>
              <a:gd name="adj" fmla="val 3474"/>
            </a:avLst>
          </a:prstGeom>
          <a:solidFill>
            <a:srgbClr val="183047"/>
          </a:solidFill>
          <a:ln w="15240">
            <a:solidFill>
              <a:srgbClr val="355064"/>
            </a:solidFill>
            <a:prstDash val="solid"/>
          </a:ln>
        </p:spPr>
        <p:txBody>
          <a:bodyPr/>
          <a:lstStyle/>
          <a:p>
            <a:endParaRPr/>
          </a:p>
        </p:txBody>
      </p:sp>
      <p:sp>
        <p:nvSpPr>
          <p:cNvPr id="13" name="Shape 11"/>
          <p:cNvSpPr/>
          <p:nvPr/>
        </p:nvSpPr>
        <p:spPr>
          <a:xfrm>
            <a:off x="7918704" y="1746504"/>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8074152" y="1728216"/>
            <a:ext cx="32278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КОНТРОЛЬ</a:t>
            </a:r>
            <a:endParaRPr lang="en-US" sz="1800" dirty="0"/>
          </a:p>
        </p:txBody>
      </p:sp>
      <p:sp>
        <p:nvSpPr>
          <p:cNvPr id="15" name="Text 13"/>
          <p:cNvSpPr/>
          <p:nvPr/>
        </p:nvSpPr>
        <p:spPr>
          <a:xfrm>
            <a:off x="7991856" y="2212848"/>
            <a:ext cx="3236976" cy="3346704"/>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AbortController</a:t>
            </a:r>
            <a:endParaRPr lang="en-US" sz="1800" dirty="0"/>
          </a:p>
          <a:p>
            <a:pPr marL="0" indent="0">
              <a:buNone/>
            </a:pP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Прогресс 0–100%</a:t>
            </a:r>
            <a:endParaRPr lang="en-US" sz="1800" dirty="0"/>
          </a:p>
          <a:p>
            <a:pPr marL="0" indent="0">
              <a:buNone/>
            </a:pP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Отмена и повтор</a:t>
            </a:r>
            <a:endParaRPr lang="en-US" sz="1800" dirty="0"/>
          </a:p>
        </p:txBody>
      </p:sp>
      <p:sp>
        <p:nvSpPr>
          <p:cNvPr id="23" name="Rounded Rectangle 2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13</a:t>
            </a:r>
          </a:p>
        </p:txBody>
      </p:sp>
      <p:sp>
        <p:nvSpPr>
          <p:cNvPr id="24" name="Oval 26"/>
          <p:cNvSpPr/>
          <p:nvPr/>
        </p:nvSpPr>
        <p:spPr>
          <a:xfrm>
            <a:off x="-658368" y="4965192"/>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226"/>
        </a:solidFill>
        <a:effectLst/>
      </p:bgPr>
    </p:bg>
    <p:spTree>
      <p:nvGrpSpPr>
        <p:cNvPr id="1" name=""/>
        <p:cNvGrpSpPr/>
        <p:nvPr/>
      </p:nvGrpSpPr>
      <p:grpSpPr>
        <a:xfrm>
          <a:off x="0" y="0"/>
          <a:ext cx="0" cy="0"/>
          <a:chOff x="0" y="0"/>
          <a:chExt cx="0" cy="0"/>
        </a:xfrm>
      </p:grpSpPr>
      <p:sp>
        <p:nvSpPr>
          <p:cNvPr id="37" name="Rounded Rectangle 36"/>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812280" y="2670048"/>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Просмотр модели: управление сценой</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14</a:t>
            </a:r>
            <a:endParaRPr lang="en-US" sz="900" dirty="0"/>
          </a:p>
        </p:txBody>
      </p:sp>
      <p:sp>
        <p:nvSpPr>
          <p:cNvPr id="8" name="Shape 6"/>
          <p:cNvSpPr/>
          <p:nvPr/>
        </p:nvSpPr>
        <p:spPr>
          <a:xfrm>
            <a:off x="685800" y="1417320"/>
            <a:ext cx="3547872" cy="1719072"/>
          </a:xfrm>
          <a:prstGeom prst="roundRect">
            <a:avLst>
              <a:gd name="adj" fmla="val 7447"/>
            </a:avLst>
          </a:prstGeom>
          <a:solidFill>
            <a:srgbClr val="183047"/>
          </a:solidFill>
          <a:ln w="15240">
            <a:solidFill>
              <a:srgbClr val="355064"/>
            </a:solidFill>
            <a:prstDash val="solid"/>
          </a:ln>
        </p:spPr>
        <p:txBody>
          <a:bodyPr/>
          <a:lstStyle/>
          <a:p>
            <a:endParaRPr/>
          </a:p>
        </p:txBody>
      </p:sp>
      <p:sp>
        <p:nvSpPr>
          <p:cNvPr id="9" name="Shape 7"/>
          <p:cNvSpPr/>
          <p:nvPr/>
        </p:nvSpPr>
        <p:spPr>
          <a:xfrm>
            <a:off x="841248" y="1636776"/>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96696" y="1618488"/>
            <a:ext cx="3090672"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Камера</a:t>
            </a:r>
            <a:endParaRPr lang="en-US" sz="1800" dirty="0"/>
          </a:p>
        </p:txBody>
      </p:sp>
      <p:sp>
        <p:nvSpPr>
          <p:cNvPr id="11" name="Text 9"/>
          <p:cNvSpPr/>
          <p:nvPr/>
        </p:nvSpPr>
        <p:spPr>
          <a:xfrm>
            <a:off x="914400" y="2103120"/>
            <a:ext cx="3099816" cy="93268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PerspectiveCamera</a:t>
            </a:r>
            <a:endParaRPr lang="en-US" sz="1700" dirty="0"/>
          </a:p>
        </p:txBody>
      </p:sp>
      <p:sp>
        <p:nvSpPr>
          <p:cNvPr id="12" name="Shape 10"/>
          <p:cNvSpPr/>
          <p:nvPr/>
        </p:nvSpPr>
        <p:spPr>
          <a:xfrm>
            <a:off x="4489704" y="1417320"/>
            <a:ext cx="3547872" cy="1719072"/>
          </a:xfrm>
          <a:prstGeom prst="roundRect">
            <a:avLst>
              <a:gd name="adj" fmla="val 7447"/>
            </a:avLst>
          </a:prstGeom>
          <a:solidFill>
            <a:srgbClr val="183047"/>
          </a:solidFill>
          <a:ln w="15240">
            <a:solidFill>
              <a:srgbClr val="355064"/>
            </a:solidFill>
            <a:prstDash val="solid"/>
          </a:ln>
        </p:spPr>
        <p:txBody>
          <a:bodyPr/>
          <a:lstStyle/>
          <a:p>
            <a:endParaRPr/>
          </a:p>
        </p:txBody>
      </p:sp>
      <p:sp>
        <p:nvSpPr>
          <p:cNvPr id="13" name="Shape 11"/>
          <p:cNvSpPr/>
          <p:nvPr/>
        </p:nvSpPr>
        <p:spPr>
          <a:xfrm>
            <a:off x="4645152" y="1636776"/>
            <a:ext cx="59436" cy="347472"/>
          </a:xfrm>
          <a:prstGeom prst="rect">
            <a:avLst/>
          </a:prstGeom>
          <a:solidFill>
            <a:srgbClr val="42D3C4"/>
          </a:solidFill>
          <a:ln w="12700">
            <a:solidFill>
              <a:srgbClr val="42D3C4"/>
            </a:solidFill>
            <a:prstDash val="solid"/>
          </a:ln>
        </p:spPr>
        <p:txBody>
          <a:bodyPr/>
          <a:lstStyle/>
          <a:p>
            <a:endParaRPr/>
          </a:p>
        </p:txBody>
      </p:sp>
      <p:sp>
        <p:nvSpPr>
          <p:cNvPr id="14" name="Text 12"/>
          <p:cNvSpPr/>
          <p:nvPr/>
        </p:nvSpPr>
        <p:spPr>
          <a:xfrm>
            <a:off x="4800600" y="1618488"/>
            <a:ext cx="3090672"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Вращение</a:t>
            </a:r>
            <a:endParaRPr lang="en-US" sz="1800" dirty="0"/>
          </a:p>
        </p:txBody>
      </p:sp>
      <p:sp>
        <p:nvSpPr>
          <p:cNvPr id="15" name="Text 13"/>
          <p:cNvSpPr/>
          <p:nvPr/>
        </p:nvSpPr>
        <p:spPr>
          <a:xfrm>
            <a:off x="4718304" y="2103120"/>
            <a:ext cx="3099816" cy="93268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OrbitControls</a:t>
            </a:r>
            <a:endParaRPr lang="en-US" sz="1700" dirty="0"/>
          </a:p>
        </p:txBody>
      </p:sp>
      <p:sp>
        <p:nvSpPr>
          <p:cNvPr id="16" name="Shape 14"/>
          <p:cNvSpPr/>
          <p:nvPr/>
        </p:nvSpPr>
        <p:spPr>
          <a:xfrm>
            <a:off x="8293608" y="1417320"/>
            <a:ext cx="3547872" cy="1719072"/>
          </a:xfrm>
          <a:prstGeom prst="roundRect">
            <a:avLst>
              <a:gd name="adj" fmla="val 7447"/>
            </a:avLst>
          </a:prstGeom>
          <a:solidFill>
            <a:srgbClr val="183047"/>
          </a:solidFill>
          <a:ln w="15240">
            <a:solidFill>
              <a:srgbClr val="355064"/>
            </a:solidFill>
            <a:prstDash val="solid"/>
          </a:ln>
        </p:spPr>
        <p:txBody>
          <a:bodyPr/>
          <a:lstStyle/>
          <a:p>
            <a:endParaRPr/>
          </a:p>
        </p:txBody>
      </p:sp>
      <p:sp>
        <p:nvSpPr>
          <p:cNvPr id="17" name="Shape 15"/>
          <p:cNvSpPr/>
          <p:nvPr/>
        </p:nvSpPr>
        <p:spPr>
          <a:xfrm>
            <a:off x="8449056" y="1636776"/>
            <a:ext cx="59436" cy="347472"/>
          </a:xfrm>
          <a:prstGeom prst="rect">
            <a:avLst/>
          </a:prstGeom>
          <a:solidFill>
            <a:srgbClr val="42D3C4"/>
          </a:solidFill>
          <a:ln w="12700">
            <a:solidFill>
              <a:srgbClr val="42D3C4"/>
            </a:solidFill>
            <a:prstDash val="solid"/>
          </a:ln>
        </p:spPr>
        <p:txBody>
          <a:bodyPr/>
          <a:lstStyle/>
          <a:p>
            <a:endParaRPr/>
          </a:p>
        </p:txBody>
      </p:sp>
      <p:sp>
        <p:nvSpPr>
          <p:cNvPr id="18" name="Text 16"/>
          <p:cNvSpPr/>
          <p:nvPr/>
        </p:nvSpPr>
        <p:spPr>
          <a:xfrm>
            <a:off x="8604504" y="1618488"/>
            <a:ext cx="3090672"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Каркас</a:t>
            </a:r>
            <a:endParaRPr lang="en-US" sz="1800" dirty="0"/>
          </a:p>
        </p:txBody>
      </p:sp>
      <p:sp>
        <p:nvSpPr>
          <p:cNvPr id="19" name="Text 17"/>
          <p:cNvSpPr/>
          <p:nvPr/>
        </p:nvSpPr>
        <p:spPr>
          <a:xfrm>
            <a:off x="8522208" y="2103120"/>
            <a:ext cx="3099816" cy="93268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wireframe</a:t>
            </a:r>
            <a:endParaRPr lang="en-US" sz="1700" dirty="0"/>
          </a:p>
        </p:txBody>
      </p:sp>
      <p:sp>
        <p:nvSpPr>
          <p:cNvPr id="20" name="Shape 18"/>
          <p:cNvSpPr/>
          <p:nvPr/>
        </p:nvSpPr>
        <p:spPr>
          <a:xfrm>
            <a:off x="685800" y="3429000"/>
            <a:ext cx="3547872" cy="1719072"/>
          </a:xfrm>
          <a:prstGeom prst="roundRect">
            <a:avLst>
              <a:gd name="adj" fmla="val 7447"/>
            </a:avLst>
          </a:prstGeom>
          <a:solidFill>
            <a:srgbClr val="183047"/>
          </a:solidFill>
          <a:ln w="15240">
            <a:solidFill>
              <a:srgbClr val="355064"/>
            </a:solidFill>
            <a:prstDash val="solid"/>
          </a:ln>
        </p:spPr>
        <p:txBody>
          <a:bodyPr/>
          <a:lstStyle/>
          <a:p>
            <a:endParaRPr/>
          </a:p>
        </p:txBody>
      </p:sp>
      <p:sp>
        <p:nvSpPr>
          <p:cNvPr id="21" name="Shape 19"/>
          <p:cNvSpPr/>
          <p:nvPr/>
        </p:nvSpPr>
        <p:spPr>
          <a:xfrm>
            <a:off x="841248" y="3648456"/>
            <a:ext cx="59436" cy="347472"/>
          </a:xfrm>
          <a:prstGeom prst="rect">
            <a:avLst/>
          </a:prstGeom>
          <a:solidFill>
            <a:srgbClr val="42D3C4"/>
          </a:solidFill>
          <a:ln w="12700">
            <a:solidFill>
              <a:srgbClr val="42D3C4"/>
            </a:solidFill>
            <a:prstDash val="solid"/>
          </a:ln>
        </p:spPr>
        <p:txBody>
          <a:bodyPr/>
          <a:lstStyle/>
          <a:p>
            <a:endParaRPr/>
          </a:p>
        </p:txBody>
      </p:sp>
      <p:sp>
        <p:nvSpPr>
          <p:cNvPr id="22" name="Text 20"/>
          <p:cNvSpPr/>
          <p:nvPr/>
        </p:nvSpPr>
        <p:spPr>
          <a:xfrm>
            <a:off x="996696" y="3630168"/>
            <a:ext cx="3090672"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Сброс вида</a:t>
            </a:r>
            <a:endParaRPr lang="en-US" sz="1800" dirty="0"/>
          </a:p>
        </p:txBody>
      </p:sp>
      <p:sp>
        <p:nvSpPr>
          <p:cNvPr id="23" name="Text 21"/>
          <p:cNvSpPr/>
          <p:nvPr/>
        </p:nvSpPr>
        <p:spPr>
          <a:xfrm>
            <a:off x="914400" y="4114800"/>
            <a:ext cx="3099816" cy="93268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fit()</a:t>
            </a:r>
            <a:endParaRPr lang="en-US" sz="1700" dirty="0"/>
          </a:p>
        </p:txBody>
      </p:sp>
      <p:sp>
        <p:nvSpPr>
          <p:cNvPr id="24" name="Shape 22"/>
          <p:cNvSpPr/>
          <p:nvPr/>
        </p:nvSpPr>
        <p:spPr>
          <a:xfrm>
            <a:off x="4489704" y="3429000"/>
            <a:ext cx="3547872" cy="1719072"/>
          </a:xfrm>
          <a:prstGeom prst="roundRect">
            <a:avLst>
              <a:gd name="adj" fmla="val 7447"/>
            </a:avLst>
          </a:prstGeom>
          <a:solidFill>
            <a:srgbClr val="183047"/>
          </a:solidFill>
          <a:ln w="15240">
            <a:solidFill>
              <a:srgbClr val="355064"/>
            </a:solidFill>
            <a:prstDash val="solid"/>
          </a:ln>
        </p:spPr>
        <p:txBody>
          <a:bodyPr/>
          <a:lstStyle/>
          <a:p>
            <a:endParaRPr/>
          </a:p>
        </p:txBody>
      </p:sp>
      <p:sp>
        <p:nvSpPr>
          <p:cNvPr id="25" name="Shape 23"/>
          <p:cNvSpPr/>
          <p:nvPr/>
        </p:nvSpPr>
        <p:spPr>
          <a:xfrm>
            <a:off x="4645152" y="3648456"/>
            <a:ext cx="59436" cy="347472"/>
          </a:xfrm>
          <a:prstGeom prst="rect">
            <a:avLst/>
          </a:prstGeom>
          <a:solidFill>
            <a:srgbClr val="42D3C4"/>
          </a:solidFill>
          <a:ln w="12700">
            <a:solidFill>
              <a:srgbClr val="42D3C4"/>
            </a:solidFill>
            <a:prstDash val="solid"/>
          </a:ln>
        </p:spPr>
        <p:txBody>
          <a:bodyPr/>
          <a:lstStyle/>
          <a:p>
            <a:endParaRPr/>
          </a:p>
        </p:txBody>
      </p:sp>
      <p:sp>
        <p:nvSpPr>
          <p:cNvPr id="26" name="Text 24"/>
          <p:cNvSpPr/>
          <p:nvPr/>
        </p:nvSpPr>
        <p:spPr>
          <a:xfrm>
            <a:off x="4800600" y="3630168"/>
            <a:ext cx="3090672"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Нагрузка</a:t>
            </a:r>
            <a:endParaRPr lang="en-US" sz="1800" dirty="0"/>
          </a:p>
        </p:txBody>
      </p:sp>
      <p:sp>
        <p:nvSpPr>
          <p:cNvPr id="27" name="Text 25"/>
          <p:cNvSpPr/>
          <p:nvPr/>
        </p:nvSpPr>
        <p:spPr>
          <a:xfrm>
            <a:off x="4718304" y="4114800"/>
            <a:ext cx="3099816" cy="93268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dispose()/release()</a:t>
            </a:r>
            <a:endParaRPr lang="en-US" sz="1700" dirty="0"/>
          </a:p>
        </p:txBody>
      </p:sp>
      <p:sp>
        <p:nvSpPr>
          <p:cNvPr id="28" name="Shape 26"/>
          <p:cNvSpPr/>
          <p:nvPr/>
        </p:nvSpPr>
        <p:spPr>
          <a:xfrm>
            <a:off x="8293608" y="3429000"/>
            <a:ext cx="3547872" cy="1719072"/>
          </a:xfrm>
          <a:prstGeom prst="roundRect">
            <a:avLst>
              <a:gd name="adj" fmla="val 7447"/>
            </a:avLst>
          </a:prstGeom>
          <a:solidFill>
            <a:srgbClr val="183047"/>
          </a:solidFill>
          <a:ln w="15240">
            <a:solidFill>
              <a:srgbClr val="355064"/>
            </a:solidFill>
            <a:prstDash val="solid"/>
          </a:ln>
        </p:spPr>
        <p:txBody>
          <a:bodyPr/>
          <a:lstStyle/>
          <a:p>
            <a:endParaRPr/>
          </a:p>
        </p:txBody>
      </p:sp>
      <p:sp>
        <p:nvSpPr>
          <p:cNvPr id="29" name="Shape 27"/>
          <p:cNvSpPr/>
          <p:nvPr/>
        </p:nvSpPr>
        <p:spPr>
          <a:xfrm>
            <a:off x="8449056" y="3648456"/>
            <a:ext cx="59436" cy="347472"/>
          </a:xfrm>
          <a:prstGeom prst="rect">
            <a:avLst/>
          </a:prstGeom>
          <a:solidFill>
            <a:srgbClr val="42D3C4"/>
          </a:solidFill>
          <a:ln w="12700">
            <a:solidFill>
              <a:srgbClr val="42D3C4"/>
            </a:solidFill>
            <a:prstDash val="solid"/>
          </a:ln>
        </p:spPr>
        <p:txBody>
          <a:bodyPr/>
          <a:lstStyle/>
          <a:p>
            <a:endParaRPr/>
          </a:p>
        </p:txBody>
      </p:sp>
      <p:sp>
        <p:nvSpPr>
          <p:cNvPr id="30" name="Text 28"/>
          <p:cNvSpPr/>
          <p:nvPr/>
        </p:nvSpPr>
        <p:spPr>
          <a:xfrm>
            <a:off x="8604504" y="3630168"/>
            <a:ext cx="3090672"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Резерв</a:t>
            </a:r>
            <a:endParaRPr lang="en-US" sz="1800" dirty="0"/>
          </a:p>
        </p:txBody>
      </p:sp>
      <p:sp>
        <p:nvSpPr>
          <p:cNvPr id="31" name="Text 29"/>
          <p:cNvSpPr/>
          <p:nvPr/>
        </p:nvSpPr>
        <p:spPr>
          <a:xfrm>
            <a:off x="8522208" y="4114800"/>
            <a:ext cx="3099816" cy="93268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SVG без WebGL</a:t>
            </a:r>
            <a:endParaRPr lang="en-US" sz="1700" dirty="0"/>
          </a:p>
        </p:txBody>
      </p:sp>
      <p:sp>
        <p:nvSpPr>
          <p:cNvPr id="39" name="Rounded Rectangle 38"/>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14</a:t>
            </a:r>
          </a:p>
        </p:txBody>
      </p:sp>
      <p:sp>
        <p:nvSpPr>
          <p:cNvPr id="40" name="Oval 26"/>
          <p:cNvSpPr/>
          <p:nvPr/>
        </p:nvSpPr>
        <p:spPr>
          <a:xfrm>
            <a:off x="-685800" y="5321808"/>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1226"/>
        </a:solidFill>
        <a:effectLst/>
      </p:bgPr>
    </p:bg>
    <p:spTree>
      <p:nvGrpSpPr>
        <p:cNvPr id="1" name=""/>
        <p:cNvGrpSpPr/>
        <p:nvPr/>
      </p:nvGrpSpPr>
      <p:grpSpPr>
        <a:xfrm>
          <a:off x="0" y="0"/>
          <a:ext cx="0" cy="0"/>
          <a:chOff x="0" y="0"/>
          <a:chExt cx="0" cy="0"/>
        </a:xfrm>
      </p:grpSpPr>
      <p:sp>
        <p:nvSpPr>
          <p:cNvPr id="26" name="Rounded Rectangle 25"/>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857232" y="4039362"/>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Экспорт: актуальная геометрия, а не заглушка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15</a:t>
            </a:r>
            <a:endParaRPr lang="en-US" sz="900" dirty="0"/>
          </a:p>
        </p:txBody>
      </p:sp>
      <p:sp>
        <p:nvSpPr>
          <p:cNvPr id="12" name="Shape 10"/>
          <p:cNvSpPr/>
          <p:nvPr/>
        </p:nvSpPr>
        <p:spPr>
          <a:xfrm>
            <a:off x="4370832" y="1618488"/>
            <a:ext cx="3502152" cy="3538728"/>
          </a:xfrm>
          <a:prstGeom prst="roundRect">
            <a:avLst>
              <a:gd name="adj" fmla="val 3655"/>
            </a:avLst>
          </a:prstGeom>
          <a:solidFill>
            <a:srgbClr val="183047"/>
          </a:solidFill>
          <a:ln w="15240">
            <a:solidFill>
              <a:srgbClr val="355064"/>
            </a:solidFill>
            <a:prstDash val="solid"/>
          </a:ln>
        </p:spPr>
        <p:txBody>
          <a:bodyPr/>
          <a:lstStyle/>
          <a:p>
            <a:endParaRPr/>
          </a:p>
        </p:txBody>
      </p:sp>
      <p:sp>
        <p:nvSpPr>
          <p:cNvPr id="13" name="Shape 11"/>
          <p:cNvSpPr/>
          <p:nvPr/>
        </p:nvSpPr>
        <p:spPr>
          <a:xfrm>
            <a:off x="4526280" y="1837944"/>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4681728" y="1819656"/>
            <a:ext cx="304495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PLY</a:t>
            </a:r>
            <a:endParaRPr lang="en-US" sz="1800" dirty="0"/>
          </a:p>
        </p:txBody>
      </p:sp>
      <p:sp>
        <p:nvSpPr>
          <p:cNvPr id="15" name="Text 13"/>
          <p:cNvSpPr/>
          <p:nvPr/>
        </p:nvSpPr>
        <p:spPr>
          <a:xfrm>
            <a:off x="4599432" y="2304288"/>
            <a:ext cx="3054096" cy="2752344"/>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Полигональная сетка. В проекте поддерживается ASCII.</a:t>
            </a:r>
            <a:endParaRPr lang="en-US" sz="1900" dirty="0"/>
          </a:p>
        </p:txBody>
      </p:sp>
      <p:sp>
        <p:nvSpPr>
          <p:cNvPr id="16" name="Shape 14"/>
          <p:cNvSpPr/>
          <p:nvPr/>
        </p:nvSpPr>
        <p:spPr>
          <a:xfrm>
            <a:off x="8083296" y="1618488"/>
            <a:ext cx="3502152" cy="3538728"/>
          </a:xfrm>
          <a:prstGeom prst="roundRect">
            <a:avLst>
              <a:gd name="adj" fmla="val 3655"/>
            </a:avLst>
          </a:prstGeom>
          <a:solidFill>
            <a:srgbClr val="183047"/>
          </a:solidFill>
          <a:ln w="15240">
            <a:solidFill>
              <a:srgbClr val="355064"/>
            </a:solidFill>
            <a:prstDash val="solid"/>
          </a:ln>
        </p:spPr>
        <p:txBody>
          <a:bodyPr/>
          <a:lstStyle/>
          <a:p>
            <a:endParaRPr/>
          </a:p>
        </p:txBody>
      </p:sp>
      <p:sp>
        <p:nvSpPr>
          <p:cNvPr id="17" name="Shape 15"/>
          <p:cNvSpPr/>
          <p:nvPr/>
        </p:nvSpPr>
        <p:spPr>
          <a:xfrm>
            <a:off x="8238744" y="1837944"/>
            <a:ext cx="59436" cy="347472"/>
          </a:xfrm>
          <a:prstGeom prst="rect">
            <a:avLst/>
          </a:prstGeom>
          <a:solidFill>
            <a:srgbClr val="9FDFBC"/>
          </a:solidFill>
          <a:ln w="12700">
            <a:solidFill>
              <a:srgbClr val="9FDFBC"/>
            </a:solidFill>
            <a:prstDash val="solid"/>
          </a:ln>
        </p:spPr>
        <p:txBody>
          <a:bodyPr/>
          <a:lstStyle/>
          <a:p>
            <a:endParaRPr/>
          </a:p>
        </p:txBody>
      </p:sp>
      <p:sp>
        <p:nvSpPr>
          <p:cNvPr id="18" name="Text 16"/>
          <p:cNvSpPr/>
          <p:nvPr/>
        </p:nvSpPr>
        <p:spPr>
          <a:xfrm>
            <a:off x="8394192" y="1819656"/>
            <a:ext cx="304495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GLTF</a:t>
            </a:r>
            <a:endParaRPr lang="en-US" sz="1800" dirty="0"/>
          </a:p>
        </p:txBody>
      </p:sp>
      <p:sp>
        <p:nvSpPr>
          <p:cNvPr id="19" name="Text 17"/>
          <p:cNvSpPr/>
          <p:nvPr/>
        </p:nvSpPr>
        <p:spPr>
          <a:xfrm>
            <a:off x="8311896" y="2304288"/>
            <a:ext cx="3054096" cy="2752344"/>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Открытый формат сцены 3D. Используются встроенные данные.</a:t>
            </a:r>
            <a:endParaRPr lang="en-US" sz="1900" dirty="0"/>
          </a:p>
        </p:txBody>
      </p:sp>
      <p:sp>
        <p:nvSpPr>
          <p:cNvPr id="29"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 18"/>
          <p:cNvSpPr/>
          <p:nvPr/>
        </p:nvSpPr>
        <p:spPr>
          <a:xfrm>
            <a:off x="777240" y="5468112"/>
            <a:ext cx="10881360" cy="438912"/>
          </a:xfrm>
          <a:prstGeom prst="rect">
            <a:avLst/>
          </a:prstGeom>
          <a:noFill/>
          <a:ln/>
        </p:spPr>
        <p:txBody>
          <a:bodyPr wrap="square" lIns="0" tIns="0" rIns="0" bIns="0" rtlCol="0" anchor="ctr">
            <a:normAutofit/>
          </a:bodyPr>
          <a:lstStyle/>
          <a:p>
            <a:pPr marL="0" indent="0" algn="ctr">
              <a:buNone/>
            </a:pPr>
            <a:r>
              <a:rPr lang="en-US" sz="1900" b="1" dirty="0">
                <a:solidFill>
                  <a:srgbClr val="ADC3D1"/>
                </a:solidFill>
                <a:latin typeface="Segoe UI" pitchFamily="34" charset="0"/>
                <a:ea typeface="Aptos" pitchFamily="34" charset="-122"/>
                <a:cs typeface="Aptos" pitchFamily="34" charset="-120"/>
              </a:rPr>
              <a:t>viewer.exportModel(format)  →  Blob  →  download / FormData</a:t>
            </a:r>
            <a:endParaRPr lang="en-US" sz="1900" dirty="0"/>
          </a:p>
        </p:txBody>
      </p:sp>
      <p:sp>
        <p:nvSpPr>
          <p:cNvPr id="28" name="Rounded Rectangle 27"/>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15</a:t>
            </a:r>
          </a:p>
        </p:txBody>
      </p:sp>
      <p:sp>
        <p:nvSpPr>
          <p:cNvPr id="30" name="TextBox 29"/>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8" name="Shape 6"/>
          <p:cNvSpPr/>
          <p:nvPr/>
        </p:nvSpPr>
        <p:spPr>
          <a:xfrm>
            <a:off x="658368" y="1618488"/>
            <a:ext cx="3502152" cy="3538728"/>
          </a:xfrm>
          <a:prstGeom prst="roundRect">
            <a:avLst>
              <a:gd name="adj" fmla="val 3655"/>
            </a:avLst>
          </a:prstGeom>
          <a:solidFill>
            <a:srgbClr val="183047"/>
          </a:solidFill>
          <a:ln w="15240">
            <a:solidFill>
              <a:srgbClr val="355064"/>
            </a:solidFill>
            <a:prstDash val="solid"/>
          </a:ln>
        </p:spPr>
        <p:txBody>
          <a:bodyPr/>
          <a:lstStyle/>
          <a:p>
            <a:endParaRPr/>
          </a:p>
        </p:txBody>
      </p:sp>
      <p:sp>
        <p:nvSpPr>
          <p:cNvPr id="9" name="Shape 7"/>
          <p:cNvSpPr/>
          <p:nvPr/>
        </p:nvSpPr>
        <p:spPr>
          <a:xfrm>
            <a:off x="813816" y="1837944"/>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69264" y="1819656"/>
            <a:ext cx="304495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OBJ</a:t>
            </a:r>
            <a:endParaRPr lang="en-US" sz="1800" dirty="0"/>
          </a:p>
        </p:txBody>
      </p:sp>
      <p:sp>
        <p:nvSpPr>
          <p:cNvPr id="11" name="Text 9"/>
          <p:cNvSpPr/>
          <p:nvPr/>
        </p:nvSpPr>
        <p:spPr>
          <a:xfrm>
            <a:off x="886968" y="2304288"/>
            <a:ext cx="3054096" cy="2752344"/>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Текстовые вершины и грани. Удобен для изучения и обмена.</a:t>
            </a:r>
            <a:endParaRPr lang="en-US" sz="19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1226"/>
        </a:solidFill>
        <a:effectLst/>
      </p:bgPr>
    </p:bg>
    <p:spTree>
      <p:nvGrpSpPr>
        <p:cNvPr id="1" name=""/>
        <p:cNvGrpSpPr/>
        <p:nvPr/>
      </p:nvGrpSpPr>
      <p:grpSpPr>
        <a:xfrm>
          <a:off x="0" y="0"/>
          <a:ext cx="0" cy="0"/>
          <a:chOff x="0" y="0"/>
          <a:chExt cx="0" cy="0"/>
        </a:xfrm>
      </p:grpSpPr>
      <p:sp>
        <p:nvSpPr>
          <p:cNvPr id="23" name="Rounded Rectangle 22"/>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Импорт: недоверенный файл проверяется дважды</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16</a:t>
            </a:r>
            <a:endParaRPr lang="en-US" sz="900" dirty="0"/>
          </a:p>
        </p:txBody>
      </p:sp>
      <p:sp>
        <p:nvSpPr>
          <p:cNvPr id="8" name="Shape 6"/>
          <p:cNvSpPr/>
          <p:nvPr/>
        </p:nvSpPr>
        <p:spPr>
          <a:xfrm>
            <a:off x="786384" y="1655064"/>
            <a:ext cx="100584" cy="100584"/>
          </a:xfrm>
          <a:prstGeom prst="ellipse">
            <a:avLst/>
          </a:prstGeom>
          <a:solidFill>
            <a:srgbClr val="42D3C4"/>
          </a:solidFill>
          <a:ln w="12700">
            <a:solidFill>
              <a:srgbClr val="42D3C4"/>
            </a:solidFill>
            <a:prstDash val="solid"/>
          </a:ln>
        </p:spPr>
        <p:txBody>
          <a:bodyPr/>
          <a:lstStyle/>
          <a:p>
            <a:endParaRPr/>
          </a:p>
        </p:txBody>
      </p:sp>
      <p:sp>
        <p:nvSpPr>
          <p:cNvPr id="9" name="Text 7"/>
          <p:cNvSpPr/>
          <p:nvPr/>
        </p:nvSpPr>
        <p:spPr>
          <a:xfrm>
            <a:off x="1078992" y="1527048"/>
            <a:ext cx="1022299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Ограничение расширений: OBJ / PLY / GLTF.</a:t>
            </a:r>
            <a:endParaRPr lang="en-US" sz="2000" dirty="0"/>
          </a:p>
        </p:txBody>
      </p:sp>
      <p:sp>
        <p:nvSpPr>
          <p:cNvPr id="10" name="Shape 8"/>
          <p:cNvSpPr/>
          <p:nvPr/>
        </p:nvSpPr>
        <p:spPr>
          <a:xfrm>
            <a:off x="786384" y="2468880"/>
            <a:ext cx="100584" cy="100584"/>
          </a:xfrm>
          <a:prstGeom prst="ellipse">
            <a:avLst/>
          </a:prstGeom>
          <a:solidFill>
            <a:srgbClr val="42D3C4"/>
          </a:solidFill>
          <a:ln w="12700">
            <a:solidFill>
              <a:srgbClr val="42D3C4"/>
            </a:solidFill>
            <a:prstDash val="solid"/>
          </a:ln>
        </p:spPr>
        <p:txBody>
          <a:bodyPr/>
          <a:lstStyle/>
          <a:p>
            <a:endParaRPr/>
          </a:p>
        </p:txBody>
      </p:sp>
      <p:sp>
        <p:nvSpPr>
          <p:cNvPr id="11" name="Text 9"/>
          <p:cNvSpPr/>
          <p:nvPr/>
        </p:nvSpPr>
        <p:spPr>
          <a:xfrm>
            <a:off x="1078992" y="2340864"/>
            <a:ext cx="1022299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Ограничение размера файла: 10 МБ.</a:t>
            </a:r>
            <a:endParaRPr lang="en-US" sz="2000" dirty="0"/>
          </a:p>
        </p:txBody>
      </p:sp>
      <p:sp>
        <p:nvSpPr>
          <p:cNvPr id="12" name="Shape 10"/>
          <p:cNvSpPr/>
          <p:nvPr/>
        </p:nvSpPr>
        <p:spPr>
          <a:xfrm>
            <a:off x="786384" y="3282696"/>
            <a:ext cx="100584" cy="100584"/>
          </a:xfrm>
          <a:prstGeom prst="ellipse">
            <a:avLst/>
          </a:prstGeom>
          <a:solidFill>
            <a:srgbClr val="42D3C4"/>
          </a:solidFill>
          <a:ln w="12700">
            <a:solidFill>
              <a:srgbClr val="42D3C4"/>
            </a:solidFill>
            <a:prstDash val="solid"/>
          </a:ln>
        </p:spPr>
        <p:txBody>
          <a:bodyPr/>
          <a:lstStyle/>
          <a:p>
            <a:endParaRPr/>
          </a:p>
        </p:txBody>
      </p:sp>
      <p:sp>
        <p:nvSpPr>
          <p:cNvPr id="13" name="Text 11"/>
          <p:cNvSpPr/>
          <p:nvPr/>
        </p:nvSpPr>
        <p:spPr>
          <a:xfrm>
            <a:off x="1078992" y="3154680"/>
            <a:ext cx="1022299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Проверка структуры и сложности сетки.</a:t>
            </a:r>
            <a:endParaRPr lang="en-US" sz="2000" dirty="0"/>
          </a:p>
        </p:txBody>
      </p:sp>
      <p:sp>
        <p:nvSpPr>
          <p:cNvPr id="14" name="Shape 12"/>
          <p:cNvSpPr/>
          <p:nvPr/>
        </p:nvSpPr>
        <p:spPr>
          <a:xfrm>
            <a:off x="786384" y="4096512"/>
            <a:ext cx="100584" cy="100584"/>
          </a:xfrm>
          <a:prstGeom prst="ellipse">
            <a:avLst/>
          </a:prstGeom>
          <a:solidFill>
            <a:srgbClr val="42D3C4"/>
          </a:solidFill>
          <a:ln w="12700">
            <a:solidFill>
              <a:srgbClr val="42D3C4"/>
            </a:solidFill>
            <a:prstDash val="solid"/>
          </a:ln>
        </p:spPr>
        <p:txBody>
          <a:bodyPr/>
          <a:lstStyle/>
          <a:p>
            <a:endParaRPr/>
          </a:p>
        </p:txBody>
      </p:sp>
      <p:sp>
        <p:nvSpPr>
          <p:cNvPr id="15" name="Text 13"/>
          <p:cNvSpPr/>
          <p:nvPr/>
        </p:nvSpPr>
        <p:spPr>
          <a:xfrm>
            <a:off x="1078992" y="3968496"/>
            <a:ext cx="1022299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GLTF — запрет внешних ресурсов.</a:t>
            </a:r>
            <a:endParaRPr lang="en-US" sz="2000" dirty="0"/>
          </a:p>
        </p:txBody>
      </p:sp>
      <p:sp>
        <p:nvSpPr>
          <p:cNvPr id="16" name="Shape 14"/>
          <p:cNvSpPr/>
          <p:nvPr/>
        </p:nvSpPr>
        <p:spPr>
          <a:xfrm>
            <a:off x="786384" y="4910328"/>
            <a:ext cx="100584" cy="100584"/>
          </a:xfrm>
          <a:prstGeom prst="ellipse">
            <a:avLst/>
          </a:prstGeom>
          <a:solidFill>
            <a:srgbClr val="42D3C4"/>
          </a:solidFill>
          <a:ln w="12700">
            <a:solidFill>
              <a:srgbClr val="42D3C4"/>
            </a:solidFill>
            <a:prstDash val="solid"/>
          </a:ln>
        </p:spPr>
        <p:txBody>
          <a:bodyPr/>
          <a:lstStyle/>
          <a:p>
            <a:endParaRPr/>
          </a:p>
        </p:txBody>
      </p:sp>
      <p:sp>
        <p:nvSpPr>
          <p:cNvPr id="17" name="Text 15"/>
          <p:cNvSpPr/>
          <p:nvPr/>
        </p:nvSpPr>
        <p:spPr>
          <a:xfrm>
            <a:off x="1078992" y="4782312"/>
            <a:ext cx="1022299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Случайное имя и хранение вне public/.</a:t>
            </a:r>
            <a:endParaRPr lang="en-US" sz="2000" dirty="0"/>
          </a:p>
        </p:txBody>
      </p:sp>
      <p:sp>
        <p:nvSpPr>
          <p:cNvPr id="25" name="Rounded Rectangle 24"/>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16</a:t>
            </a:r>
          </a:p>
        </p:txBody>
      </p:sp>
      <p:sp>
        <p:nvSpPr>
          <p:cNvPr id="26" name="Oval 26"/>
          <p:cNvSpPr/>
          <p:nvPr/>
        </p:nvSpPr>
        <p:spPr>
          <a:xfrm>
            <a:off x="-710902" y="5218166"/>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1226"/>
        </a:solidFill>
        <a:effectLst/>
      </p:bgPr>
    </p:bg>
    <p:spTree>
      <p:nvGrpSpPr>
        <p:cNvPr id="1" name=""/>
        <p:cNvGrpSpPr/>
        <p:nvPr/>
      </p:nvGrpSpPr>
      <p:grpSpPr>
        <a:xfrm>
          <a:off x="0" y="0"/>
          <a:ext cx="0" cy="0"/>
          <a:chOff x="0" y="0"/>
          <a:chExt cx="0" cy="0"/>
        </a:xfrm>
      </p:grpSpPr>
      <p:sp>
        <p:nvSpPr>
          <p:cNvPr id="14" name="Rounded Rectangle 13"/>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Модель хранения: PostgreSQL + файловая система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17</a:t>
            </a:r>
            <a:endParaRPr lang="en-US" sz="900" dirty="0"/>
          </a:p>
        </p:txBody>
      </p:sp>
      <p:sp>
        <p:nvSpPr>
          <p:cNvPr id="16" name="Rounded Rectangle 15"/>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17</a:t>
            </a:r>
          </a:p>
        </p:txBody>
      </p:sp>
      <p:sp>
        <p:nvSpPr>
          <p:cNvPr id="19" name="TextBox 18"/>
          <p:cNvSpPr txBox="1"/>
          <p:nvPr/>
        </p:nvSpPr>
        <p:spPr>
          <a:xfrm>
            <a:off x="7726679" y="5550408"/>
            <a:ext cx="3657600" cy="274320"/>
          </a:xfrm>
          <a:prstGeom prst="rect">
            <a:avLst/>
          </a:prstGeom>
          <a:noFill/>
        </p:spPr>
        <p:txBody>
          <a:bodyPr wrap="none">
            <a:spAutoFit/>
          </a:bodyPr>
          <a:lstStyle/>
          <a:p>
            <a:pPr algn="ctr"/>
            <a:r>
              <a:rPr sz="1050">
                <a:solidFill>
                  <a:srgbClr val="ACBDD2"/>
                </a:solidFill>
                <a:latin typeface="Segoe UI"/>
              </a:rPr>
              <a:t>Визуальная схема проекта</a:t>
            </a:r>
          </a:p>
        </p:txBody>
      </p:sp>
      <p:sp>
        <p:nvSpPr>
          <p:cNvPr id="20"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pic>
        <p:nvPicPr>
          <p:cNvPr id="8" name="Image 0" descr="/mnt/data/mycreative_assets/erd.png"/>
          <p:cNvPicPr>
            <a:picLocks noChangeAspect="1"/>
          </p:cNvPicPr>
          <p:nvPr/>
        </p:nvPicPr>
        <p:blipFill>
          <a:blip r:embed="rId3"/>
          <a:stretch>
            <a:fillRect/>
          </a:stretch>
        </p:blipFill>
        <p:spPr>
          <a:xfrm>
            <a:off x="685800" y="1353312"/>
            <a:ext cx="10936224" cy="454456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1226"/>
        </a:solidFill>
        <a:effectLst/>
      </p:bgPr>
    </p:bg>
    <p:spTree>
      <p:nvGrpSpPr>
        <p:cNvPr id="1" name=""/>
        <p:cNvGrpSpPr/>
        <p:nvPr/>
      </p:nvGrpSpPr>
      <p:grpSpPr>
        <a:xfrm>
          <a:off x="0" y="0"/>
          <a:ext cx="0" cy="0"/>
          <a:chOff x="0" y="0"/>
          <a:chExt cx="0" cy="0"/>
        </a:xfrm>
      </p:grpSpPr>
      <p:sp>
        <p:nvSpPr>
          <p:cNvPr id="37" name="Rounded Rectangle 36"/>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REST-подобный API</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18</a:t>
            </a:r>
            <a:endParaRPr lang="en-US" sz="900" dirty="0"/>
          </a:p>
        </p:txBody>
      </p:sp>
      <p:sp>
        <p:nvSpPr>
          <p:cNvPr id="8" name="Shape 6"/>
          <p:cNvSpPr/>
          <p:nvPr/>
        </p:nvSpPr>
        <p:spPr>
          <a:xfrm>
            <a:off x="658368" y="1408176"/>
            <a:ext cx="5257800" cy="1271016"/>
          </a:xfrm>
          <a:prstGeom prst="roundRect">
            <a:avLst>
              <a:gd name="adj" fmla="val 10072"/>
            </a:avLst>
          </a:prstGeom>
          <a:solidFill>
            <a:srgbClr val="183047"/>
          </a:solidFill>
          <a:ln w="15240">
            <a:solidFill>
              <a:srgbClr val="355064"/>
            </a:solidFill>
            <a:prstDash val="solid"/>
          </a:ln>
        </p:spPr>
        <p:txBody>
          <a:bodyPr/>
          <a:lstStyle/>
          <a:p>
            <a:endParaRPr/>
          </a:p>
        </p:txBody>
      </p:sp>
      <p:sp>
        <p:nvSpPr>
          <p:cNvPr id="9" name="Shape 7"/>
          <p:cNvSpPr/>
          <p:nvPr/>
        </p:nvSpPr>
        <p:spPr>
          <a:xfrm>
            <a:off x="813816" y="1627632"/>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69264" y="1609344"/>
            <a:ext cx="4800600"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/api/health</a:t>
            </a:r>
            <a:endParaRPr lang="en-US" sz="1800" dirty="0"/>
          </a:p>
        </p:txBody>
      </p:sp>
      <p:sp>
        <p:nvSpPr>
          <p:cNvPr id="11" name="Text 9"/>
          <p:cNvSpPr/>
          <p:nvPr/>
        </p:nvSpPr>
        <p:spPr>
          <a:xfrm>
            <a:off x="886968" y="2093976"/>
            <a:ext cx="4809744" cy="48463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Состояние сервера</a:t>
            </a:r>
            <a:endParaRPr lang="en-US" sz="1500" dirty="0"/>
          </a:p>
        </p:txBody>
      </p:sp>
      <p:sp>
        <p:nvSpPr>
          <p:cNvPr id="12" name="Shape 10"/>
          <p:cNvSpPr/>
          <p:nvPr/>
        </p:nvSpPr>
        <p:spPr>
          <a:xfrm>
            <a:off x="6217920" y="1408176"/>
            <a:ext cx="5257800" cy="1271016"/>
          </a:xfrm>
          <a:prstGeom prst="roundRect">
            <a:avLst>
              <a:gd name="adj" fmla="val 10072"/>
            </a:avLst>
          </a:prstGeom>
          <a:solidFill>
            <a:srgbClr val="183047"/>
          </a:solidFill>
          <a:ln w="15240">
            <a:solidFill>
              <a:srgbClr val="355064"/>
            </a:solidFill>
            <a:prstDash val="solid"/>
          </a:ln>
        </p:spPr>
        <p:txBody>
          <a:bodyPr/>
          <a:lstStyle/>
          <a:p>
            <a:endParaRPr/>
          </a:p>
        </p:txBody>
      </p:sp>
      <p:sp>
        <p:nvSpPr>
          <p:cNvPr id="13" name="Shape 11"/>
          <p:cNvSpPr/>
          <p:nvPr/>
        </p:nvSpPr>
        <p:spPr>
          <a:xfrm>
            <a:off x="6373368" y="1627632"/>
            <a:ext cx="59436" cy="347472"/>
          </a:xfrm>
          <a:prstGeom prst="rect">
            <a:avLst/>
          </a:prstGeom>
          <a:solidFill>
            <a:srgbClr val="42D3C4"/>
          </a:solidFill>
          <a:ln w="12700">
            <a:solidFill>
              <a:srgbClr val="42D3C4"/>
            </a:solidFill>
            <a:prstDash val="solid"/>
          </a:ln>
        </p:spPr>
        <p:txBody>
          <a:bodyPr/>
          <a:lstStyle/>
          <a:p>
            <a:endParaRPr/>
          </a:p>
        </p:txBody>
      </p:sp>
      <p:sp>
        <p:nvSpPr>
          <p:cNvPr id="14" name="Text 12"/>
          <p:cNvSpPr/>
          <p:nvPr/>
        </p:nvSpPr>
        <p:spPr>
          <a:xfrm>
            <a:off x="6528816" y="1609344"/>
            <a:ext cx="4800600"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/api/auth/*</a:t>
            </a:r>
            <a:endParaRPr lang="en-US" sz="1800" dirty="0"/>
          </a:p>
        </p:txBody>
      </p:sp>
      <p:sp>
        <p:nvSpPr>
          <p:cNvPr id="15" name="Text 13"/>
          <p:cNvSpPr/>
          <p:nvPr/>
        </p:nvSpPr>
        <p:spPr>
          <a:xfrm>
            <a:off x="6446520" y="2093976"/>
            <a:ext cx="4809744" cy="48463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Регистрация, вход, профиль</a:t>
            </a:r>
            <a:endParaRPr lang="en-US" sz="1500" dirty="0"/>
          </a:p>
        </p:txBody>
      </p:sp>
      <p:sp>
        <p:nvSpPr>
          <p:cNvPr id="16" name="Shape 14"/>
          <p:cNvSpPr/>
          <p:nvPr/>
        </p:nvSpPr>
        <p:spPr>
          <a:xfrm>
            <a:off x="658368" y="2852928"/>
            <a:ext cx="5257800" cy="1271016"/>
          </a:xfrm>
          <a:prstGeom prst="roundRect">
            <a:avLst>
              <a:gd name="adj" fmla="val 10072"/>
            </a:avLst>
          </a:prstGeom>
          <a:solidFill>
            <a:srgbClr val="183047"/>
          </a:solidFill>
          <a:ln w="15240">
            <a:solidFill>
              <a:srgbClr val="355064"/>
            </a:solidFill>
            <a:prstDash val="solid"/>
          </a:ln>
        </p:spPr>
        <p:txBody>
          <a:bodyPr/>
          <a:lstStyle/>
          <a:p>
            <a:endParaRPr/>
          </a:p>
        </p:txBody>
      </p:sp>
      <p:sp>
        <p:nvSpPr>
          <p:cNvPr id="17" name="Shape 15"/>
          <p:cNvSpPr/>
          <p:nvPr/>
        </p:nvSpPr>
        <p:spPr>
          <a:xfrm>
            <a:off x="813816" y="3072384"/>
            <a:ext cx="59436" cy="347472"/>
          </a:xfrm>
          <a:prstGeom prst="rect">
            <a:avLst/>
          </a:prstGeom>
          <a:solidFill>
            <a:srgbClr val="42D3C4"/>
          </a:solidFill>
          <a:ln w="12700">
            <a:solidFill>
              <a:srgbClr val="42D3C4"/>
            </a:solidFill>
            <a:prstDash val="solid"/>
          </a:ln>
        </p:spPr>
        <p:txBody>
          <a:bodyPr/>
          <a:lstStyle/>
          <a:p>
            <a:endParaRPr/>
          </a:p>
        </p:txBody>
      </p:sp>
      <p:sp>
        <p:nvSpPr>
          <p:cNvPr id="18" name="Text 16"/>
          <p:cNvSpPr/>
          <p:nvPr/>
        </p:nvSpPr>
        <p:spPr>
          <a:xfrm>
            <a:off x="969264" y="3054096"/>
            <a:ext cx="4800600"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GET /api/scans</a:t>
            </a:r>
            <a:endParaRPr lang="en-US" sz="1800" dirty="0"/>
          </a:p>
        </p:txBody>
      </p:sp>
      <p:sp>
        <p:nvSpPr>
          <p:cNvPr id="19" name="Text 17"/>
          <p:cNvSpPr/>
          <p:nvPr/>
        </p:nvSpPr>
        <p:spPr>
          <a:xfrm>
            <a:off x="886968" y="3538728"/>
            <a:ext cx="4809744" cy="48463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Личная библиотека</a:t>
            </a:r>
            <a:endParaRPr lang="en-US" sz="1500" dirty="0"/>
          </a:p>
        </p:txBody>
      </p:sp>
      <p:sp>
        <p:nvSpPr>
          <p:cNvPr id="20" name="Shape 18"/>
          <p:cNvSpPr/>
          <p:nvPr/>
        </p:nvSpPr>
        <p:spPr>
          <a:xfrm>
            <a:off x="6217920" y="2852928"/>
            <a:ext cx="5257800" cy="1271016"/>
          </a:xfrm>
          <a:prstGeom prst="roundRect">
            <a:avLst>
              <a:gd name="adj" fmla="val 10072"/>
            </a:avLst>
          </a:prstGeom>
          <a:solidFill>
            <a:srgbClr val="183047"/>
          </a:solidFill>
          <a:ln w="15240">
            <a:solidFill>
              <a:srgbClr val="355064"/>
            </a:solidFill>
            <a:prstDash val="solid"/>
          </a:ln>
        </p:spPr>
        <p:txBody>
          <a:bodyPr/>
          <a:lstStyle/>
          <a:p>
            <a:endParaRPr/>
          </a:p>
        </p:txBody>
      </p:sp>
      <p:sp>
        <p:nvSpPr>
          <p:cNvPr id="21" name="Shape 19"/>
          <p:cNvSpPr/>
          <p:nvPr/>
        </p:nvSpPr>
        <p:spPr>
          <a:xfrm>
            <a:off x="6373368" y="3072384"/>
            <a:ext cx="59436" cy="347472"/>
          </a:xfrm>
          <a:prstGeom prst="rect">
            <a:avLst/>
          </a:prstGeom>
          <a:solidFill>
            <a:srgbClr val="42D3C4"/>
          </a:solidFill>
          <a:ln w="12700">
            <a:solidFill>
              <a:srgbClr val="42D3C4"/>
            </a:solidFill>
            <a:prstDash val="solid"/>
          </a:ln>
        </p:spPr>
        <p:txBody>
          <a:bodyPr/>
          <a:lstStyle/>
          <a:p>
            <a:endParaRPr/>
          </a:p>
        </p:txBody>
      </p:sp>
      <p:sp>
        <p:nvSpPr>
          <p:cNvPr id="22" name="Text 20"/>
          <p:cNvSpPr/>
          <p:nvPr/>
        </p:nvSpPr>
        <p:spPr>
          <a:xfrm>
            <a:off x="6528816" y="3054096"/>
            <a:ext cx="4800600"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POST /api/scans</a:t>
            </a:r>
            <a:endParaRPr lang="en-US" sz="1800" dirty="0"/>
          </a:p>
        </p:txBody>
      </p:sp>
      <p:sp>
        <p:nvSpPr>
          <p:cNvPr id="23" name="Text 21"/>
          <p:cNvSpPr/>
          <p:nvPr/>
        </p:nvSpPr>
        <p:spPr>
          <a:xfrm>
            <a:off x="6446520" y="3538728"/>
            <a:ext cx="4809744" cy="48463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Импорт файла</a:t>
            </a:r>
            <a:endParaRPr lang="en-US" sz="1500" dirty="0"/>
          </a:p>
        </p:txBody>
      </p:sp>
      <p:sp>
        <p:nvSpPr>
          <p:cNvPr id="28" name="Shape 26"/>
          <p:cNvSpPr/>
          <p:nvPr/>
        </p:nvSpPr>
        <p:spPr>
          <a:xfrm>
            <a:off x="6217920" y="4297680"/>
            <a:ext cx="5257800" cy="1271016"/>
          </a:xfrm>
          <a:prstGeom prst="roundRect">
            <a:avLst>
              <a:gd name="adj" fmla="val 10072"/>
            </a:avLst>
          </a:prstGeom>
          <a:solidFill>
            <a:srgbClr val="183047"/>
          </a:solidFill>
          <a:ln w="15240">
            <a:solidFill>
              <a:srgbClr val="355064"/>
            </a:solidFill>
            <a:prstDash val="solid"/>
          </a:ln>
        </p:spPr>
        <p:txBody>
          <a:bodyPr/>
          <a:lstStyle/>
          <a:p>
            <a:endParaRPr/>
          </a:p>
        </p:txBody>
      </p:sp>
      <p:sp>
        <p:nvSpPr>
          <p:cNvPr id="29" name="Shape 27"/>
          <p:cNvSpPr/>
          <p:nvPr/>
        </p:nvSpPr>
        <p:spPr>
          <a:xfrm>
            <a:off x="6373368" y="4517136"/>
            <a:ext cx="59436" cy="347472"/>
          </a:xfrm>
          <a:prstGeom prst="rect">
            <a:avLst/>
          </a:prstGeom>
          <a:solidFill>
            <a:srgbClr val="42D3C4"/>
          </a:solidFill>
          <a:ln w="12700">
            <a:solidFill>
              <a:srgbClr val="42D3C4"/>
            </a:solidFill>
            <a:prstDash val="solid"/>
          </a:ln>
        </p:spPr>
        <p:txBody>
          <a:bodyPr/>
          <a:lstStyle/>
          <a:p>
            <a:endParaRPr/>
          </a:p>
        </p:txBody>
      </p:sp>
      <p:sp>
        <p:nvSpPr>
          <p:cNvPr id="30" name="Text 28"/>
          <p:cNvSpPr/>
          <p:nvPr/>
        </p:nvSpPr>
        <p:spPr>
          <a:xfrm>
            <a:off x="6528816" y="4498848"/>
            <a:ext cx="4800600"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GET /:id/download</a:t>
            </a:r>
            <a:endParaRPr lang="en-US" sz="1800" dirty="0"/>
          </a:p>
        </p:txBody>
      </p:sp>
      <p:sp>
        <p:nvSpPr>
          <p:cNvPr id="31" name="Text 29"/>
          <p:cNvSpPr/>
          <p:nvPr/>
        </p:nvSpPr>
        <p:spPr>
          <a:xfrm>
            <a:off x="6446520" y="4983480"/>
            <a:ext cx="4809744" cy="48463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Защищённая выдача</a:t>
            </a:r>
            <a:endParaRPr lang="en-US" sz="1500" dirty="0"/>
          </a:p>
        </p:txBody>
      </p:sp>
      <p:sp>
        <p:nvSpPr>
          <p:cNvPr id="39" name="Rounded Rectangle 38"/>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18</a:t>
            </a:r>
          </a:p>
        </p:txBody>
      </p:sp>
      <p:sp>
        <p:nvSpPr>
          <p:cNvPr id="40" name="Oval 26"/>
          <p:cNvSpPr/>
          <p:nvPr/>
        </p:nvSpPr>
        <p:spPr>
          <a:xfrm>
            <a:off x="-603504" y="4933188"/>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24" name="Shape 22"/>
          <p:cNvSpPr/>
          <p:nvPr/>
        </p:nvSpPr>
        <p:spPr>
          <a:xfrm>
            <a:off x="658368" y="4297680"/>
            <a:ext cx="5257800" cy="1271016"/>
          </a:xfrm>
          <a:prstGeom prst="roundRect">
            <a:avLst>
              <a:gd name="adj" fmla="val 10072"/>
            </a:avLst>
          </a:prstGeom>
          <a:solidFill>
            <a:srgbClr val="183047"/>
          </a:solidFill>
          <a:ln w="15240">
            <a:solidFill>
              <a:srgbClr val="355064"/>
            </a:solidFill>
            <a:prstDash val="solid"/>
          </a:ln>
        </p:spPr>
        <p:txBody>
          <a:bodyPr/>
          <a:lstStyle/>
          <a:p>
            <a:endParaRPr/>
          </a:p>
        </p:txBody>
      </p:sp>
      <p:sp>
        <p:nvSpPr>
          <p:cNvPr id="25" name="Shape 23"/>
          <p:cNvSpPr/>
          <p:nvPr/>
        </p:nvSpPr>
        <p:spPr>
          <a:xfrm>
            <a:off x="813816" y="4517136"/>
            <a:ext cx="59436" cy="347472"/>
          </a:xfrm>
          <a:prstGeom prst="rect">
            <a:avLst/>
          </a:prstGeom>
          <a:solidFill>
            <a:srgbClr val="42D3C4"/>
          </a:solidFill>
          <a:ln w="12700">
            <a:solidFill>
              <a:srgbClr val="42D3C4"/>
            </a:solidFill>
            <a:prstDash val="solid"/>
          </a:ln>
        </p:spPr>
        <p:txBody>
          <a:bodyPr/>
          <a:lstStyle/>
          <a:p>
            <a:endParaRPr/>
          </a:p>
        </p:txBody>
      </p:sp>
      <p:sp>
        <p:nvSpPr>
          <p:cNvPr id="26" name="Text 24"/>
          <p:cNvSpPr/>
          <p:nvPr/>
        </p:nvSpPr>
        <p:spPr>
          <a:xfrm>
            <a:off x="969264" y="4498848"/>
            <a:ext cx="4800600"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PATCH /api/scans/:id</a:t>
            </a:r>
            <a:endParaRPr lang="en-US" sz="1800" dirty="0"/>
          </a:p>
        </p:txBody>
      </p:sp>
      <p:sp>
        <p:nvSpPr>
          <p:cNvPr id="27" name="Text 25"/>
          <p:cNvSpPr/>
          <p:nvPr/>
        </p:nvSpPr>
        <p:spPr>
          <a:xfrm>
            <a:off x="886968" y="4983480"/>
            <a:ext cx="4809744" cy="48463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Изменение имени</a:t>
            </a:r>
            <a:endParaRPr lang="en-US" sz="15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1226"/>
        </a:solidFill>
        <a:effectLst/>
      </p:bgPr>
    </p:bg>
    <p:spTree>
      <p:nvGrpSpPr>
        <p:cNvPr id="1" name=""/>
        <p:cNvGrpSpPr/>
        <p:nvPr/>
      </p:nvGrpSpPr>
      <p:grpSpPr>
        <a:xfrm>
          <a:off x="0" y="0"/>
          <a:ext cx="0" cy="0"/>
          <a:chOff x="0" y="0"/>
          <a:chExt cx="0" cy="0"/>
        </a:xfrm>
      </p:grpSpPr>
      <p:sp>
        <p:nvSpPr>
          <p:cNvPr id="25" name="Rounded Rectangle 24"/>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Регистрация и защита сессии</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19</a:t>
            </a:r>
            <a:endParaRPr lang="en-US" sz="900" dirty="0"/>
          </a:p>
        </p:txBody>
      </p:sp>
      <p:sp>
        <p:nvSpPr>
          <p:cNvPr id="12" name="Shape 10"/>
          <p:cNvSpPr/>
          <p:nvPr/>
        </p:nvSpPr>
        <p:spPr>
          <a:xfrm>
            <a:off x="4361688" y="1463040"/>
            <a:ext cx="3502152" cy="4096512"/>
          </a:xfrm>
          <a:prstGeom prst="roundRect">
            <a:avLst>
              <a:gd name="adj" fmla="val 3655"/>
            </a:avLst>
          </a:prstGeom>
          <a:solidFill>
            <a:srgbClr val="183047"/>
          </a:solidFill>
          <a:ln w="15240">
            <a:solidFill>
              <a:srgbClr val="355064"/>
            </a:solidFill>
            <a:prstDash val="solid"/>
          </a:ln>
        </p:spPr>
        <p:txBody>
          <a:bodyPr/>
          <a:lstStyle/>
          <a:p>
            <a:endParaRPr/>
          </a:p>
        </p:txBody>
      </p:sp>
      <p:sp>
        <p:nvSpPr>
          <p:cNvPr id="13" name="Shape 11"/>
          <p:cNvSpPr/>
          <p:nvPr/>
        </p:nvSpPr>
        <p:spPr>
          <a:xfrm>
            <a:off x="4517136" y="1682496"/>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4672584" y="1664208"/>
            <a:ext cx="304495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JWT</a:t>
            </a:r>
            <a:endParaRPr lang="en-US" sz="1800" dirty="0"/>
          </a:p>
        </p:txBody>
      </p:sp>
      <p:sp>
        <p:nvSpPr>
          <p:cNvPr id="15" name="Text 13"/>
          <p:cNvSpPr/>
          <p:nvPr/>
        </p:nvSpPr>
        <p:spPr>
          <a:xfrm>
            <a:off x="4590288" y="2148840"/>
            <a:ext cx="3054096" cy="3310128"/>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Подписанный токен с issuer и сроком действия 7 дней.</a:t>
            </a:r>
            <a:endParaRPr lang="en-US" sz="1800" dirty="0"/>
          </a:p>
        </p:txBody>
      </p:sp>
      <p:sp>
        <p:nvSpPr>
          <p:cNvPr id="16" name="Shape 14"/>
          <p:cNvSpPr/>
          <p:nvPr/>
        </p:nvSpPr>
        <p:spPr>
          <a:xfrm>
            <a:off x="8037576" y="1463040"/>
            <a:ext cx="3502152" cy="4096512"/>
          </a:xfrm>
          <a:prstGeom prst="roundRect">
            <a:avLst>
              <a:gd name="adj" fmla="val 3655"/>
            </a:avLst>
          </a:prstGeom>
          <a:solidFill>
            <a:srgbClr val="183047"/>
          </a:solidFill>
          <a:ln w="15240">
            <a:solidFill>
              <a:srgbClr val="355064"/>
            </a:solidFill>
            <a:prstDash val="solid"/>
          </a:ln>
        </p:spPr>
        <p:txBody>
          <a:bodyPr/>
          <a:lstStyle/>
          <a:p>
            <a:endParaRPr/>
          </a:p>
        </p:txBody>
      </p:sp>
      <p:sp>
        <p:nvSpPr>
          <p:cNvPr id="17" name="Shape 15"/>
          <p:cNvSpPr/>
          <p:nvPr/>
        </p:nvSpPr>
        <p:spPr>
          <a:xfrm>
            <a:off x="8193024" y="1682496"/>
            <a:ext cx="59436" cy="347472"/>
          </a:xfrm>
          <a:prstGeom prst="rect">
            <a:avLst/>
          </a:prstGeom>
          <a:solidFill>
            <a:srgbClr val="9FDFBC"/>
          </a:solidFill>
          <a:ln w="12700">
            <a:solidFill>
              <a:srgbClr val="9FDFBC"/>
            </a:solidFill>
            <a:prstDash val="solid"/>
          </a:ln>
        </p:spPr>
        <p:txBody>
          <a:bodyPr/>
          <a:lstStyle/>
          <a:p>
            <a:endParaRPr/>
          </a:p>
        </p:txBody>
      </p:sp>
      <p:sp>
        <p:nvSpPr>
          <p:cNvPr id="18" name="Text 16"/>
          <p:cNvSpPr/>
          <p:nvPr/>
        </p:nvSpPr>
        <p:spPr>
          <a:xfrm>
            <a:off x="8348472" y="1664208"/>
            <a:ext cx="304495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COOKIE</a:t>
            </a:r>
            <a:endParaRPr lang="en-US" sz="1800" dirty="0"/>
          </a:p>
        </p:txBody>
      </p:sp>
      <p:sp>
        <p:nvSpPr>
          <p:cNvPr id="19" name="Text 17"/>
          <p:cNvSpPr/>
          <p:nvPr/>
        </p:nvSpPr>
        <p:spPr>
          <a:xfrm>
            <a:off x="8266176" y="2148840"/>
            <a:ext cx="3054096" cy="3310128"/>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HttpOnly · SameSite=Lax</a:t>
            </a:r>
            <a:endParaRPr lang="en-US" sz="1800" dirty="0"/>
          </a:p>
          <a:p>
            <a:pPr marL="0" indent="0">
              <a:buNone/>
            </a:pPr>
            <a:r>
              <a:rPr lang="en-US" sz="1800" dirty="0">
                <a:solidFill>
                  <a:srgbClr val="F2F9FC"/>
                </a:solidFill>
                <a:latin typeface="Segoe UI" pitchFamily="34" charset="0"/>
                <a:ea typeface="Aptos" pitchFamily="34" charset="-122"/>
                <a:cs typeface="Aptos" pitchFamily="34" charset="-120"/>
              </a:rPr>
              <a:t>Secure при HTTPS.</a:t>
            </a:r>
            <a:endParaRPr lang="en-US" sz="1800" dirty="0"/>
          </a:p>
        </p:txBody>
      </p:sp>
      <p:sp>
        <p:nvSpPr>
          <p:cNvPr id="27" name="Rounded Rectangle 26"/>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19</a:t>
            </a:r>
          </a:p>
        </p:txBody>
      </p:sp>
      <p:sp>
        <p:nvSpPr>
          <p:cNvPr id="28"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8" name="Shape 6"/>
          <p:cNvSpPr/>
          <p:nvPr/>
        </p:nvSpPr>
        <p:spPr>
          <a:xfrm>
            <a:off x="685800" y="1463040"/>
            <a:ext cx="3502152" cy="4096512"/>
          </a:xfrm>
          <a:prstGeom prst="roundRect">
            <a:avLst>
              <a:gd name="adj" fmla="val 3655"/>
            </a:avLst>
          </a:prstGeom>
          <a:solidFill>
            <a:srgbClr val="183047"/>
          </a:solidFill>
          <a:ln w="15240">
            <a:solidFill>
              <a:srgbClr val="355064"/>
            </a:solidFill>
            <a:prstDash val="solid"/>
          </a:ln>
        </p:spPr>
        <p:txBody>
          <a:bodyPr/>
          <a:lstStyle/>
          <a:p>
            <a:endParaRPr/>
          </a:p>
        </p:txBody>
      </p:sp>
      <p:sp>
        <p:nvSpPr>
          <p:cNvPr id="9" name="Shape 7"/>
          <p:cNvSpPr/>
          <p:nvPr/>
        </p:nvSpPr>
        <p:spPr>
          <a:xfrm>
            <a:off x="841248" y="1682496"/>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996696" y="1664208"/>
            <a:ext cx="304495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BCRYPT</a:t>
            </a:r>
            <a:endParaRPr lang="en-US" sz="1800" dirty="0"/>
          </a:p>
        </p:txBody>
      </p:sp>
      <p:sp>
        <p:nvSpPr>
          <p:cNvPr id="11" name="Text 9"/>
          <p:cNvSpPr/>
          <p:nvPr/>
        </p:nvSpPr>
        <p:spPr>
          <a:xfrm>
            <a:off x="914400" y="2148840"/>
            <a:ext cx="3054096" cy="3310128"/>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Хранится хеш пароля, а не исходный текст. Cost = 12.</a:t>
            </a:r>
            <a:endParaRPr lang="en-US" sz="1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1226"/>
        </a:solidFill>
        <a:effectLst/>
      </p:bgPr>
    </p:bg>
    <p:spTree>
      <p:nvGrpSpPr>
        <p:cNvPr id="1" name=""/>
        <p:cNvGrpSpPr/>
        <p:nvPr/>
      </p:nvGrpSpPr>
      <p:grpSpPr>
        <a:xfrm>
          <a:off x="0" y="0"/>
          <a:ext cx="0" cy="0"/>
          <a:chOff x="0" y="0"/>
          <a:chExt cx="0" cy="0"/>
        </a:xfrm>
      </p:grpSpPr>
      <p:sp>
        <p:nvSpPr>
          <p:cNvPr id="29" name="Rounded Rectangle 28"/>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Изоляция данных и меры безопасности</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20</a:t>
            </a:r>
            <a:endParaRPr lang="en-US" sz="900" dirty="0"/>
          </a:p>
        </p:txBody>
      </p:sp>
      <p:sp>
        <p:nvSpPr>
          <p:cNvPr id="8" name="Shape 6"/>
          <p:cNvSpPr/>
          <p:nvPr/>
        </p:nvSpPr>
        <p:spPr>
          <a:xfrm>
            <a:off x="667512" y="1618488"/>
            <a:ext cx="5276088" cy="1682496"/>
          </a:xfrm>
          <a:prstGeom prst="roundRect">
            <a:avLst>
              <a:gd name="adj" fmla="val 7609"/>
            </a:avLst>
          </a:prstGeom>
          <a:solidFill>
            <a:srgbClr val="183047"/>
          </a:solidFill>
          <a:ln w="15240">
            <a:solidFill>
              <a:srgbClr val="355064"/>
            </a:solidFill>
            <a:prstDash val="solid"/>
          </a:ln>
        </p:spPr>
        <p:txBody>
          <a:bodyPr/>
          <a:lstStyle/>
          <a:p>
            <a:endParaRPr/>
          </a:p>
        </p:txBody>
      </p:sp>
      <p:sp>
        <p:nvSpPr>
          <p:cNvPr id="9" name="Shape 7"/>
          <p:cNvSpPr/>
          <p:nvPr/>
        </p:nvSpPr>
        <p:spPr>
          <a:xfrm>
            <a:off x="822960" y="1837944"/>
            <a:ext cx="59436" cy="347472"/>
          </a:xfrm>
          <a:prstGeom prst="rect">
            <a:avLst/>
          </a:prstGeom>
          <a:solidFill>
            <a:srgbClr val="EBC980"/>
          </a:solidFill>
          <a:ln w="12700">
            <a:solidFill>
              <a:srgbClr val="EBC980"/>
            </a:solidFill>
            <a:prstDash val="solid"/>
          </a:ln>
        </p:spPr>
        <p:txBody>
          <a:bodyPr/>
          <a:lstStyle/>
          <a:p>
            <a:endParaRPr/>
          </a:p>
        </p:txBody>
      </p:sp>
      <p:sp>
        <p:nvSpPr>
          <p:cNvPr id="10" name="Text 8"/>
          <p:cNvSpPr/>
          <p:nvPr/>
        </p:nvSpPr>
        <p:spPr>
          <a:xfrm>
            <a:off x="978408" y="1819656"/>
            <a:ext cx="4818888" cy="338328"/>
          </a:xfrm>
          <a:prstGeom prst="rect">
            <a:avLst/>
          </a:prstGeom>
          <a:noFill/>
          <a:ln/>
        </p:spPr>
        <p:txBody>
          <a:bodyPr wrap="square" lIns="0" tIns="0" rIns="0" bIns="0" rtlCol="0" anchor="ctr">
            <a:normAutofit/>
          </a:bodyPr>
          <a:lstStyle/>
          <a:p>
            <a:pPr marL="0" indent="0">
              <a:buNone/>
            </a:pPr>
            <a:r>
              <a:rPr lang="en-US" sz="1800" b="1" dirty="0">
                <a:solidFill>
                  <a:srgbClr val="EBC980"/>
                </a:solidFill>
                <a:latin typeface="Segoe UI" pitchFamily="34" charset="0"/>
                <a:ea typeface="Aptos" pitchFamily="34" charset="-122"/>
                <a:cs typeface="Aptos" pitchFamily="34" charset="-120"/>
              </a:rPr>
              <a:t>user_id</a:t>
            </a:r>
            <a:endParaRPr lang="en-US" sz="1800" dirty="0"/>
          </a:p>
        </p:txBody>
      </p:sp>
      <p:sp>
        <p:nvSpPr>
          <p:cNvPr id="11" name="Text 9"/>
          <p:cNvSpPr/>
          <p:nvPr/>
        </p:nvSpPr>
        <p:spPr>
          <a:xfrm>
            <a:off x="896112" y="2304288"/>
            <a:ext cx="4828032" cy="89611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Каждый запрос к модели проверяет владельца</a:t>
            </a:r>
            <a:endParaRPr lang="en-US" sz="1500" dirty="0"/>
          </a:p>
        </p:txBody>
      </p:sp>
      <p:sp>
        <p:nvSpPr>
          <p:cNvPr id="12" name="Shape 10"/>
          <p:cNvSpPr/>
          <p:nvPr/>
        </p:nvSpPr>
        <p:spPr>
          <a:xfrm>
            <a:off x="6227064" y="1618488"/>
            <a:ext cx="5276088" cy="1682496"/>
          </a:xfrm>
          <a:prstGeom prst="roundRect">
            <a:avLst>
              <a:gd name="adj" fmla="val 7609"/>
            </a:avLst>
          </a:prstGeom>
          <a:solidFill>
            <a:srgbClr val="183047"/>
          </a:solidFill>
          <a:ln w="15240">
            <a:solidFill>
              <a:srgbClr val="355064"/>
            </a:solidFill>
            <a:prstDash val="solid"/>
          </a:ln>
        </p:spPr>
        <p:txBody>
          <a:bodyPr/>
          <a:lstStyle/>
          <a:p>
            <a:endParaRPr/>
          </a:p>
        </p:txBody>
      </p:sp>
      <p:sp>
        <p:nvSpPr>
          <p:cNvPr id="13" name="Shape 11"/>
          <p:cNvSpPr/>
          <p:nvPr/>
        </p:nvSpPr>
        <p:spPr>
          <a:xfrm>
            <a:off x="6382512" y="1837944"/>
            <a:ext cx="59436" cy="347472"/>
          </a:xfrm>
          <a:prstGeom prst="rect">
            <a:avLst/>
          </a:prstGeom>
          <a:solidFill>
            <a:srgbClr val="42D3C4"/>
          </a:solidFill>
          <a:ln w="12700">
            <a:solidFill>
              <a:srgbClr val="42D3C4"/>
            </a:solidFill>
            <a:prstDash val="solid"/>
          </a:ln>
        </p:spPr>
        <p:txBody>
          <a:bodyPr/>
          <a:lstStyle/>
          <a:p>
            <a:endParaRPr/>
          </a:p>
        </p:txBody>
      </p:sp>
      <p:sp>
        <p:nvSpPr>
          <p:cNvPr id="14" name="Text 12"/>
          <p:cNvSpPr/>
          <p:nvPr/>
        </p:nvSpPr>
        <p:spPr>
          <a:xfrm>
            <a:off x="6537960" y="1819656"/>
            <a:ext cx="4818888"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Multer</a:t>
            </a:r>
            <a:endParaRPr lang="en-US" sz="1800" dirty="0"/>
          </a:p>
        </p:txBody>
      </p:sp>
      <p:sp>
        <p:nvSpPr>
          <p:cNvPr id="15" name="Text 13"/>
          <p:cNvSpPr/>
          <p:nvPr/>
        </p:nvSpPr>
        <p:spPr>
          <a:xfrm>
            <a:off x="6455664" y="2304288"/>
            <a:ext cx="4828032" cy="89611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Ограничение файлов и проверка содержимого</a:t>
            </a:r>
            <a:endParaRPr lang="en-US" sz="1500" dirty="0"/>
          </a:p>
        </p:txBody>
      </p:sp>
      <p:sp>
        <p:nvSpPr>
          <p:cNvPr id="20" name="Shape 18"/>
          <p:cNvSpPr/>
          <p:nvPr/>
        </p:nvSpPr>
        <p:spPr>
          <a:xfrm>
            <a:off x="6227064" y="3584448"/>
            <a:ext cx="5276088" cy="1682496"/>
          </a:xfrm>
          <a:prstGeom prst="roundRect">
            <a:avLst>
              <a:gd name="adj" fmla="val 7609"/>
            </a:avLst>
          </a:prstGeom>
          <a:solidFill>
            <a:srgbClr val="183047"/>
          </a:solidFill>
          <a:ln w="15240">
            <a:solidFill>
              <a:srgbClr val="355064"/>
            </a:solidFill>
            <a:prstDash val="solid"/>
          </a:ln>
        </p:spPr>
        <p:txBody>
          <a:bodyPr/>
          <a:lstStyle/>
          <a:p>
            <a:endParaRPr/>
          </a:p>
        </p:txBody>
      </p:sp>
      <p:sp>
        <p:nvSpPr>
          <p:cNvPr id="21" name="Shape 19"/>
          <p:cNvSpPr/>
          <p:nvPr/>
        </p:nvSpPr>
        <p:spPr>
          <a:xfrm>
            <a:off x="6382512" y="3803904"/>
            <a:ext cx="59436" cy="347472"/>
          </a:xfrm>
          <a:prstGeom prst="rect">
            <a:avLst/>
          </a:prstGeom>
          <a:solidFill>
            <a:srgbClr val="42D3C4"/>
          </a:solidFill>
          <a:ln w="12700">
            <a:solidFill>
              <a:srgbClr val="42D3C4"/>
            </a:solidFill>
            <a:prstDash val="solid"/>
          </a:ln>
        </p:spPr>
        <p:txBody>
          <a:bodyPr/>
          <a:lstStyle/>
          <a:p>
            <a:endParaRPr/>
          </a:p>
        </p:txBody>
      </p:sp>
      <p:sp>
        <p:nvSpPr>
          <p:cNvPr id="22" name="Text 20"/>
          <p:cNvSpPr/>
          <p:nvPr/>
        </p:nvSpPr>
        <p:spPr>
          <a:xfrm>
            <a:off x="6537960" y="3785616"/>
            <a:ext cx="4818888"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Rate limit</a:t>
            </a:r>
            <a:endParaRPr lang="en-US" sz="1800" dirty="0"/>
          </a:p>
        </p:txBody>
      </p:sp>
      <p:sp>
        <p:nvSpPr>
          <p:cNvPr id="23" name="Text 21"/>
          <p:cNvSpPr/>
          <p:nvPr/>
        </p:nvSpPr>
        <p:spPr>
          <a:xfrm>
            <a:off x="6455664" y="4270248"/>
            <a:ext cx="4828032" cy="89611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Ограничение частоты запросов</a:t>
            </a:r>
            <a:endParaRPr lang="en-US" sz="1500" dirty="0"/>
          </a:p>
        </p:txBody>
      </p:sp>
      <p:sp>
        <p:nvSpPr>
          <p:cNvPr id="31" name="Rounded Rectangle 30"/>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20</a:t>
            </a:r>
          </a:p>
        </p:txBody>
      </p:sp>
      <p:sp>
        <p:nvSpPr>
          <p:cNvPr id="32"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16" name="Shape 14"/>
          <p:cNvSpPr/>
          <p:nvPr/>
        </p:nvSpPr>
        <p:spPr>
          <a:xfrm>
            <a:off x="667512" y="3584448"/>
            <a:ext cx="5276088" cy="1682496"/>
          </a:xfrm>
          <a:prstGeom prst="roundRect">
            <a:avLst>
              <a:gd name="adj" fmla="val 7609"/>
            </a:avLst>
          </a:prstGeom>
          <a:solidFill>
            <a:srgbClr val="183047"/>
          </a:solidFill>
          <a:ln w="15240">
            <a:solidFill>
              <a:srgbClr val="355064"/>
            </a:solidFill>
            <a:prstDash val="solid"/>
          </a:ln>
        </p:spPr>
        <p:txBody>
          <a:bodyPr/>
          <a:lstStyle/>
          <a:p>
            <a:endParaRPr/>
          </a:p>
        </p:txBody>
      </p:sp>
      <p:sp>
        <p:nvSpPr>
          <p:cNvPr id="17" name="Shape 15"/>
          <p:cNvSpPr/>
          <p:nvPr/>
        </p:nvSpPr>
        <p:spPr>
          <a:xfrm>
            <a:off x="822960" y="3803904"/>
            <a:ext cx="59436" cy="347472"/>
          </a:xfrm>
          <a:prstGeom prst="rect">
            <a:avLst/>
          </a:prstGeom>
          <a:solidFill>
            <a:srgbClr val="42D3C4"/>
          </a:solidFill>
          <a:ln w="12700">
            <a:solidFill>
              <a:srgbClr val="42D3C4"/>
            </a:solidFill>
            <a:prstDash val="solid"/>
          </a:ln>
        </p:spPr>
        <p:txBody>
          <a:bodyPr/>
          <a:lstStyle/>
          <a:p>
            <a:endParaRPr/>
          </a:p>
        </p:txBody>
      </p:sp>
      <p:sp>
        <p:nvSpPr>
          <p:cNvPr id="18" name="Text 16"/>
          <p:cNvSpPr/>
          <p:nvPr/>
        </p:nvSpPr>
        <p:spPr>
          <a:xfrm>
            <a:off x="978408" y="3785616"/>
            <a:ext cx="4818888" cy="338328"/>
          </a:xfrm>
          <a:prstGeom prst="rect">
            <a:avLst/>
          </a:prstGeom>
          <a:noFill/>
          <a:ln/>
        </p:spPr>
        <p:txBody>
          <a:bodyPr wrap="square" lIns="0" tIns="0" rIns="0" bIns="0" rtlCol="0" anchor="ctr">
            <a:normAutofit/>
          </a:bodyPr>
          <a:lstStyle/>
          <a:p>
            <a:pPr marL="0" indent="0">
              <a:buNone/>
            </a:pPr>
            <a:r>
              <a:rPr lang="en-US" sz="1800" b="1" dirty="0">
                <a:solidFill>
                  <a:srgbClr val="42D3C4"/>
                </a:solidFill>
                <a:latin typeface="Segoe UI" pitchFamily="34" charset="0"/>
                <a:ea typeface="Aptos" pitchFamily="34" charset="-122"/>
                <a:cs typeface="Aptos" pitchFamily="34" charset="-120"/>
              </a:rPr>
              <a:t>Helmet / CSP</a:t>
            </a:r>
            <a:endParaRPr lang="en-US" sz="1800" dirty="0"/>
          </a:p>
        </p:txBody>
      </p:sp>
      <p:sp>
        <p:nvSpPr>
          <p:cNvPr id="19" name="Text 17"/>
          <p:cNvSpPr/>
          <p:nvPr/>
        </p:nvSpPr>
        <p:spPr>
          <a:xfrm>
            <a:off x="896112" y="4270248"/>
            <a:ext cx="4828032" cy="896112"/>
          </a:xfrm>
          <a:prstGeom prst="rect">
            <a:avLst/>
          </a:prstGeom>
          <a:noFill/>
          <a:ln/>
        </p:spPr>
        <p:txBody>
          <a:bodyPr wrap="square" lIns="0" tIns="0" rIns="0" bIns="0" rtlCol="0" anchor="t">
            <a:normAutofit/>
          </a:bodyPr>
          <a:lstStyle/>
          <a:p>
            <a:pPr marL="0" indent="0">
              <a:buNone/>
            </a:pPr>
            <a:r>
              <a:rPr lang="en-US" sz="1500" dirty="0">
                <a:solidFill>
                  <a:srgbClr val="F2F9FC"/>
                </a:solidFill>
                <a:latin typeface="Segoe UI" pitchFamily="34" charset="0"/>
                <a:ea typeface="Aptos" pitchFamily="34" charset="-122"/>
                <a:cs typeface="Aptos" pitchFamily="34" charset="-120"/>
              </a:rPr>
              <a:t>Защитные HTTP-заголовки</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1226"/>
        </a:solidFill>
        <a:effectLst/>
      </p:bgPr>
    </p:bg>
    <p:spTree>
      <p:nvGrpSpPr>
        <p:cNvPr id="1" name=""/>
        <p:cNvGrpSpPr/>
        <p:nvPr/>
      </p:nvGrpSpPr>
      <p:grpSpPr>
        <a:xfrm>
          <a:off x="0" y="0"/>
          <a:ext cx="0" cy="0"/>
          <a:chOff x="0" y="0"/>
          <a:chExt cx="0" cy="0"/>
        </a:xfrm>
      </p:grpSpPr>
      <p:sp>
        <p:nvSpPr>
          <p:cNvPr id="29" name="Rounded Rectangle 28"/>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Хранение: квоты и контроль конкурентных загрузок</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21</a:t>
            </a:r>
            <a:endParaRPr lang="en-US" sz="900" dirty="0"/>
          </a:p>
        </p:txBody>
      </p:sp>
      <p:sp>
        <p:nvSpPr>
          <p:cNvPr id="8" name="Shape 6"/>
          <p:cNvSpPr/>
          <p:nvPr/>
        </p:nvSpPr>
        <p:spPr>
          <a:xfrm>
            <a:off x="658368" y="1536192"/>
            <a:ext cx="3401568" cy="1673352"/>
          </a:xfrm>
          <a:prstGeom prst="roundRect">
            <a:avLst>
              <a:gd name="adj" fmla="val 7650"/>
            </a:avLst>
          </a:prstGeom>
          <a:solidFill>
            <a:srgbClr val="183047"/>
          </a:solidFill>
          <a:ln w="15240">
            <a:solidFill>
              <a:srgbClr val="355064"/>
            </a:solidFill>
            <a:prstDash val="solid"/>
          </a:ln>
        </p:spPr>
        <p:txBody>
          <a:bodyPr/>
          <a:lstStyle/>
          <a:p>
            <a:endParaRPr/>
          </a:p>
        </p:txBody>
      </p:sp>
      <p:sp>
        <p:nvSpPr>
          <p:cNvPr id="9" name="Text 7"/>
          <p:cNvSpPr/>
          <p:nvPr/>
        </p:nvSpPr>
        <p:spPr>
          <a:xfrm>
            <a:off x="877824" y="1719072"/>
            <a:ext cx="9144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42D3C4"/>
                </a:solidFill>
                <a:latin typeface="Segoe UI" pitchFamily="34" charset="0"/>
                <a:ea typeface="Aptos" pitchFamily="34" charset="-122"/>
                <a:cs typeface="Aptos" pitchFamily="34" charset="-120"/>
              </a:rPr>
              <a:t>10</a:t>
            </a:r>
            <a:endParaRPr lang="en-US" sz="3600" dirty="0"/>
          </a:p>
        </p:txBody>
      </p:sp>
      <p:sp>
        <p:nvSpPr>
          <p:cNvPr id="10" name="Text 8"/>
          <p:cNvSpPr/>
          <p:nvPr/>
        </p:nvSpPr>
        <p:spPr>
          <a:xfrm>
            <a:off x="1691640" y="1755648"/>
            <a:ext cx="2212848" cy="356616"/>
          </a:xfrm>
          <a:prstGeom prst="rect">
            <a:avLst/>
          </a:prstGeom>
          <a:noFill/>
          <a:ln/>
        </p:spPr>
        <p:txBody>
          <a:bodyPr wrap="square" lIns="0" tIns="0" rIns="0" bIns="0" rtlCol="0" anchor="ctr">
            <a:normAutofit/>
          </a:bodyPr>
          <a:lstStyle/>
          <a:p>
            <a:pPr marL="0" indent="0">
              <a:buNone/>
            </a:pPr>
            <a:r>
              <a:rPr lang="en-US" sz="1700" b="1" dirty="0">
                <a:solidFill>
                  <a:srgbClr val="F2F9FC"/>
                </a:solidFill>
                <a:latin typeface="Segoe UI" pitchFamily="34" charset="0"/>
                <a:ea typeface="Aptos" pitchFamily="34" charset="-122"/>
                <a:cs typeface="Aptos" pitchFamily="34" charset="-120"/>
              </a:rPr>
              <a:t>МБ / файл</a:t>
            </a:r>
            <a:endParaRPr lang="en-US" sz="1700" dirty="0"/>
          </a:p>
        </p:txBody>
      </p:sp>
      <p:sp>
        <p:nvSpPr>
          <p:cNvPr id="11" name="Text 9"/>
          <p:cNvSpPr/>
          <p:nvPr/>
        </p:nvSpPr>
        <p:spPr>
          <a:xfrm>
            <a:off x="877824" y="2542032"/>
            <a:ext cx="2880360" cy="420624"/>
          </a:xfrm>
          <a:prstGeom prst="rect">
            <a:avLst/>
          </a:prstGeom>
          <a:noFill/>
          <a:ln/>
        </p:spPr>
        <p:txBody>
          <a:bodyPr wrap="square" lIns="0" tIns="0" rIns="0" bIns="0" rtlCol="0" anchor="ctr">
            <a:normAutofit/>
          </a:bodyPr>
          <a:lstStyle/>
          <a:p>
            <a:pPr marL="0" indent="0">
              <a:buNone/>
            </a:pPr>
            <a:r>
              <a:rPr lang="en-US" sz="1300" dirty="0">
                <a:solidFill>
                  <a:srgbClr val="ADC3D1"/>
                </a:solidFill>
                <a:latin typeface="Segoe UI" pitchFamily="34" charset="0"/>
                <a:ea typeface="Aptos" pitchFamily="34" charset="-122"/>
                <a:cs typeface="Aptos" pitchFamily="34" charset="-120"/>
              </a:rPr>
              <a:t>предел загрузки</a:t>
            </a:r>
            <a:endParaRPr lang="en-US" sz="1300" dirty="0"/>
          </a:p>
        </p:txBody>
      </p:sp>
      <p:sp>
        <p:nvSpPr>
          <p:cNvPr id="12" name="Shape 10"/>
          <p:cNvSpPr/>
          <p:nvPr/>
        </p:nvSpPr>
        <p:spPr>
          <a:xfrm>
            <a:off x="4407408" y="1536192"/>
            <a:ext cx="3401568" cy="1673352"/>
          </a:xfrm>
          <a:prstGeom prst="roundRect">
            <a:avLst>
              <a:gd name="adj" fmla="val 7650"/>
            </a:avLst>
          </a:prstGeom>
          <a:solidFill>
            <a:srgbClr val="183047"/>
          </a:solidFill>
          <a:ln w="15240">
            <a:solidFill>
              <a:srgbClr val="355064"/>
            </a:solidFill>
            <a:prstDash val="solid"/>
          </a:ln>
        </p:spPr>
        <p:txBody>
          <a:bodyPr/>
          <a:lstStyle/>
          <a:p>
            <a:endParaRPr/>
          </a:p>
        </p:txBody>
      </p:sp>
      <p:sp>
        <p:nvSpPr>
          <p:cNvPr id="13" name="Text 11"/>
          <p:cNvSpPr/>
          <p:nvPr/>
        </p:nvSpPr>
        <p:spPr>
          <a:xfrm>
            <a:off x="4626864" y="1719072"/>
            <a:ext cx="9144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42D3C4"/>
                </a:solidFill>
                <a:latin typeface="Segoe UI" pitchFamily="34" charset="0"/>
                <a:ea typeface="Aptos" pitchFamily="34" charset="-122"/>
                <a:cs typeface="Aptos" pitchFamily="34" charset="-120"/>
              </a:rPr>
              <a:t>100</a:t>
            </a:r>
            <a:endParaRPr lang="en-US" sz="3600" dirty="0"/>
          </a:p>
        </p:txBody>
      </p:sp>
      <p:sp>
        <p:nvSpPr>
          <p:cNvPr id="14" name="Text 12"/>
          <p:cNvSpPr/>
          <p:nvPr/>
        </p:nvSpPr>
        <p:spPr>
          <a:xfrm>
            <a:off x="5440680" y="1755648"/>
            <a:ext cx="2212848" cy="356616"/>
          </a:xfrm>
          <a:prstGeom prst="rect">
            <a:avLst/>
          </a:prstGeom>
          <a:noFill/>
          <a:ln/>
        </p:spPr>
        <p:txBody>
          <a:bodyPr wrap="square" lIns="0" tIns="0" rIns="0" bIns="0" rtlCol="0" anchor="ctr">
            <a:normAutofit/>
          </a:bodyPr>
          <a:lstStyle/>
          <a:p>
            <a:pPr marL="0" indent="0">
              <a:buNone/>
            </a:pPr>
            <a:r>
              <a:rPr lang="en-US" sz="1700" b="1" dirty="0">
                <a:solidFill>
                  <a:srgbClr val="F2F9FC"/>
                </a:solidFill>
                <a:latin typeface="Segoe UI" pitchFamily="34" charset="0"/>
                <a:ea typeface="Aptos" pitchFamily="34" charset="-122"/>
                <a:cs typeface="Aptos" pitchFamily="34" charset="-120"/>
              </a:rPr>
              <a:t>моделей</a:t>
            </a:r>
            <a:endParaRPr lang="en-US" sz="1700" dirty="0"/>
          </a:p>
        </p:txBody>
      </p:sp>
      <p:sp>
        <p:nvSpPr>
          <p:cNvPr id="15" name="Text 13"/>
          <p:cNvSpPr/>
          <p:nvPr/>
        </p:nvSpPr>
        <p:spPr>
          <a:xfrm>
            <a:off x="4626864" y="2542032"/>
            <a:ext cx="2880360" cy="420624"/>
          </a:xfrm>
          <a:prstGeom prst="rect">
            <a:avLst/>
          </a:prstGeom>
          <a:noFill/>
          <a:ln/>
        </p:spPr>
        <p:txBody>
          <a:bodyPr wrap="square" lIns="0" tIns="0" rIns="0" bIns="0" rtlCol="0" anchor="ctr">
            <a:normAutofit/>
          </a:bodyPr>
          <a:lstStyle/>
          <a:p>
            <a:pPr marL="0" indent="0">
              <a:buNone/>
            </a:pPr>
            <a:r>
              <a:rPr lang="en-US" sz="1300" dirty="0">
                <a:solidFill>
                  <a:srgbClr val="ADC3D1"/>
                </a:solidFill>
                <a:latin typeface="Segoe UI" pitchFamily="34" charset="0"/>
                <a:ea typeface="Aptos" pitchFamily="34" charset="-122"/>
                <a:cs typeface="Aptos" pitchFamily="34" charset="-120"/>
              </a:rPr>
              <a:t>квота на аккаунт</a:t>
            </a:r>
            <a:endParaRPr lang="en-US" sz="1300" dirty="0"/>
          </a:p>
        </p:txBody>
      </p:sp>
      <p:sp>
        <p:nvSpPr>
          <p:cNvPr id="16" name="Shape 14"/>
          <p:cNvSpPr/>
          <p:nvPr/>
        </p:nvSpPr>
        <p:spPr>
          <a:xfrm>
            <a:off x="8156448" y="1536192"/>
            <a:ext cx="3401568" cy="1673352"/>
          </a:xfrm>
          <a:prstGeom prst="roundRect">
            <a:avLst>
              <a:gd name="adj" fmla="val 7650"/>
            </a:avLst>
          </a:prstGeom>
          <a:solidFill>
            <a:srgbClr val="183047"/>
          </a:solidFill>
          <a:ln w="15240">
            <a:solidFill>
              <a:srgbClr val="355064"/>
            </a:solidFill>
            <a:prstDash val="solid"/>
          </a:ln>
        </p:spPr>
        <p:txBody>
          <a:bodyPr/>
          <a:lstStyle/>
          <a:p>
            <a:endParaRPr/>
          </a:p>
        </p:txBody>
      </p:sp>
      <p:sp>
        <p:nvSpPr>
          <p:cNvPr id="17" name="Text 15"/>
          <p:cNvSpPr/>
          <p:nvPr/>
        </p:nvSpPr>
        <p:spPr>
          <a:xfrm>
            <a:off x="8375904" y="1719072"/>
            <a:ext cx="914400" cy="502920"/>
          </a:xfrm>
          <a:prstGeom prst="rect">
            <a:avLst/>
          </a:prstGeom>
          <a:noFill/>
          <a:ln/>
        </p:spPr>
        <p:txBody>
          <a:bodyPr wrap="square" lIns="0" tIns="0" rIns="0" bIns="0" rtlCol="0" anchor="ctr">
            <a:normAutofit lnSpcReduction="10000"/>
          </a:bodyPr>
          <a:lstStyle/>
          <a:p>
            <a:pPr marL="0" indent="0">
              <a:buNone/>
            </a:pPr>
            <a:r>
              <a:rPr lang="en-US" sz="3600" b="1" dirty="0">
                <a:solidFill>
                  <a:srgbClr val="42D3C4"/>
                </a:solidFill>
                <a:latin typeface="Segoe UI" pitchFamily="34" charset="0"/>
                <a:ea typeface="Aptos" pitchFamily="34" charset="-122"/>
                <a:cs typeface="Aptos" pitchFamily="34" charset="-120"/>
              </a:rPr>
              <a:t>100</a:t>
            </a:r>
            <a:endParaRPr lang="en-US" sz="3600" dirty="0"/>
          </a:p>
        </p:txBody>
      </p:sp>
      <p:sp>
        <p:nvSpPr>
          <p:cNvPr id="18" name="Text 16"/>
          <p:cNvSpPr/>
          <p:nvPr/>
        </p:nvSpPr>
        <p:spPr>
          <a:xfrm>
            <a:off x="9189720" y="1755648"/>
            <a:ext cx="2212848" cy="356616"/>
          </a:xfrm>
          <a:prstGeom prst="rect">
            <a:avLst/>
          </a:prstGeom>
          <a:noFill/>
          <a:ln/>
        </p:spPr>
        <p:txBody>
          <a:bodyPr wrap="square" lIns="0" tIns="0" rIns="0" bIns="0" rtlCol="0" anchor="ctr">
            <a:normAutofit/>
          </a:bodyPr>
          <a:lstStyle/>
          <a:p>
            <a:pPr marL="0" indent="0">
              <a:buNone/>
            </a:pPr>
            <a:r>
              <a:rPr lang="en-US" sz="1700" b="1" dirty="0">
                <a:solidFill>
                  <a:srgbClr val="F2F9FC"/>
                </a:solidFill>
                <a:latin typeface="Segoe UI" pitchFamily="34" charset="0"/>
                <a:ea typeface="Aptos" pitchFamily="34" charset="-122"/>
                <a:cs typeface="Aptos" pitchFamily="34" charset="-120"/>
              </a:rPr>
              <a:t>МБ / аккаунт</a:t>
            </a:r>
            <a:endParaRPr lang="en-US" sz="1700" dirty="0"/>
          </a:p>
        </p:txBody>
      </p:sp>
      <p:sp>
        <p:nvSpPr>
          <p:cNvPr id="19" name="Text 17"/>
          <p:cNvSpPr/>
          <p:nvPr/>
        </p:nvSpPr>
        <p:spPr>
          <a:xfrm>
            <a:off x="8375904" y="2542032"/>
            <a:ext cx="2880360" cy="420624"/>
          </a:xfrm>
          <a:prstGeom prst="rect">
            <a:avLst/>
          </a:prstGeom>
          <a:noFill/>
          <a:ln/>
        </p:spPr>
        <p:txBody>
          <a:bodyPr wrap="square" lIns="0" tIns="0" rIns="0" bIns="0" rtlCol="0" anchor="ctr">
            <a:normAutofit/>
          </a:bodyPr>
          <a:lstStyle/>
          <a:p>
            <a:pPr marL="0" indent="0">
              <a:buNone/>
            </a:pPr>
            <a:r>
              <a:rPr lang="en-US" sz="1300" dirty="0">
                <a:solidFill>
                  <a:srgbClr val="ADC3D1"/>
                </a:solidFill>
                <a:latin typeface="Segoe UI" pitchFamily="34" charset="0"/>
                <a:ea typeface="Aptos" pitchFamily="34" charset="-122"/>
                <a:cs typeface="Aptos" pitchFamily="34" charset="-120"/>
              </a:rPr>
              <a:t>общий объём</a:t>
            </a:r>
            <a:endParaRPr lang="en-US" sz="1300" dirty="0"/>
          </a:p>
        </p:txBody>
      </p:sp>
      <p:sp>
        <p:nvSpPr>
          <p:cNvPr id="20" name="Shape 18"/>
          <p:cNvSpPr/>
          <p:nvPr/>
        </p:nvSpPr>
        <p:spPr>
          <a:xfrm>
            <a:off x="658368" y="3685032"/>
            <a:ext cx="10881360" cy="1581912"/>
          </a:xfrm>
          <a:prstGeom prst="roundRect">
            <a:avLst>
              <a:gd name="adj" fmla="val 8092"/>
            </a:avLst>
          </a:prstGeom>
          <a:solidFill>
            <a:srgbClr val="183047"/>
          </a:solidFill>
          <a:ln w="15240">
            <a:solidFill>
              <a:srgbClr val="355064"/>
            </a:solidFill>
            <a:prstDash val="solid"/>
          </a:ln>
        </p:spPr>
        <p:txBody>
          <a:bodyPr/>
          <a:lstStyle/>
          <a:p>
            <a:endParaRPr/>
          </a:p>
        </p:txBody>
      </p:sp>
      <p:sp>
        <p:nvSpPr>
          <p:cNvPr id="21" name="Shape 19"/>
          <p:cNvSpPr/>
          <p:nvPr/>
        </p:nvSpPr>
        <p:spPr>
          <a:xfrm>
            <a:off x="813816" y="3904488"/>
            <a:ext cx="59436" cy="347472"/>
          </a:xfrm>
          <a:prstGeom prst="rect">
            <a:avLst/>
          </a:prstGeom>
          <a:solidFill>
            <a:srgbClr val="42D3C4"/>
          </a:solidFill>
          <a:ln w="12700">
            <a:solidFill>
              <a:srgbClr val="42D3C4"/>
            </a:solidFill>
            <a:prstDash val="solid"/>
          </a:ln>
        </p:spPr>
        <p:txBody>
          <a:bodyPr/>
          <a:lstStyle/>
          <a:p>
            <a:endParaRPr/>
          </a:p>
        </p:txBody>
      </p:sp>
      <p:sp>
        <p:nvSpPr>
          <p:cNvPr id="22" name="Text 20"/>
          <p:cNvSpPr/>
          <p:nvPr/>
        </p:nvSpPr>
        <p:spPr>
          <a:xfrm>
            <a:off x="969264" y="3886200"/>
            <a:ext cx="10424160"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ЗАЩИТА В ТРАНЗАКЦИИ</a:t>
            </a:r>
            <a:endParaRPr lang="en-US" sz="1800" dirty="0"/>
          </a:p>
        </p:txBody>
      </p:sp>
      <p:sp>
        <p:nvSpPr>
          <p:cNvPr id="23" name="Text 21"/>
          <p:cNvSpPr/>
          <p:nvPr/>
        </p:nvSpPr>
        <p:spPr>
          <a:xfrm>
            <a:off x="886968" y="4370832"/>
            <a:ext cx="10433304" cy="795528"/>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BEGIN → SELECT FOR UPDATE → проверка квоты → INSERT → COMMIT</a:t>
            </a:r>
            <a:endParaRPr lang="en-US" sz="1800" dirty="0"/>
          </a:p>
        </p:txBody>
      </p:sp>
      <p:sp>
        <p:nvSpPr>
          <p:cNvPr id="31" name="Rounded Rectangle 30"/>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21</a:t>
            </a:r>
          </a:p>
        </p:txBody>
      </p:sp>
      <p:sp>
        <p:nvSpPr>
          <p:cNvPr id="32" name="Oval 26"/>
          <p:cNvSpPr/>
          <p:nvPr/>
        </p:nvSpPr>
        <p:spPr>
          <a:xfrm>
            <a:off x="-685800" y="512978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1226"/>
        </a:solidFill>
        <a:effectLst/>
      </p:bgPr>
    </p:bg>
    <p:spTree>
      <p:nvGrpSpPr>
        <p:cNvPr id="1" name=""/>
        <p:cNvGrpSpPr/>
        <p:nvPr/>
      </p:nvGrpSpPr>
      <p:grpSpPr>
        <a:xfrm>
          <a:off x="0" y="0"/>
          <a:ext cx="0" cy="0"/>
          <a:chOff x="0" y="0"/>
          <a:chExt cx="0" cy="0"/>
        </a:xfrm>
      </p:grpSpPr>
      <p:sp>
        <p:nvSpPr>
          <p:cNvPr id="23" name="Rounded Rectangle 22"/>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0080" y="5303520"/>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Личная библиотека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22</a:t>
            </a:r>
            <a:endParaRPr lang="en-US" sz="900" dirty="0"/>
          </a:p>
        </p:txBody>
      </p:sp>
      <p:sp>
        <p:nvSpPr>
          <p:cNvPr id="8" name="Shape 6"/>
          <p:cNvSpPr/>
          <p:nvPr/>
        </p:nvSpPr>
        <p:spPr>
          <a:xfrm>
            <a:off x="804672" y="1746504"/>
            <a:ext cx="100584" cy="100584"/>
          </a:xfrm>
          <a:prstGeom prst="ellipse">
            <a:avLst/>
          </a:prstGeom>
          <a:solidFill>
            <a:srgbClr val="42D3C4"/>
          </a:solidFill>
          <a:ln w="12700">
            <a:solidFill>
              <a:srgbClr val="42D3C4"/>
            </a:solidFill>
            <a:prstDash val="solid"/>
          </a:ln>
        </p:spPr>
        <p:txBody>
          <a:bodyPr/>
          <a:lstStyle/>
          <a:p>
            <a:endParaRPr/>
          </a:p>
        </p:txBody>
      </p:sp>
      <p:sp>
        <p:nvSpPr>
          <p:cNvPr id="9" name="Text 7"/>
          <p:cNvSpPr/>
          <p:nvPr/>
        </p:nvSpPr>
        <p:spPr>
          <a:xfrm>
            <a:off x="1097280" y="1618488"/>
            <a:ext cx="10360152" cy="438912"/>
          </a:xfrm>
          <a:prstGeom prst="rect">
            <a:avLst/>
          </a:prstGeom>
          <a:noFill/>
          <a:ln/>
        </p:spPr>
        <p:txBody>
          <a:bodyPr wrap="square" lIns="0" tIns="0" rIns="0" bIns="0" rtlCol="0" anchor="t">
            <a:normAutofit/>
          </a:bodyPr>
          <a:lstStyle/>
          <a:p>
            <a:pPr marL="0" indent="0">
              <a:buNone/>
            </a:pPr>
            <a:r>
              <a:rPr lang="en-US" sz="2100" dirty="0">
                <a:solidFill>
                  <a:srgbClr val="F2F9FC"/>
                </a:solidFill>
                <a:latin typeface="Segoe UI" pitchFamily="34" charset="0"/>
                <a:ea typeface="Aptos" pitchFamily="34" charset="-122"/>
                <a:cs typeface="Aptos" pitchFamily="34" charset="-120"/>
              </a:rPr>
              <a:t>Поиск по названию с фильтром формата.</a:t>
            </a:r>
            <a:endParaRPr lang="en-US" sz="2100" dirty="0"/>
          </a:p>
        </p:txBody>
      </p:sp>
      <p:sp>
        <p:nvSpPr>
          <p:cNvPr id="10" name="Shape 8"/>
          <p:cNvSpPr/>
          <p:nvPr/>
        </p:nvSpPr>
        <p:spPr>
          <a:xfrm>
            <a:off x="804672" y="2569464"/>
            <a:ext cx="100584" cy="100584"/>
          </a:xfrm>
          <a:prstGeom prst="ellipse">
            <a:avLst/>
          </a:prstGeom>
          <a:solidFill>
            <a:srgbClr val="42D3C4"/>
          </a:solidFill>
          <a:ln w="12700">
            <a:solidFill>
              <a:srgbClr val="42D3C4"/>
            </a:solidFill>
            <a:prstDash val="solid"/>
          </a:ln>
        </p:spPr>
        <p:txBody>
          <a:bodyPr/>
          <a:lstStyle/>
          <a:p>
            <a:endParaRPr/>
          </a:p>
        </p:txBody>
      </p:sp>
      <p:sp>
        <p:nvSpPr>
          <p:cNvPr id="11" name="Text 9"/>
          <p:cNvSpPr/>
          <p:nvPr/>
        </p:nvSpPr>
        <p:spPr>
          <a:xfrm>
            <a:off x="1097280" y="2441448"/>
            <a:ext cx="10360152" cy="438912"/>
          </a:xfrm>
          <a:prstGeom prst="rect">
            <a:avLst/>
          </a:prstGeom>
          <a:noFill/>
          <a:ln/>
        </p:spPr>
        <p:txBody>
          <a:bodyPr wrap="square" lIns="0" tIns="0" rIns="0" bIns="0" rtlCol="0" anchor="t">
            <a:normAutofit/>
          </a:bodyPr>
          <a:lstStyle/>
          <a:p>
            <a:pPr marL="0" indent="0">
              <a:buNone/>
            </a:pPr>
            <a:r>
              <a:rPr lang="en-US" sz="2100" dirty="0">
                <a:solidFill>
                  <a:srgbClr val="F2F9FC"/>
                </a:solidFill>
                <a:latin typeface="Segoe UI" pitchFamily="34" charset="0"/>
                <a:ea typeface="Aptos" pitchFamily="34" charset="-122"/>
                <a:cs typeface="Aptos" pitchFamily="34" charset="-120"/>
              </a:rPr>
              <a:t>Сортировка по дате или имени.</a:t>
            </a:r>
            <a:endParaRPr lang="en-US" sz="2100" dirty="0"/>
          </a:p>
        </p:txBody>
      </p:sp>
      <p:sp>
        <p:nvSpPr>
          <p:cNvPr id="12" name="Shape 10"/>
          <p:cNvSpPr/>
          <p:nvPr/>
        </p:nvSpPr>
        <p:spPr>
          <a:xfrm>
            <a:off x="804672" y="3392424"/>
            <a:ext cx="100584" cy="100584"/>
          </a:xfrm>
          <a:prstGeom prst="ellipse">
            <a:avLst/>
          </a:prstGeom>
          <a:solidFill>
            <a:srgbClr val="42D3C4"/>
          </a:solidFill>
          <a:ln w="12700">
            <a:solidFill>
              <a:srgbClr val="42D3C4"/>
            </a:solidFill>
            <a:prstDash val="solid"/>
          </a:ln>
        </p:spPr>
        <p:txBody>
          <a:bodyPr/>
          <a:lstStyle/>
          <a:p>
            <a:endParaRPr/>
          </a:p>
        </p:txBody>
      </p:sp>
      <p:sp>
        <p:nvSpPr>
          <p:cNvPr id="13" name="Text 11"/>
          <p:cNvSpPr/>
          <p:nvPr/>
        </p:nvSpPr>
        <p:spPr>
          <a:xfrm>
            <a:off x="1097280" y="3264408"/>
            <a:ext cx="10360152" cy="438912"/>
          </a:xfrm>
          <a:prstGeom prst="rect">
            <a:avLst/>
          </a:prstGeom>
          <a:noFill/>
          <a:ln/>
        </p:spPr>
        <p:txBody>
          <a:bodyPr wrap="square" lIns="0" tIns="0" rIns="0" bIns="0" rtlCol="0" anchor="t">
            <a:normAutofit/>
          </a:bodyPr>
          <a:lstStyle/>
          <a:p>
            <a:pPr marL="0" indent="0">
              <a:buNone/>
            </a:pPr>
            <a:r>
              <a:rPr lang="en-US" sz="2100" dirty="0">
                <a:solidFill>
                  <a:srgbClr val="F2F9FC"/>
                </a:solidFill>
                <a:latin typeface="Segoe UI" pitchFamily="34" charset="0"/>
                <a:ea typeface="Aptos" pitchFamily="34" charset="-122"/>
                <a:cs typeface="Aptos" pitchFamily="34" charset="-120"/>
              </a:rPr>
              <a:t>Выдача по 12 моделей на страницу.</a:t>
            </a:r>
            <a:endParaRPr lang="en-US" sz="2100" dirty="0"/>
          </a:p>
        </p:txBody>
      </p:sp>
      <p:sp>
        <p:nvSpPr>
          <p:cNvPr id="14" name="Shape 12"/>
          <p:cNvSpPr/>
          <p:nvPr/>
        </p:nvSpPr>
        <p:spPr>
          <a:xfrm>
            <a:off x="804672" y="4215384"/>
            <a:ext cx="100584" cy="100584"/>
          </a:xfrm>
          <a:prstGeom prst="ellipse">
            <a:avLst/>
          </a:prstGeom>
          <a:solidFill>
            <a:srgbClr val="42D3C4"/>
          </a:solidFill>
          <a:ln w="12700">
            <a:solidFill>
              <a:srgbClr val="42D3C4"/>
            </a:solidFill>
            <a:prstDash val="solid"/>
          </a:ln>
        </p:spPr>
        <p:txBody>
          <a:bodyPr/>
          <a:lstStyle/>
          <a:p>
            <a:endParaRPr/>
          </a:p>
        </p:txBody>
      </p:sp>
      <p:sp>
        <p:nvSpPr>
          <p:cNvPr id="15" name="Text 13"/>
          <p:cNvSpPr/>
          <p:nvPr/>
        </p:nvSpPr>
        <p:spPr>
          <a:xfrm>
            <a:off x="1097280" y="4087368"/>
            <a:ext cx="10360152" cy="438912"/>
          </a:xfrm>
          <a:prstGeom prst="rect">
            <a:avLst/>
          </a:prstGeom>
          <a:noFill/>
          <a:ln/>
        </p:spPr>
        <p:txBody>
          <a:bodyPr wrap="square" lIns="0" tIns="0" rIns="0" bIns="0" rtlCol="0" anchor="t">
            <a:normAutofit/>
          </a:bodyPr>
          <a:lstStyle/>
          <a:p>
            <a:pPr marL="0" indent="0">
              <a:buNone/>
            </a:pPr>
            <a:r>
              <a:rPr lang="en-US" sz="2100" dirty="0">
                <a:solidFill>
                  <a:srgbClr val="F2F9FC"/>
                </a:solidFill>
                <a:latin typeface="Segoe UI" pitchFamily="34" charset="0"/>
                <a:ea typeface="Aptos" pitchFamily="34" charset="-122"/>
                <a:cs typeface="Aptos" pitchFamily="34" charset="-120"/>
              </a:rPr>
              <a:t>Предпросмотр, переименование, скачивание.</a:t>
            </a:r>
            <a:endParaRPr lang="en-US" sz="2100" dirty="0"/>
          </a:p>
        </p:txBody>
      </p:sp>
      <p:sp>
        <p:nvSpPr>
          <p:cNvPr id="16" name="Shape 14"/>
          <p:cNvSpPr/>
          <p:nvPr/>
        </p:nvSpPr>
        <p:spPr>
          <a:xfrm>
            <a:off x="804672" y="5038344"/>
            <a:ext cx="100584" cy="100584"/>
          </a:xfrm>
          <a:prstGeom prst="ellipse">
            <a:avLst/>
          </a:prstGeom>
          <a:solidFill>
            <a:srgbClr val="42D3C4"/>
          </a:solidFill>
          <a:ln w="12700">
            <a:solidFill>
              <a:srgbClr val="42D3C4"/>
            </a:solidFill>
            <a:prstDash val="solid"/>
          </a:ln>
        </p:spPr>
        <p:txBody>
          <a:bodyPr/>
          <a:lstStyle/>
          <a:p>
            <a:endParaRPr/>
          </a:p>
        </p:txBody>
      </p:sp>
      <p:sp>
        <p:nvSpPr>
          <p:cNvPr id="17" name="Text 15"/>
          <p:cNvSpPr/>
          <p:nvPr/>
        </p:nvSpPr>
        <p:spPr>
          <a:xfrm>
            <a:off x="1097280" y="4910328"/>
            <a:ext cx="10360152" cy="438912"/>
          </a:xfrm>
          <a:prstGeom prst="rect">
            <a:avLst/>
          </a:prstGeom>
          <a:noFill/>
          <a:ln/>
        </p:spPr>
        <p:txBody>
          <a:bodyPr wrap="square" lIns="0" tIns="0" rIns="0" bIns="0" rtlCol="0" anchor="t">
            <a:normAutofit/>
          </a:bodyPr>
          <a:lstStyle/>
          <a:p>
            <a:pPr marL="0" indent="0">
              <a:buNone/>
            </a:pPr>
            <a:r>
              <a:rPr lang="en-US" sz="2100" dirty="0">
                <a:solidFill>
                  <a:srgbClr val="F2F9FC"/>
                </a:solidFill>
                <a:latin typeface="Segoe UI" pitchFamily="34" charset="0"/>
                <a:ea typeface="Aptos" pitchFamily="34" charset="-122"/>
                <a:cs typeface="Aptos" pitchFamily="34" charset="-120"/>
              </a:rPr>
              <a:t>Удаление с подтверждением.</a:t>
            </a:r>
            <a:endParaRPr lang="en-US" sz="2100" dirty="0"/>
          </a:p>
        </p:txBody>
      </p:sp>
      <p:sp>
        <p:nvSpPr>
          <p:cNvPr id="24" name="TextBox 23"/>
          <p:cNvSpPr txBox="1"/>
          <p:nvPr/>
        </p:nvSpPr>
        <p:spPr>
          <a:xfrm>
            <a:off x="384048" y="6519672"/>
            <a:ext cx="6583680" cy="201168"/>
          </a:xfrm>
          <a:prstGeom prst="rect">
            <a:avLst/>
          </a:prstGeom>
          <a:noFill/>
        </p:spPr>
        <p:txBody>
          <a:bodyPr wrap="none">
            <a:spAutoFit/>
          </a:bodyPr>
          <a:lstStyle/>
          <a:p>
            <a:r>
              <a:rPr sz="1250">
                <a:solidFill>
                  <a:srgbClr val="B0C6DE"/>
                </a:solidFill>
                <a:latin typeface="Segoe UI"/>
              </a:rPr>
              <a:t>Вашкинель Олег и Денисов Вячеслав • 23ИС4-1</a:t>
            </a:r>
          </a:p>
        </p:txBody>
      </p:sp>
      <p:sp>
        <p:nvSpPr>
          <p:cNvPr id="25" name="Rounded Rectangle 24"/>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1226"/>
        </a:solidFill>
        <a:effectLst/>
      </p:bgPr>
    </p:bg>
    <p:spTree>
      <p:nvGrpSpPr>
        <p:cNvPr id="1" name=""/>
        <p:cNvGrpSpPr/>
        <p:nvPr/>
      </p:nvGrpSpPr>
      <p:grpSpPr>
        <a:xfrm>
          <a:off x="0" y="0"/>
          <a:ext cx="0" cy="0"/>
          <a:chOff x="0" y="0"/>
          <a:chExt cx="0" cy="0"/>
        </a:xfrm>
      </p:grpSpPr>
      <p:sp>
        <p:nvSpPr>
          <p:cNvPr id="24" name="Rounded Rectangle 23"/>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Проверки: фактический результат</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23</a:t>
            </a:r>
            <a:endParaRPr lang="en-US" sz="900" dirty="0"/>
          </a:p>
        </p:txBody>
      </p:sp>
      <p:sp>
        <p:nvSpPr>
          <p:cNvPr id="8" name="Shape 6"/>
          <p:cNvSpPr/>
          <p:nvPr/>
        </p:nvSpPr>
        <p:spPr>
          <a:xfrm>
            <a:off x="685800" y="1508760"/>
            <a:ext cx="10835640" cy="3063240"/>
          </a:xfrm>
          <a:prstGeom prst="roundRect">
            <a:avLst>
              <a:gd name="adj" fmla="val 4179"/>
            </a:avLst>
          </a:prstGeom>
          <a:solidFill>
            <a:srgbClr val="152B41"/>
          </a:solidFill>
          <a:ln w="15240">
            <a:solidFill>
              <a:srgbClr val="355064"/>
            </a:solidFill>
            <a:prstDash val="solid"/>
          </a:ln>
        </p:spPr>
        <p:txBody>
          <a:bodyPr/>
          <a:lstStyle/>
          <a:p>
            <a:endParaRPr/>
          </a:p>
        </p:txBody>
      </p:sp>
      <p:sp>
        <p:nvSpPr>
          <p:cNvPr id="9" name="Text 7"/>
          <p:cNvSpPr/>
          <p:nvPr/>
        </p:nvSpPr>
        <p:spPr>
          <a:xfrm>
            <a:off x="960120" y="1984248"/>
            <a:ext cx="10241280" cy="1170432"/>
          </a:xfrm>
          <a:prstGeom prst="rect">
            <a:avLst/>
          </a:prstGeom>
          <a:noFill/>
          <a:ln/>
        </p:spPr>
        <p:txBody>
          <a:bodyPr wrap="square" lIns="0" tIns="0" rIns="0" bIns="0" rtlCol="0" anchor="ctr">
            <a:normAutofit lnSpcReduction="10000"/>
          </a:bodyPr>
          <a:lstStyle/>
          <a:p>
            <a:pPr marL="0" indent="0" algn="ctr">
              <a:buNone/>
            </a:pPr>
            <a:r>
              <a:rPr lang="en-US" sz="8200" b="1" dirty="0">
                <a:solidFill>
                  <a:srgbClr val="42D3C4"/>
                </a:solidFill>
                <a:latin typeface="Segoe UI" pitchFamily="34" charset="0"/>
                <a:ea typeface="Aptos" pitchFamily="34" charset="-122"/>
                <a:cs typeface="Aptos" pitchFamily="34" charset="-120"/>
              </a:rPr>
              <a:t>40 / 40</a:t>
            </a:r>
            <a:endParaRPr lang="en-US" sz="8200" dirty="0"/>
          </a:p>
        </p:txBody>
      </p:sp>
      <p:sp>
        <p:nvSpPr>
          <p:cNvPr id="10" name="Text 8"/>
          <p:cNvSpPr/>
          <p:nvPr/>
        </p:nvSpPr>
        <p:spPr>
          <a:xfrm>
            <a:off x="1005840" y="3456432"/>
            <a:ext cx="10058400" cy="402336"/>
          </a:xfrm>
          <a:prstGeom prst="rect">
            <a:avLst/>
          </a:prstGeom>
          <a:noFill/>
          <a:ln/>
        </p:spPr>
        <p:txBody>
          <a:bodyPr wrap="square" lIns="0" tIns="0" rIns="0" bIns="0" rtlCol="0" anchor="ctr">
            <a:normAutofit/>
          </a:bodyPr>
          <a:lstStyle/>
          <a:p>
            <a:pPr marL="0" indent="0" algn="ctr">
              <a:buNone/>
            </a:pPr>
            <a:r>
              <a:rPr lang="en-US" sz="2300" dirty="0">
                <a:solidFill>
                  <a:srgbClr val="F2F9FC"/>
                </a:solidFill>
                <a:latin typeface="Segoe UI" pitchFamily="34" charset="0"/>
                <a:ea typeface="Aptos" pitchFamily="34" charset="-122"/>
                <a:cs typeface="Aptos" pitchFamily="34" charset="-120"/>
              </a:rPr>
              <a:t>тестов успешно • 0 ошибок • 0 пропусков</a:t>
            </a:r>
            <a:endParaRPr lang="en-US" sz="2300" dirty="0"/>
          </a:p>
        </p:txBody>
      </p:sp>
      <p:sp>
        <p:nvSpPr>
          <p:cNvPr id="13" name="Shape 11"/>
          <p:cNvSpPr/>
          <p:nvPr/>
        </p:nvSpPr>
        <p:spPr>
          <a:xfrm>
            <a:off x="2372868" y="4974336"/>
            <a:ext cx="1655064"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14" name="Text 12"/>
          <p:cNvSpPr/>
          <p:nvPr/>
        </p:nvSpPr>
        <p:spPr>
          <a:xfrm>
            <a:off x="2500884" y="5038344"/>
            <a:ext cx="1399032"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EXPRESS HTTP</a:t>
            </a:r>
            <a:endParaRPr lang="en-US" sz="1100" dirty="0"/>
          </a:p>
        </p:txBody>
      </p:sp>
      <p:sp>
        <p:nvSpPr>
          <p:cNvPr id="15" name="Shape 13"/>
          <p:cNvSpPr/>
          <p:nvPr/>
        </p:nvSpPr>
        <p:spPr>
          <a:xfrm>
            <a:off x="4192524" y="4974336"/>
            <a:ext cx="2039112"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16" name="Text 14"/>
          <p:cNvSpPr/>
          <p:nvPr/>
        </p:nvSpPr>
        <p:spPr>
          <a:xfrm>
            <a:off x="4320540" y="5038344"/>
            <a:ext cx="1783080"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ВРЕМЕННАЯ PGLITE</a:t>
            </a:r>
            <a:endParaRPr lang="en-US" sz="1100" dirty="0"/>
          </a:p>
        </p:txBody>
      </p:sp>
      <p:sp>
        <p:nvSpPr>
          <p:cNvPr id="17" name="Shape 15"/>
          <p:cNvSpPr/>
          <p:nvPr/>
        </p:nvSpPr>
        <p:spPr>
          <a:xfrm>
            <a:off x="6396228" y="4974336"/>
            <a:ext cx="1463040"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18" name="Text 16"/>
          <p:cNvSpPr/>
          <p:nvPr/>
        </p:nvSpPr>
        <p:spPr>
          <a:xfrm>
            <a:off x="6524244" y="5038344"/>
            <a:ext cx="1207008" cy="201168"/>
          </a:xfrm>
          <a:prstGeom prst="rect">
            <a:avLst/>
          </a:prstGeom>
          <a:noFill/>
          <a:ln/>
        </p:spPr>
        <p:txBody>
          <a:bodyPr wrap="square" lIns="0" tIns="0" rIns="0" bIns="0" rtlCol="0" anchor="ctr">
            <a:normAutofit/>
          </a:bodyPr>
          <a:lstStyle/>
          <a:p>
            <a:pPr marL="0" indent="0" algn="ctr">
              <a:buNone/>
            </a:pPr>
            <a:r>
              <a:rPr lang="en-US" sz="1100" b="1" dirty="0">
                <a:solidFill>
                  <a:srgbClr val="ADC3D1"/>
                </a:solidFill>
                <a:latin typeface="Segoe UI" pitchFamily="34" charset="0"/>
                <a:ea typeface="Aptos" pitchFamily="34" charset="-122"/>
                <a:cs typeface="Aptos" pitchFamily="34" charset="-120"/>
              </a:rPr>
              <a:t>30.10.2026</a:t>
            </a:r>
            <a:endParaRPr lang="en-US" sz="1100" dirty="0"/>
          </a:p>
        </p:txBody>
      </p:sp>
      <p:sp>
        <p:nvSpPr>
          <p:cNvPr id="26" name="Rounded Rectangle 25"/>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23</a:t>
            </a:r>
          </a:p>
        </p:txBody>
      </p:sp>
      <p:sp>
        <p:nvSpPr>
          <p:cNvPr id="27"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11" name="Shape 9"/>
          <p:cNvSpPr/>
          <p:nvPr/>
        </p:nvSpPr>
        <p:spPr>
          <a:xfrm>
            <a:off x="649224" y="4974336"/>
            <a:ext cx="1559052" cy="384048"/>
          </a:xfrm>
          <a:prstGeom prst="roundRect">
            <a:avLst>
              <a:gd name="adj" fmla="val 33333"/>
            </a:avLst>
          </a:prstGeom>
          <a:solidFill>
            <a:srgbClr val="112339"/>
          </a:solidFill>
          <a:ln w="15240">
            <a:solidFill>
              <a:srgbClr val="355064"/>
            </a:solidFill>
            <a:prstDash val="solid"/>
          </a:ln>
        </p:spPr>
        <p:txBody>
          <a:bodyPr/>
          <a:lstStyle/>
          <a:p>
            <a:endParaRPr/>
          </a:p>
        </p:txBody>
      </p:sp>
      <p:sp>
        <p:nvSpPr>
          <p:cNvPr id="12" name="Text 10"/>
          <p:cNvSpPr/>
          <p:nvPr/>
        </p:nvSpPr>
        <p:spPr>
          <a:xfrm>
            <a:off x="777240" y="5038344"/>
            <a:ext cx="1303020" cy="201168"/>
          </a:xfrm>
          <a:prstGeom prst="rect">
            <a:avLst/>
          </a:prstGeom>
          <a:noFill/>
          <a:ln/>
        </p:spPr>
        <p:txBody>
          <a:bodyPr wrap="square" lIns="0" tIns="0" rIns="0" bIns="0" rtlCol="0" anchor="ctr">
            <a:normAutofit/>
          </a:bodyPr>
          <a:lstStyle/>
          <a:p>
            <a:pPr marL="0" indent="0" algn="ctr">
              <a:buNone/>
            </a:pPr>
            <a:r>
              <a:rPr lang="en-US" sz="1100" b="1" dirty="0">
                <a:solidFill>
                  <a:srgbClr val="34DBD6"/>
                </a:solidFill>
                <a:latin typeface="Segoe UI" pitchFamily="34" charset="0"/>
                <a:ea typeface="Aptos" pitchFamily="34" charset="-122"/>
                <a:cs typeface="Aptos" pitchFamily="34" charset="-120"/>
              </a:rPr>
              <a:t>NODE --TEST</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1226"/>
        </a:solidFill>
        <a:effectLst/>
      </p:bgPr>
    </p:bg>
    <p:spTree>
      <p:nvGrpSpPr>
        <p:cNvPr id="1" name=""/>
        <p:cNvGrpSpPr/>
        <p:nvPr/>
      </p:nvGrpSpPr>
      <p:grpSpPr>
        <a:xfrm>
          <a:off x="0" y="0"/>
          <a:ext cx="0" cy="0"/>
          <a:chOff x="0" y="0"/>
          <a:chExt cx="0" cy="0"/>
        </a:xfrm>
      </p:grpSpPr>
      <p:sp>
        <p:nvSpPr>
          <p:cNvPr id="20" name="Rectangle 1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Что именно подтверждено тестированием</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24</a:t>
            </a:r>
            <a:endParaRPr lang="en-US" sz="900" dirty="0"/>
          </a:p>
        </p:txBody>
      </p:sp>
      <p:sp>
        <p:nvSpPr>
          <p:cNvPr id="8" name="Shape 6"/>
          <p:cNvSpPr/>
          <p:nvPr/>
        </p:nvSpPr>
        <p:spPr>
          <a:xfrm>
            <a:off x="667512" y="1490472"/>
            <a:ext cx="5285232" cy="4325112"/>
          </a:xfrm>
          <a:prstGeom prst="roundRect">
            <a:avLst>
              <a:gd name="adj" fmla="val 2960"/>
            </a:avLst>
          </a:prstGeom>
          <a:solidFill>
            <a:srgbClr val="183047"/>
          </a:solidFill>
          <a:ln w="15240">
            <a:solidFill>
              <a:srgbClr val="355064"/>
            </a:solidFill>
            <a:prstDash val="solid"/>
          </a:ln>
        </p:spPr>
        <p:txBody>
          <a:bodyPr/>
          <a:lstStyle/>
          <a:p>
            <a:endParaRPr/>
          </a:p>
        </p:txBody>
      </p:sp>
      <p:sp>
        <p:nvSpPr>
          <p:cNvPr id="9" name="Shape 7"/>
          <p:cNvSpPr/>
          <p:nvPr/>
        </p:nvSpPr>
        <p:spPr>
          <a:xfrm>
            <a:off x="822960" y="1709928"/>
            <a:ext cx="59436" cy="347472"/>
          </a:xfrm>
          <a:prstGeom prst="rect">
            <a:avLst/>
          </a:prstGeom>
          <a:solidFill>
            <a:srgbClr val="9FDFBC"/>
          </a:solidFill>
          <a:ln w="12700">
            <a:solidFill>
              <a:srgbClr val="9FDFBC"/>
            </a:solidFill>
            <a:prstDash val="solid"/>
          </a:ln>
        </p:spPr>
        <p:txBody>
          <a:bodyPr/>
          <a:lstStyle/>
          <a:p>
            <a:endParaRPr/>
          </a:p>
        </p:txBody>
      </p:sp>
      <p:sp>
        <p:nvSpPr>
          <p:cNvPr id="10" name="Text 8"/>
          <p:cNvSpPr/>
          <p:nvPr/>
        </p:nvSpPr>
        <p:spPr>
          <a:xfrm>
            <a:off x="978408" y="1691640"/>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ПОЛОЖИТЕЛЬНЫЕ СЦЕНАРИИ</a:t>
            </a:r>
            <a:endParaRPr lang="en-US" sz="1800" dirty="0"/>
          </a:p>
        </p:txBody>
      </p:sp>
      <p:sp>
        <p:nvSpPr>
          <p:cNvPr id="11" name="Text 9"/>
          <p:cNvSpPr/>
          <p:nvPr/>
        </p:nvSpPr>
        <p:spPr>
          <a:xfrm>
            <a:off x="896112" y="2176272"/>
            <a:ext cx="4837176" cy="353872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 Регистрация и корректная сессия</a:t>
            </a:r>
            <a:endParaRPr lang="en-US" sz="1700" dirty="0"/>
          </a:p>
          <a:p>
            <a:pPr marL="0" indent="0">
              <a:buNone/>
            </a:pPr>
            <a:r>
              <a:rPr lang="en-US" sz="1700" dirty="0">
                <a:solidFill>
                  <a:srgbClr val="F2F9FC"/>
                </a:solidFill>
                <a:latin typeface="Segoe UI" pitchFamily="34" charset="0"/>
                <a:ea typeface="Aptos" pitchFamily="34" charset="-122"/>
                <a:cs typeface="Aptos" pitchFamily="34" charset="-120"/>
              </a:rPr>
              <a:t>• Работа со своими моделями</a:t>
            </a:r>
            <a:endParaRPr lang="en-US" sz="1700" dirty="0"/>
          </a:p>
          <a:p>
            <a:pPr marL="0" indent="0">
              <a:buNone/>
            </a:pPr>
            <a:r>
              <a:rPr lang="en-US" sz="1700" dirty="0">
                <a:solidFill>
                  <a:srgbClr val="F2F9FC"/>
                </a:solidFill>
                <a:latin typeface="Segoe UI" pitchFamily="34" charset="0"/>
                <a:ea typeface="Aptos" pitchFamily="34" charset="-122"/>
                <a:cs typeface="Aptos" pitchFamily="34" charset="-120"/>
              </a:rPr>
              <a:t>• Три формата экспорта</a:t>
            </a:r>
            <a:endParaRPr lang="en-US" sz="1700" dirty="0"/>
          </a:p>
          <a:p>
            <a:pPr marL="0" indent="0">
              <a:buNone/>
            </a:pPr>
            <a:r>
              <a:rPr lang="en-US" sz="1700" dirty="0">
                <a:solidFill>
                  <a:srgbClr val="F2F9FC"/>
                </a:solidFill>
                <a:latin typeface="Segoe UI" pitchFamily="34" charset="0"/>
                <a:ea typeface="Aptos" pitchFamily="34" charset="-122"/>
                <a:cs typeface="Aptos" pitchFamily="34" charset="-120"/>
              </a:rPr>
              <a:t>• Завершение и отмена симулятора</a:t>
            </a:r>
            <a:endParaRPr lang="en-US" sz="1700" dirty="0"/>
          </a:p>
        </p:txBody>
      </p:sp>
      <p:sp>
        <p:nvSpPr>
          <p:cNvPr id="12" name="Shape 10"/>
          <p:cNvSpPr/>
          <p:nvPr/>
        </p:nvSpPr>
        <p:spPr>
          <a:xfrm>
            <a:off x="6181344" y="1490472"/>
            <a:ext cx="5285232" cy="4325112"/>
          </a:xfrm>
          <a:prstGeom prst="roundRect">
            <a:avLst>
              <a:gd name="adj" fmla="val 2960"/>
            </a:avLst>
          </a:prstGeom>
          <a:solidFill>
            <a:srgbClr val="183047"/>
          </a:solidFill>
          <a:ln w="15240">
            <a:solidFill>
              <a:srgbClr val="355064"/>
            </a:solidFill>
            <a:prstDash val="solid"/>
          </a:ln>
        </p:spPr>
        <p:txBody>
          <a:bodyPr/>
          <a:lstStyle/>
          <a:p>
            <a:endParaRPr/>
          </a:p>
        </p:txBody>
      </p:sp>
      <p:sp>
        <p:nvSpPr>
          <p:cNvPr id="13" name="Shape 11"/>
          <p:cNvSpPr/>
          <p:nvPr/>
        </p:nvSpPr>
        <p:spPr>
          <a:xfrm>
            <a:off x="6336792" y="1709928"/>
            <a:ext cx="59436" cy="347472"/>
          </a:xfrm>
          <a:prstGeom prst="rect">
            <a:avLst/>
          </a:prstGeom>
          <a:solidFill>
            <a:srgbClr val="EE887D"/>
          </a:solidFill>
          <a:ln w="12700">
            <a:solidFill>
              <a:srgbClr val="EE887D"/>
            </a:solidFill>
            <a:prstDash val="solid"/>
          </a:ln>
        </p:spPr>
        <p:txBody>
          <a:bodyPr/>
          <a:lstStyle/>
          <a:p>
            <a:endParaRPr/>
          </a:p>
        </p:txBody>
      </p:sp>
      <p:sp>
        <p:nvSpPr>
          <p:cNvPr id="14" name="Text 12"/>
          <p:cNvSpPr/>
          <p:nvPr/>
        </p:nvSpPr>
        <p:spPr>
          <a:xfrm>
            <a:off x="6492240" y="1691640"/>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ОТРИЦАТЕЛЬНЫЕ СЦЕНАРИИ</a:t>
            </a:r>
            <a:endParaRPr lang="en-US" sz="1800" dirty="0"/>
          </a:p>
        </p:txBody>
      </p:sp>
      <p:sp>
        <p:nvSpPr>
          <p:cNvPr id="15" name="Text 13"/>
          <p:cNvSpPr/>
          <p:nvPr/>
        </p:nvSpPr>
        <p:spPr>
          <a:xfrm>
            <a:off x="6409944" y="2176272"/>
            <a:ext cx="4837176" cy="3538728"/>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 Чужая модель недоступна</a:t>
            </a:r>
            <a:endParaRPr lang="en-US" sz="1700" dirty="0"/>
          </a:p>
          <a:p>
            <a:pPr marL="0" indent="0">
              <a:buNone/>
            </a:pPr>
            <a:r>
              <a:rPr lang="en-US" sz="1700" dirty="0">
                <a:solidFill>
                  <a:srgbClr val="F2F9FC"/>
                </a:solidFill>
                <a:latin typeface="Segoe UI" pitchFamily="34" charset="0"/>
                <a:ea typeface="Aptos" pitchFamily="34" charset="-122"/>
                <a:cs typeface="Aptos" pitchFamily="34" charset="-120"/>
              </a:rPr>
              <a:t>• Неверный JWT / UUID</a:t>
            </a:r>
            <a:endParaRPr lang="en-US" sz="1700" dirty="0"/>
          </a:p>
          <a:p>
            <a:pPr marL="0" indent="0">
              <a:buNone/>
            </a:pPr>
            <a:r>
              <a:rPr lang="en-US" sz="1700" dirty="0">
                <a:solidFill>
                  <a:srgbClr val="F2F9FC"/>
                </a:solidFill>
                <a:latin typeface="Segoe UI" pitchFamily="34" charset="0"/>
                <a:ea typeface="Aptos" pitchFamily="34" charset="-122"/>
                <a:cs typeface="Aptos" pitchFamily="34" charset="-120"/>
              </a:rPr>
              <a:t>• Некорректный файл и квоты</a:t>
            </a:r>
            <a:endParaRPr lang="en-US" sz="1700" dirty="0"/>
          </a:p>
          <a:p>
            <a:pPr marL="0" indent="0">
              <a:buNone/>
            </a:pPr>
            <a:r>
              <a:rPr lang="en-US" sz="1700" dirty="0">
                <a:solidFill>
                  <a:srgbClr val="F2F9FC"/>
                </a:solidFill>
                <a:latin typeface="Segoe UI" pitchFamily="34" charset="0"/>
                <a:ea typeface="Aptos" pitchFamily="34" charset="-122"/>
                <a:cs typeface="Aptos" pitchFamily="34" charset="-120"/>
              </a:rPr>
              <a:t>• Отсутствие защитного заголовка</a:t>
            </a:r>
            <a:endParaRPr lang="en-US" sz="1700" dirty="0"/>
          </a:p>
        </p:txBody>
      </p:sp>
      <p:sp>
        <p:nvSpPr>
          <p:cNvPr id="23" name="Rounded Rectangle 2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24</a:t>
            </a:r>
          </a:p>
        </p:txBody>
      </p:sp>
      <p:sp>
        <p:nvSpPr>
          <p:cNvPr id="24"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1226"/>
        </a:solidFill>
        <a:effectLst/>
      </p:bgPr>
    </p:bg>
    <p:spTree>
      <p:nvGrpSpPr>
        <p:cNvPr id="1" name=""/>
        <p:cNvGrpSpPr/>
        <p:nvPr/>
      </p:nvGrpSpPr>
      <p:grpSpPr>
        <a:xfrm>
          <a:off x="0" y="0"/>
          <a:ext cx="0" cy="0"/>
          <a:chOff x="0" y="0"/>
          <a:chExt cx="0" cy="0"/>
        </a:xfrm>
      </p:grpSpPr>
      <p:sp>
        <p:nvSpPr>
          <p:cNvPr id="16" name="Rounded Rectangle 15"/>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Демонстрационный запуск — без отдельной БД</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25</a:t>
            </a:r>
            <a:endParaRPr lang="en-US" sz="900" dirty="0"/>
          </a:p>
        </p:txBody>
      </p:sp>
      <p:sp>
        <p:nvSpPr>
          <p:cNvPr id="8" name="Shape 6"/>
          <p:cNvSpPr/>
          <p:nvPr/>
        </p:nvSpPr>
        <p:spPr>
          <a:xfrm>
            <a:off x="704088" y="1591056"/>
            <a:ext cx="10808208" cy="2697480"/>
          </a:xfrm>
          <a:prstGeom prst="roundRect">
            <a:avLst>
              <a:gd name="adj" fmla="val 4746"/>
            </a:avLst>
          </a:prstGeom>
          <a:solidFill>
            <a:srgbClr val="0E2235"/>
          </a:solidFill>
          <a:ln w="15240">
            <a:solidFill>
              <a:srgbClr val="355064"/>
            </a:solidFill>
            <a:prstDash val="solid"/>
          </a:ln>
        </p:spPr>
        <p:txBody>
          <a:bodyPr/>
          <a:lstStyle/>
          <a:p>
            <a:endParaRPr/>
          </a:p>
        </p:txBody>
      </p:sp>
      <p:sp>
        <p:nvSpPr>
          <p:cNvPr id="9" name="Text 7"/>
          <p:cNvSpPr/>
          <p:nvPr/>
        </p:nvSpPr>
        <p:spPr>
          <a:xfrm>
            <a:off x="1042416" y="1874520"/>
            <a:ext cx="10049256" cy="2029968"/>
          </a:xfrm>
          <a:prstGeom prst="rect">
            <a:avLst/>
          </a:prstGeom>
          <a:noFill/>
          <a:ln/>
        </p:spPr>
        <p:txBody>
          <a:bodyPr wrap="square" lIns="0" tIns="0" rIns="0" bIns="0" rtlCol="0" anchor="ctr">
            <a:normAutofit/>
          </a:bodyPr>
          <a:lstStyle/>
          <a:p>
            <a:pPr marL="0" indent="0">
              <a:buNone/>
            </a:pPr>
            <a:r>
              <a:rPr lang="en-US" sz="3000" dirty="0">
                <a:solidFill>
                  <a:srgbClr val="42D3C4"/>
                </a:solidFill>
                <a:latin typeface="Segoe UI" pitchFamily="34" charset="0"/>
                <a:ea typeface="Consolas" pitchFamily="34" charset="-122"/>
                <a:cs typeface="Consolas" pitchFamily="34" charset="-120"/>
              </a:rPr>
              <a:t>cd .\backend</a:t>
            </a:r>
            <a:endParaRPr lang="en-US" sz="3000" dirty="0"/>
          </a:p>
          <a:p>
            <a:pPr marL="0" indent="0">
              <a:buNone/>
            </a:pPr>
            <a:r>
              <a:rPr lang="en-US" sz="3000" dirty="0">
                <a:solidFill>
                  <a:srgbClr val="42D3C4"/>
                </a:solidFill>
                <a:latin typeface="Segoe UI" pitchFamily="34" charset="0"/>
                <a:ea typeface="Consolas" pitchFamily="34" charset="-122"/>
                <a:cs typeface="Consolas" pitchFamily="34" charset="-120"/>
              </a:rPr>
              <a:t>npm.cmd ci</a:t>
            </a:r>
            <a:endParaRPr lang="en-US" sz="3000" dirty="0"/>
          </a:p>
          <a:p>
            <a:pPr marL="0" indent="0">
              <a:buNone/>
            </a:pPr>
            <a:r>
              <a:rPr lang="en-US" sz="3000" dirty="0">
                <a:solidFill>
                  <a:srgbClr val="42D3C4"/>
                </a:solidFill>
                <a:latin typeface="Segoe UI" pitchFamily="34" charset="0"/>
                <a:ea typeface="Consolas" pitchFamily="34" charset="-122"/>
                <a:cs typeface="Consolas" pitchFamily="34" charset="-120"/>
              </a:rPr>
              <a:t>npm.cmd run demo</a:t>
            </a:r>
            <a:endParaRPr lang="en-US" sz="3000" dirty="0"/>
          </a:p>
        </p:txBody>
      </p:sp>
      <p:sp>
        <p:nvSpPr>
          <p:cNvPr id="10" name="Text 8"/>
          <p:cNvSpPr/>
          <p:nvPr/>
        </p:nvSpPr>
        <p:spPr>
          <a:xfrm>
            <a:off x="804672" y="4882896"/>
            <a:ext cx="10698480" cy="521208"/>
          </a:xfrm>
          <a:prstGeom prst="rect">
            <a:avLst/>
          </a:prstGeom>
          <a:noFill/>
          <a:ln/>
        </p:spPr>
        <p:txBody>
          <a:bodyPr wrap="square" lIns="0" tIns="0" rIns="0" bIns="0" rtlCol="0" anchor="ctr">
            <a:normAutofit/>
          </a:bodyPr>
          <a:lstStyle/>
          <a:p>
            <a:pPr marL="0" indent="0">
              <a:buNone/>
            </a:pPr>
            <a:r>
              <a:rPr lang="en-US" sz="2300" b="1" dirty="0">
                <a:solidFill>
                  <a:srgbClr val="F2F9FC"/>
                </a:solidFill>
                <a:latin typeface="Segoe UI" pitchFamily="34" charset="0"/>
                <a:ea typeface="Aptos" pitchFamily="34" charset="-122"/>
                <a:cs typeface="Aptos" pitchFamily="34" charset="-120"/>
              </a:rPr>
              <a:t>Открыть в браузере:  http://localhost:3000</a:t>
            </a:r>
            <a:endParaRPr lang="en-US" sz="2300" dirty="0"/>
          </a:p>
        </p:txBody>
      </p:sp>
      <p:sp>
        <p:nvSpPr>
          <p:cNvPr id="18" name="Rounded Rectangle 17"/>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25</a:t>
            </a:r>
          </a:p>
        </p:txBody>
      </p:sp>
      <p:sp>
        <p:nvSpPr>
          <p:cNvPr id="19" name="Oval 26"/>
          <p:cNvSpPr/>
          <p:nvPr/>
        </p:nvSpPr>
        <p:spPr>
          <a:xfrm>
            <a:off x="-645031" y="5900530"/>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1226"/>
        </a:solidFill>
        <a:effectLst/>
      </p:bgPr>
    </p:bg>
    <p:spTree>
      <p:nvGrpSpPr>
        <p:cNvPr id="1" name=""/>
        <p:cNvGrpSpPr/>
        <p:nvPr/>
      </p:nvGrpSpPr>
      <p:grpSpPr>
        <a:xfrm>
          <a:off x="0" y="0"/>
          <a:ext cx="0" cy="0"/>
          <a:chOff x="0" y="0"/>
          <a:chExt cx="0" cy="0"/>
        </a:xfrm>
      </p:grpSpPr>
      <p:sp>
        <p:nvSpPr>
          <p:cNvPr id="23" name="Rounded Rectangle 22"/>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Основной режим: PostgreSQL</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26</a:t>
            </a:r>
            <a:endParaRPr lang="en-US" sz="900" dirty="0"/>
          </a:p>
        </p:txBody>
      </p:sp>
      <p:sp>
        <p:nvSpPr>
          <p:cNvPr id="8" name="Shape 6"/>
          <p:cNvSpPr/>
          <p:nvPr/>
        </p:nvSpPr>
        <p:spPr>
          <a:xfrm>
            <a:off x="731520" y="1600200"/>
            <a:ext cx="100584" cy="100584"/>
          </a:xfrm>
          <a:prstGeom prst="ellipse">
            <a:avLst/>
          </a:prstGeom>
          <a:solidFill>
            <a:srgbClr val="42D3C4"/>
          </a:solidFill>
          <a:ln w="12700">
            <a:solidFill>
              <a:srgbClr val="42D3C4"/>
            </a:solidFill>
            <a:prstDash val="solid"/>
          </a:ln>
        </p:spPr>
        <p:txBody>
          <a:bodyPr/>
          <a:lstStyle/>
          <a:p>
            <a:endParaRPr/>
          </a:p>
        </p:txBody>
      </p:sp>
      <p:sp>
        <p:nvSpPr>
          <p:cNvPr id="9" name="Text 7"/>
          <p:cNvSpPr/>
          <p:nvPr/>
        </p:nvSpPr>
        <p:spPr>
          <a:xfrm>
            <a:off x="1024128" y="1472184"/>
            <a:ext cx="104973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Установить PostgreSQL 15+ и создать базу mycreative.</a:t>
            </a:r>
            <a:endParaRPr lang="en-US" sz="1800" dirty="0"/>
          </a:p>
        </p:txBody>
      </p:sp>
      <p:sp>
        <p:nvSpPr>
          <p:cNvPr id="10" name="Shape 8"/>
          <p:cNvSpPr/>
          <p:nvPr/>
        </p:nvSpPr>
        <p:spPr>
          <a:xfrm>
            <a:off x="731520" y="2478024"/>
            <a:ext cx="100584" cy="100584"/>
          </a:xfrm>
          <a:prstGeom prst="ellipse">
            <a:avLst/>
          </a:prstGeom>
          <a:solidFill>
            <a:srgbClr val="42D3C4"/>
          </a:solidFill>
          <a:ln w="12700">
            <a:solidFill>
              <a:srgbClr val="42D3C4"/>
            </a:solidFill>
            <a:prstDash val="solid"/>
          </a:ln>
        </p:spPr>
        <p:txBody>
          <a:bodyPr/>
          <a:lstStyle/>
          <a:p>
            <a:endParaRPr/>
          </a:p>
        </p:txBody>
      </p:sp>
      <p:sp>
        <p:nvSpPr>
          <p:cNvPr id="11" name="Text 9"/>
          <p:cNvSpPr/>
          <p:nvPr/>
        </p:nvSpPr>
        <p:spPr>
          <a:xfrm>
            <a:off x="1024128" y="2350008"/>
            <a:ext cx="104973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npm ci → npm run setup → настройка .env.</a:t>
            </a:r>
            <a:endParaRPr lang="en-US" sz="1800" dirty="0"/>
          </a:p>
        </p:txBody>
      </p:sp>
      <p:sp>
        <p:nvSpPr>
          <p:cNvPr id="12" name="Shape 10"/>
          <p:cNvSpPr/>
          <p:nvPr/>
        </p:nvSpPr>
        <p:spPr>
          <a:xfrm>
            <a:off x="731520" y="3355848"/>
            <a:ext cx="100584" cy="100584"/>
          </a:xfrm>
          <a:prstGeom prst="ellipse">
            <a:avLst/>
          </a:prstGeom>
          <a:solidFill>
            <a:srgbClr val="42D3C4"/>
          </a:solidFill>
          <a:ln w="12700">
            <a:solidFill>
              <a:srgbClr val="42D3C4"/>
            </a:solidFill>
            <a:prstDash val="solid"/>
          </a:ln>
        </p:spPr>
        <p:txBody>
          <a:bodyPr/>
          <a:lstStyle/>
          <a:p>
            <a:endParaRPr/>
          </a:p>
        </p:txBody>
      </p:sp>
      <p:sp>
        <p:nvSpPr>
          <p:cNvPr id="13" name="Text 11"/>
          <p:cNvSpPr/>
          <p:nvPr/>
        </p:nvSpPr>
        <p:spPr>
          <a:xfrm>
            <a:off x="1024128" y="3227832"/>
            <a:ext cx="104973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Указать DATABASE_URL и секрет JWT.</a:t>
            </a:r>
            <a:endParaRPr lang="en-US" sz="1800" dirty="0"/>
          </a:p>
        </p:txBody>
      </p:sp>
      <p:sp>
        <p:nvSpPr>
          <p:cNvPr id="14" name="Shape 12"/>
          <p:cNvSpPr/>
          <p:nvPr/>
        </p:nvSpPr>
        <p:spPr>
          <a:xfrm>
            <a:off x="731520" y="4233672"/>
            <a:ext cx="100584" cy="100584"/>
          </a:xfrm>
          <a:prstGeom prst="ellipse">
            <a:avLst/>
          </a:prstGeom>
          <a:solidFill>
            <a:srgbClr val="42D3C4"/>
          </a:solidFill>
          <a:ln w="12700">
            <a:solidFill>
              <a:srgbClr val="42D3C4"/>
            </a:solidFill>
            <a:prstDash val="solid"/>
          </a:ln>
        </p:spPr>
        <p:txBody>
          <a:bodyPr/>
          <a:lstStyle/>
          <a:p>
            <a:endParaRPr/>
          </a:p>
        </p:txBody>
      </p:sp>
      <p:sp>
        <p:nvSpPr>
          <p:cNvPr id="15" name="Text 13"/>
          <p:cNvSpPr/>
          <p:nvPr/>
        </p:nvSpPr>
        <p:spPr>
          <a:xfrm>
            <a:off x="1024128" y="4105656"/>
            <a:ext cx="104973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Запустить npm start и проверить /api/health.</a:t>
            </a:r>
            <a:endParaRPr lang="en-US" sz="1800" dirty="0"/>
          </a:p>
        </p:txBody>
      </p:sp>
      <p:sp>
        <p:nvSpPr>
          <p:cNvPr id="16" name="Shape 14"/>
          <p:cNvSpPr/>
          <p:nvPr/>
        </p:nvSpPr>
        <p:spPr>
          <a:xfrm>
            <a:off x="731520" y="5111496"/>
            <a:ext cx="100584" cy="100584"/>
          </a:xfrm>
          <a:prstGeom prst="ellipse">
            <a:avLst/>
          </a:prstGeom>
          <a:solidFill>
            <a:srgbClr val="42D3C4"/>
          </a:solidFill>
          <a:ln w="12700">
            <a:solidFill>
              <a:srgbClr val="42D3C4"/>
            </a:solidFill>
            <a:prstDash val="solid"/>
          </a:ln>
        </p:spPr>
        <p:txBody>
          <a:bodyPr/>
          <a:lstStyle/>
          <a:p>
            <a:endParaRPr/>
          </a:p>
        </p:txBody>
      </p:sp>
      <p:sp>
        <p:nvSpPr>
          <p:cNvPr id="17" name="Text 15"/>
          <p:cNvSpPr/>
          <p:nvPr/>
        </p:nvSpPr>
        <p:spPr>
          <a:xfrm>
            <a:off x="1024128" y="4983480"/>
            <a:ext cx="10497312" cy="438912"/>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Резервировать базу и каталог storage вместе.</a:t>
            </a:r>
            <a:endParaRPr lang="en-US" sz="1800" dirty="0"/>
          </a:p>
        </p:txBody>
      </p:sp>
      <p:sp>
        <p:nvSpPr>
          <p:cNvPr id="25" name="Rounded Rectangle 24"/>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26</a:t>
            </a:r>
          </a:p>
        </p:txBody>
      </p:sp>
      <p:sp>
        <p:nvSpPr>
          <p:cNvPr id="26" name="Oval 26"/>
          <p:cNvSpPr/>
          <p:nvPr/>
        </p:nvSpPr>
        <p:spPr>
          <a:xfrm>
            <a:off x="-713232" y="5239512"/>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1226"/>
        </a:solidFill>
        <a:effectLst/>
      </p:bgPr>
    </p:bg>
    <p:spTree>
      <p:nvGrpSpPr>
        <p:cNvPr id="1" name=""/>
        <p:cNvGrpSpPr/>
        <p:nvPr/>
      </p:nvGrpSpPr>
      <p:grpSpPr>
        <a:xfrm>
          <a:off x="0" y="0"/>
          <a:ext cx="0" cy="0"/>
          <a:chOff x="0" y="0"/>
          <a:chExt cx="0" cy="0"/>
        </a:xfrm>
      </p:grpSpPr>
      <p:sp>
        <p:nvSpPr>
          <p:cNvPr id="29" name="Rounded Rectangle 28"/>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680192" y="3387853"/>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Проект будущего аппаратного адаптера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27</a:t>
            </a:r>
            <a:endParaRPr lang="en-US" sz="900" dirty="0"/>
          </a:p>
        </p:txBody>
      </p:sp>
      <p:sp>
        <p:nvSpPr>
          <p:cNvPr id="8" name="Shape 6"/>
          <p:cNvSpPr/>
          <p:nvPr/>
        </p:nvSpPr>
        <p:spPr>
          <a:xfrm>
            <a:off x="640080" y="1965960"/>
            <a:ext cx="2596896" cy="1965960"/>
          </a:xfrm>
          <a:prstGeom prst="roundRect">
            <a:avLst>
              <a:gd name="adj" fmla="val 6512"/>
            </a:avLst>
          </a:prstGeom>
          <a:solidFill>
            <a:srgbClr val="183047"/>
          </a:solidFill>
          <a:ln w="15240">
            <a:solidFill>
              <a:srgbClr val="355064"/>
            </a:solidFill>
            <a:prstDash val="solid"/>
          </a:ln>
        </p:spPr>
        <p:txBody>
          <a:bodyPr/>
          <a:lstStyle/>
          <a:p>
            <a:endParaRPr/>
          </a:p>
        </p:txBody>
      </p:sp>
      <p:sp>
        <p:nvSpPr>
          <p:cNvPr id="9" name="Text 7"/>
          <p:cNvSpPr/>
          <p:nvPr/>
        </p:nvSpPr>
        <p:spPr>
          <a:xfrm>
            <a:off x="804672" y="2350008"/>
            <a:ext cx="2304288" cy="365760"/>
          </a:xfrm>
          <a:prstGeom prst="rect">
            <a:avLst/>
          </a:prstGeom>
          <a:noFill/>
          <a:ln/>
        </p:spPr>
        <p:txBody>
          <a:bodyPr wrap="square" lIns="0" tIns="0" rIns="0" bIns="0" rtlCol="0" anchor="ctr">
            <a:normAutofit/>
          </a:bodyPr>
          <a:lstStyle/>
          <a:p>
            <a:pPr marL="0" indent="0" algn="ctr">
              <a:buNone/>
            </a:pPr>
            <a:r>
              <a:rPr lang="en-US" sz="2000" b="1" dirty="0">
                <a:solidFill>
                  <a:srgbClr val="34DBD6"/>
                </a:solidFill>
                <a:latin typeface="Segoe UI" pitchFamily="34" charset="0"/>
                <a:ea typeface="Aptos" pitchFamily="34" charset="-122"/>
                <a:cs typeface="Aptos" pitchFamily="34" charset="-120"/>
              </a:rPr>
              <a:t>СКАНЕР</a:t>
            </a:r>
            <a:endParaRPr lang="en-US" sz="2000" dirty="0"/>
          </a:p>
        </p:txBody>
      </p:sp>
      <p:sp>
        <p:nvSpPr>
          <p:cNvPr id="10" name="Text 8"/>
          <p:cNvSpPr/>
          <p:nvPr/>
        </p:nvSpPr>
        <p:spPr>
          <a:xfrm>
            <a:off x="804672" y="2962656"/>
            <a:ext cx="2304288" cy="420624"/>
          </a:xfrm>
          <a:prstGeom prst="rect">
            <a:avLst/>
          </a:prstGeom>
          <a:noFill/>
          <a:ln/>
        </p:spPr>
        <p:txBody>
          <a:bodyPr wrap="square" lIns="0" tIns="0" rIns="0" bIns="0" rtlCol="0" anchor="ctr">
            <a:normAutofit/>
          </a:bodyPr>
          <a:lstStyle/>
          <a:p>
            <a:pPr marL="0" indent="0" algn="ctr">
              <a:buNone/>
            </a:pPr>
            <a:r>
              <a:rPr lang="en-US" sz="1600" dirty="0">
                <a:solidFill>
                  <a:srgbClr val="ADC3D1"/>
                </a:solidFill>
                <a:latin typeface="Segoe UI" pitchFamily="34" charset="0"/>
                <a:ea typeface="Aptos" pitchFamily="34" charset="-122"/>
                <a:cs typeface="Aptos" pitchFamily="34" charset="-120"/>
              </a:rPr>
              <a:t>датчик / SDK</a:t>
            </a:r>
            <a:endParaRPr lang="en-US" sz="1600" dirty="0"/>
          </a:p>
        </p:txBody>
      </p:sp>
      <p:sp>
        <p:nvSpPr>
          <p:cNvPr id="11" name="Text 9"/>
          <p:cNvSpPr/>
          <p:nvPr/>
        </p:nvSpPr>
        <p:spPr>
          <a:xfrm>
            <a:off x="3300984" y="2587752"/>
            <a:ext cx="228600" cy="329184"/>
          </a:xfrm>
          <a:prstGeom prst="rect">
            <a:avLst/>
          </a:prstGeom>
          <a:noFill/>
          <a:ln/>
        </p:spPr>
        <p:txBody>
          <a:bodyPr wrap="square" lIns="0" tIns="0" rIns="0" bIns="0" rtlCol="0" anchor="ctr">
            <a:normAutofit lnSpcReduction="10000"/>
          </a:bodyPr>
          <a:lstStyle/>
          <a:p>
            <a:pPr marL="0" indent="0">
              <a:buNone/>
            </a:pPr>
            <a:r>
              <a:rPr lang="en-US" sz="2400" dirty="0">
                <a:solidFill>
                  <a:srgbClr val="EBC980"/>
                </a:solidFill>
                <a:latin typeface="Segoe UI" pitchFamily="34" charset="0"/>
                <a:ea typeface="Aptos" pitchFamily="34" charset="-122"/>
                <a:cs typeface="Aptos" pitchFamily="34" charset="-120"/>
              </a:rPr>
              <a:t>→</a:t>
            </a:r>
            <a:endParaRPr lang="en-US" sz="2400" dirty="0"/>
          </a:p>
        </p:txBody>
      </p:sp>
      <p:sp>
        <p:nvSpPr>
          <p:cNvPr id="12" name="Shape 10"/>
          <p:cNvSpPr/>
          <p:nvPr/>
        </p:nvSpPr>
        <p:spPr>
          <a:xfrm>
            <a:off x="3511296" y="1965960"/>
            <a:ext cx="2596896" cy="1965960"/>
          </a:xfrm>
          <a:prstGeom prst="roundRect">
            <a:avLst>
              <a:gd name="adj" fmla="val 6512"/>
            </a:avLst>
          </a:prstGeom>
          <a:solidFill>
            <a:srgbClr val="183047"/>
          </a:solidFill>
          <a:ln w="15240">
            <a:solidFill>
              <a:srgbClr val="355064"/>
            </a:solidFill>
            <a:prstDash val="solid"/>
          </a:ln>
        </p:spPr>
        <p:txBody>
          <a:bodyPr/>
          <a:lstStyle/>
          <a:p>
            <a:endParaRPr/>
          </a:p>
        </p:txBody>
      </p:sp>
      <p:sp>
        <p:nvSpPr>
          <p:cNvPr id="13" name="Text 11"/>
          <p:cNvSpPr/>
          <p:nvPr/>
        </p:nvSpPr>
        <p:spPr>
          <a:xfrm>
            <a:off x="3675888" y="2350008"/>
            <a:ext cx="2304288" cy="365760"/>
          </a:xfrm>
          <a:prstGeom prst="rect">
            <a:avLst/>
          </a:prstGeom>
          <a:noFill/>
          <a:ln/>
        </p:spPr>
        <p:txBody>
          <a:bodyPr wrap="square" lIns="0" tIns="0" rIns="0" bIns="0" rtlCol="0" anchor="ctr">
            <a:normAutofit/>
          </a:bodyPr>
          <a:lstStyle/>
          <a:p>
            <a:pPr marL="0" indent="0" algn="ctr">
              <a:buNone/>
            </a:pPr>
            <a:r>
              <a:rPr lang="en-US" sz="2000" b="1" dirty="0">
                <a:solidFill>
                  <a:srgbClr val="34DBD6"/>
                </a:solidFill>
                <a:latin typeface="Segoe UI" pitchFamily="34" charset="0"/>
                <a:ea typeface="Aptos" pitchFamily="34" charset="-122"/>
                <a:cs typeface="Aptos" pitchFamily="34" charset="-120"/>
              </a:rPr>
              <a:t>LOCAL SERVICE</a:t>
            </a:r>
            <a:endParaRPr lang="en-US" sz="2000" dirty="0"/>
          </a:p>
        </p:txBody>
      </p:sp>
      <p:sp>
        <p:nvSpPr>
          <p:cNvPr id="14" name="Text 12"/>
          <p:cNvSpPr/>
          <p:nvPr/>
        </p:nvSpPr>
        <p:spPr>
          <a:xfrm>
            <a:off x="3675888" y="2962656"/>
            <a:ext cx="2304288" cy="420624"/>
          </a:xfrm>
          <a:prstGeom prst="rect">
            <a:avLst/>
          </a:prstGeom>
          <a:noFill/>
          <a:ln/>
        </p:spPr>
        <p:txBody>
          <a:bodyPr wrap="square" lIns="0" tIns="0" rIns="0" bIns="0" rtlCol="0" anchor="ctr">
            <a:normAutofit/>
          </a:bodyPr>
          <a:lstStyle/>
          <a:p>
            <a:pPr marL="0" indent="0" algn="ctr">
              <a:buNone/>
            </a:pPr>
            <a:r>
              <a:rPr lang="en-US" sz="1600" dirty="0">
                <a:solidFill>
                  <a:srgbClr val="ADC3D1"/>
                </a:solidFill>
                <a:latin typeface="Segoe UI" pitchFamily="34" charset="0"/>
                <a:ea typeface="Aptos" pitchFamily="34" charset="-122"/>
                <a:cs typeface="Aptos" pitchFamily="34" charset="-120"/>
              </a:rPr>
              <a:t>USB / COM / команды</a:t>
            </a:r>
            <a:endParaRPr lang="en-US" sz="1600" dirty="0"/>
          </a:p>
        </p:txBody>
      </p:sp>
      <p:sp>
        <p:nvSpPr>
          <p:cNvPr id="15" name="Text 13"/>
          <p:cNvSpPr/>
          <p:nvPr/>
        </p:nvSpPr>
        <p:spPr>
          <a:xfrm>
            <a:off x="6172200" y="2587752"/>
            <a:ext cx="228600" cy="329184"/>
          </a:xfrm>
          <a:prstGeom prst="rect">
            <a:avLst/>
          </a:prstGeom>
          <a:noFill/>
          <a:ln/>
        </p:spPr>
        <p:txBody>
          <a:bodyPr wrap="square" lIns="0" tIns="0" rIns="0" bIns="0" rtlCol="0" anchor="ctr">
            <a:normAutofit lnSpcReduction="10000"/>
          </a:bodyPr>
          <a:lstStyle/>
          <a:p>
            <a:pPr marL="0" indent="0">
              <a:buNone/>
            </a:pPr>
            <a:r>
              <a:rPr lang="en-US" sz="2400" dirty="0">
                <a:solidFill>
                  <a:srgbClr val="EBC980"/>
                </a:solidFill>
                <a:latin typeface="Segoe UI" pitchFamily="34" charset="0"/>
                <a:ea typeface="Aptos" pitchFamily="34" charset="-122"/>
                <a:cs typeface="Aptos" pitchFamily="34" charset="-120"/>
              </a:rPr>
              <a:t>→</a:t>
            </a:r>
            <a:endParaRPr lang="en-US" sz="2400" dirty="0"/>
          </a:p>
        </p:txBody>
      </p:sp>
      <p:sp>
        <p:nvSpPr>
          <p:cNvPr id="16" name="Shape 14"/>
          <p:cNvSpPr/>
          <p:nvPr/>
        </p:nvSpPr>
        <p:spPr>
          <a:xfrm>
            <a:off x="6382512" y="1965960"/>
            <a:ext cx="2596896" cy="1965960"/>
          </a:xfrm>
          <a:prstGeom prst="roundRect">
            <a:avLst>
              <a:gd name="adj" fmla="val 6512"/>
            </a:avLst>
          </a:prstGeom>
          <a:solidFill>
            <a:srgbClr val="183047"/>
          </a:solidFill>
          <a:ln w="15240">
            <a:solidFill>
              <a:srgbClr val="355064"/>
            </a:solidFill>
            <a:prstDash val="solid"/>
          </a:ln>
        </p:spPr>
        <p:txBody>
          <a:bodyPr/>
          <a:lstStyle/>
          <a:p>
            <a:endParaRPr/>
          </a:p>
        </p:txBody>
      </p:sp>
      <p:sp>
        <p:nvSpPr>
          <p:cNvPr id="17" name="Text 15"/>
          <p:cNvSpPr/>
          <p:nvPr/>
        </p:nvSpPr>
        <p:spPr>
          <a:xfrm>
            <a:off x="6547104" y="2350008"/>
            <a:ext cx="2304288" cy="365760"/>
          </a:xfrm>
          <a:prstGeom prst="rect">
            <a:avLst/>
          </a:prstGeom>
          <a:noFill/>
          <a:ln/>
        </p:spPr>
        <p:txBody>
          <a:bodyPr wrap="square" lIns="0" tIns="0" rIns="0" bIns="0" rtlCol="0" anchor="ctr">
            <a:normAutofit/>
          </a:bodyPr>
          <a:lstStyle/>
          <a:p>
            <a:pPr marL="0" indent="0" algn="ctr">
              <a:buNone/>
            </a:pPr>
            <a:r>
              <a:rPr lang="en-US" sz="2000" b="1" dirty="0">
                <a:solidFill>
                  <a:srgbClr val="34DBD6"/>
                </a:solidFill>
                <a:latin typeface="Segoe UI" pitchFamily="34" charset="0"/>
                <a:ea typeface="Aptos" pitchFamily="34" charset="-122"/>
                <a:cs typeface="Aptos" pitchFamily="34" charset="-120"/>
              </a:rPr>
              <a:t>SERVER</a:t>
            </a:r>
            <a:endParaRPr lang="en-US" sz="2000" dirty="0"/>
          </a:p>
        </p:txBody>
      </p:sp>
      <p:sp>
        <p:nvSpPr>
          <p:cNvPr id="18" name="Text 16"/>
          <p:cNvSpPr/>
          <p:nvPr/>
        </p:nvSpPr>
        <p:spPr>
          <a:xfrm>
            <a:off x="6547104" y="2962656"/>
            <a:ext cx="2304288" cy="420624"/>
          </a:xfrm>
          <a:prstGeom prst="rect">
            <a:avLst/>
          </a:prstGeom>
          <a:noFill/>
          <a:ln/>
        </p:spPr>
        <p:txBody>
          <a:bodyPr wrap="square" lIns="0" tIns="0" rIns="0" bIns="0" rtlCol="0" anchor="ctr">
            <a:normAutofit/>
          </a:bodyPr>
          <a:lstStyle/>
          <a:p>
            <a:pPr marL="0" indent="0" algn="ctr">
              <a:buNone/>
            </a:pPr>
            <a:r>
              <a:rPr lang="en-US" sz="1600" dirty="0">
                <a:solidFill>
                  <a:srgbClr val="ADC3D1"/>
                </a:solidFill>
                <a:latin typeface="Segoe UI" pitchFamily="34" charset="0"/>
                <a:ea typeface="Aptos" pitchFamily="34" charset="-122"/>
                <a:cs typeface="Aptos" pitchFamily="34" charset="-120"/>
              </a:rPr>
              <a:t>очередь / права</a:t>
            </a:r>
            <a:endParaRPr lang="en-US" sz="1600" dirty="0"/>
          </a:p>
        </p:txBody>
      </p:sp>
      <p:sp>
        <p:nvSpPr>
          <p:cNvPr id="19" name="Text 17"/>
          <p:cNvSpPr/>
          <p:nvPr/>
        </p:nvSpPr>
        <p:spPr>
          <a:xfrm>
            <a:off x="9043416" y="2587752"/>
            <a:ext cx="228600" cy="329184"/>
          </a:xfrm>
          <a:prstGeom prst="rect">
            <a:avLst/>
          </a:prstGeom>
          <a:noFill/>
          <a:ln/>
        </p:spPr>
        <p:txBody>
          <a:bodyPr wrap="square" lIns="0" tIns="0" rIns="0" bIns="0" rtlCol="0" anchor="ctr">
            <a:normAutofit lnSpcReduction="10000"/>
          </a:bodyPr>
          <a:lstStyle/>
          <a:p>
            <a:pPr marL="0" indent="0">
              <a:buNone/>
            </a:pPr>
            <a:r>
              <a:rPr lang="en-US" sz="2400" dirty="0">
                <a:solidFill>
                  <a:srgbClr val="EBC980"/>
                </a:solidFill>
                <a:latin typeface="Segoe UI" pitchFamily="34" charset="0"/>
                <a:ea typeface="Aptos" pitchFamily="34" charset="-122"/>
                <a:cs typeface="Aptos" pitchFamily="34" charset="-120"/>
              </a:rPr>
              <a:t>→</a:t>
            </a:r>
            <a:endParaRPr lang="en-US" sz="2400" dirty="0"/>
          </a:p>
        </p:txBody>
      </p:sp>
      <p:sp>
        <p:nvSpPr>
          <p:cNvPr id="20" name="Shape 18"/>
          <p:cNvSpPr/>
          <p:nvPr/>
        </p:nvSpPr>
        <p:spPr>
          <a:xfrm>
            <a:off x="9253728" y="1965960"/>
            <a:ext cx="2596896" cy="1965960"/>
          </a:xfrm>
          <a:prstGeom prst="roundRect">
            <a:avLst>
              <a:gd name="adj" fmla="val 6512"/>
            </a:avLst>
          </a:prstGeom>
          <a:solidFill>
            <a:srgbClr val="183047"/>
          </a:solidFill>
          <a:ln w="15240">
            <a:solidFill>
              <a:srgbClr val="355064"/>
            </a:solidFill>
            <a:prstDash val="solid"/>
          </a:ln>
        </p:spPr>
        <p:txBody>
          <a:bodyPr/>
          <a:lstStyle/>
          <a:p>
            <a:endParaRPr/>
          </a:p>
        </p:txBody>
      </p:sp>
      <p:sp>
        <p:nvSpPr>
          <p:cNvPr id="21" name="Text 19"/>
          <p:cNvSpPr/>
          <p:nvPr/>
        </p:nvSpPr>
        <p:spPr>
          <a:xfrm>
            <a:off x="9418320" y="2350008"/>
            <a:ext cx="2304288" cy="365760"/>
          </a:xfrm>
          <a:prstGeom prst="rect">
            <a:avLst/>
          </a:prstGeom>
          <a:noFill/>
          <a:ln/>
        </p:spPr>
        <p:txBody>
          <a:bodyPr wrap="square" lIns="0" tIns="0" rIns="0" bIns="0" rtlCol="0" anchor="ctr">
            <a:normAutofit/>
          </a:bodyPr>
          <a:lstStyle/>
          <a:p>
            <a:pPr marL="0" indent="0" algn="ctr">
              <a:buNone/>
            </a:pPr>
            <a:r>
              <a:rPr lang="en-US" sz="2000" b="1" dirty="0">
                <a:solidFill>
                  <a:srgbClr val="34DBD6"/>
                </a:solidFill>
                <a:latin typeface="Segoe UI" pitchFamily="34" charset="0"/>
                <a:ea typeface="Aptos" pitchFamily="34" charset="-122"/>
                <a:cs typeface="Aptos" pitchFamily="34" charset="-120"/>
              </a:rPr>
              <a:t>VIEWER</a:t>
            </a:r>
            <a:endParaRPr lang="en-US" sz="2000" dirty="0"/>
          </a:p>
        </p:txBody>
      </p:sp>
      <p:sp>
        <p:nvSpPr>
          <p:cNvPr id="22" name="Text 20"/>
          <p:cNvSpPr/>
          <p:nvPr/>
        </p:nvSpPr>
        <p:spPr>
          <a:xfrm>
            <a:off x="9418320" y="2962656"/>
            <a:ext cx="2304288" cy="420624"/>
          </a:xfrm>
          <a:prstGeom prst="rect">
            <a:avLst/>
          </a:prstGeom>
          <a:noFill/>
          <a:ln/>
        </p:spPr>
        <p:txBody>
          <a:bodyPr wrap="square" lIns="0" tIns="0" rIns="0" bIns="0" rtlCol="0" anchor="ctr">
            <a:normAutofit/>
          </a:bodyPr>
          <a:lstStyle/>
          <a:p>
            <a:pPr marL="0" indent="0" algn="ctr">
              <a:buNone/>
            </a:pPr>
            <a:r>
              <a:rPr lang="en-US" sz="1600" dirty="0">
                <a:solidFill>
                  <a:srgbClr val="ADC3D1"/>
                </a:solidFill>
                <a:latin typeface="Segoe UI" pitchFamily="34" charset="0"/>
                <a:ea typeface="Aptos" pitchFamily="34" charset="-122"/>
                <a:cs typeface="Aptos" pitchFamily="34" charset="-120"/>
              </a:rPr>
              <a:t>геометрия / файл</a:t>
            </a:r>
            <a:endParaRPr lang="en-US" sz="1600" dirty="0"/>
          </a:p>
        </p:txBody>
      </p:sp>
      <p:sp>
        <p:nvSpPr>
          <p:cNvPr id="23" name="Text 21"/>
          <p:cNvSpPr/>
          <p:nvPr/>
        </p:nvSpPr>
        <p:spPr>
          <a:xfrm>
            <a:off x="731520" y="4736592"/>
            <a:ext cx="10789920" cy="585216"/>
          </a:xfrm>
          <a:prstGeom prst="rect">
            <a:avLst/>
          </a:prstGeom>
          <a:noFill/>
          <a:ln/>
        </p:spPr>
        <p:txBody>
          <a:bodyPr wrap="square" lIns="0" tIns="0" rIns="0" bIns="0" rtlCol="0" anchor="ctr">
            <a:normAutofit/>
          </a:bodyPr>
          <a:lstStyle/>
          <a:p>
            <a:pPr marL="0" indent="0" algn="ctr">
              <a:buNone/>
            </a:pPr>
            <a:r>
              <a:rPr lang="en-US" sz="1800" b="1" dirty="0">
                <a:solidFill>
                  <a:srgbClr val="EBC980"/>
                </a:solidFill>
                <a:latin typeface="Segoe UI" pitchFamily="34" charset="0"/>
                <a:ea typeface="Aptos" pitchFamily="34" charset="-122"/>
                <a:cs typeface="Aptos" pitchFamily="34" charset="-120"/>
              </a:rPr>
              <a:t>ПРОЕКТНОЕ ПРЕДЛОЖЕНИЕ — НЕ РЕАЛИЗОВАНО В ТЕКУЩЕЙ ВЕРСИИ</a:t>
            </a:r>
            <a:endParaRPr lang="en-US" sz="1800" dirty="0"/>
          </a:p>
        </p:txBody>
      </p:sp>
      <p:sp>
        <p:nvSpPr>
          <p:cNvPr id="31" name="Rounded Rectangle 30"/>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27</a:t>
            </a:r>
          </a:p>
        </p:txBody>
      </p:sp>
      <p:sp>
        <p:nvSpPr>
          <p:cNvPr id="32"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1226"/>
        </a:solidFill>
        <a:effectLst/>
      </p:bgPr>
    </p:bg>
    <p:spTree>
      <p:nvGrpSpPr>
        <p:cNvPr id="1" name=""/>
        <p:cNvGrpSpPr/>
        <p:nvPr/>
      </p:nvGrpSpPr>
      <p:grpSpPr>
        <a:xfrm>
          <a:off x="0" y="0"/>
          <a:ext cx="0" cy="0"/>
          <a:chOff x="0" y="0"/>
          <a:chExt cx="0" cy="0"/>
        </a:xfrm>
      </p:grpSpPr>
      <p:sp>
        <p:nvSpPr>
          <p:cNvPr id="22" name="Rectangle 21"/>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Что понадобится для настоящего сканирования</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28</a:t>
            </a:r>
            <a:endParaRPr lang="en-US" sz="900" dirty="0"/>
          </a:p>
        </p:txBody>
      </p:sp>
      <p:sp>
        <p:nvSpPr>
          <p:cNvPr id="8" name="Shape 6"/>
          <p:cNvSpPr/>
          <p:nvPr/>
        </p:nvSpPr>
        <p:spPr>
          <a:xfrm>
            <a:off x="786384" y="1655064"/>
            <a:ext cx="100584" cy="100584"/>
          </a:xfrm>
          <a:prstGeom prst="ellipse">
            <a:avLst/>
          </a:prstGeom>
          <a:solidFill>
            <a:srgbClr val="42D3C4"/>
          </a:solidFill>
          <a:ln w="12700">
            <a:solidFill>
              <a:srgbClr val="42D3C4"/>
            </a:solidFill>
            <a:prstDash val="solid"/>
          </a:ln>
        </p:spPr>
        <p:txBody>
          <a:bodyPr/>
          <a:lstStyle/>
          <a:p>
            <a:endParaRPr/>
          </a:p>
        </p:txBody>
      </p:sp>
      <p:sp>
        <p:nvSpPr>
          <p:cNvPr id="9" name="Text 7"/>
          <p:cNvSpPr/>
          <p:nvPr/>
        </p:nvSpPr>
        <p:spPr>
          <a:xfrm>
            <a:off x="1078992" y="1527048"/>
            <a:ext cx="1013155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SDK производителя и устойчивое подключение устройства.</a:t>
            </a:r>
            <a:endParaRPr lang="en-US" sz="2000" dirty="0"/>
          </a:p>
        </p:txBody>
      </p:sp>
      <p:sp>
        <p:nvSpPr>
          <p:cNvPr id="10" name="Shape 8"/>
          <p:cNvSpPr/>
          <p:nvPr/>
        </p:nvSpPr>
        <p:spPr>
          <a:xfrm>
            <a:off x="786384" y="2496312"/>
            <a:ext cx="100584" cy="100584"/>
          </a:xfrm>
          <a:prstGeom prst="ellipse">
            <a:avLst/>
          </a:prstGeom>
          <a:solidFill>
            <a:srgbClr val="42D3C4"/>
          </a:solidFill>
          <a:ln w="12700">
            <a:solidFill>
              <a:srgbClr val="42D3C4"/>
            </a:solidFill>
            <a:prstDash val="solid"/>
          </a:ln>
        </p:spPr>
        <p:txBody>
          <a:bodyPr/>
          <a:lstStyle/>
          <a:p>
            <a:endParaRPr/>
          </a:p>
        </p:txBody>
      </p:sp>
      <p:sp>
        <p:nvSpPr>
          <p:cNvPr id="11" name="Text 9"/>
          <p:cNvSpPr/>
          <p:nvPr/>
        </p:nvSpPr>
        <p:spPr>
          <a:xfrm>
            <a:off x="1078992" y="2368296"/>
            <a:ext cx="1013155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Калибровка и контроль параметров захвата.</a:t>
            </a:r>
            <a:endParaRPr lang="en-US" sz="2000" dirty="0"/>
          </a:p>
        </p:txBody>
      </p:sp>
      <p:sp>
        <p:nvSpPr>
          <p:cNvPr id="12" name="Shape 10"/>
          <p:cNvSpPr/>
          <p:nvPr/>
        </p:nvSpPr>
        <p:spPr>
          <a:xfrm>
            <a:off x="786384" y="3337560"/>
            <a:ext cx="100584" cy="100584"/>
          </a:xfrm>
          <a:prstGeom prst="ellipse">
            <a:avLst/>
          </a:prstGeom>
          <a:solidFill>
            <a:srgbClr val="42D3C4"/>
          </a:solidFill>
          <a:ln w="12700">
            <a:solidFill>
              <a:srgbClr val="42D3C4"/>
            </a:solidFill>
            <a:prstDash val="solid"/>
          </a:ln>
        </p:spPr>
        <p:txBody>
          <a:bodyPr/>
          <a:lstStyle/>
          <a:p>
            <a:endParaRPr/>
          </a:p>
        </p:txBody>
      </p:sp>
      <p:sp>
        <p:nvSpPr>
          <p:cNvPr id="13" name="Text 11"/>
          <p:cNvSpPr/>
          <p:nvPr/>
        </p:nvSpPr>
        <p:spPr>
          <a:xfrm>
            <a:off x="1078992" y="3209544"/>
            <a:ext cx="1013155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Получение и обработка реальных облаков точек.</a:t>
            </a:r>
            <a:endParaRPr lang="en-US" sz="2000" dirty="0"/>
          </a:p>
        </p:txBody>
      </p:sp>
      <p:sp>
        <p:nvSpPr>
          <p:cNvPr id="14" name="Shape 12"/>
          <p:cNvSpPr/>
          <p:nvPr/>
        </p:nvSpPr>
        <p:spPr>
          <a:xfrm>
            <a:off x="786384" y="4178808"/>
            <a:ext cx="100584" cy="100584"/>
          </a:xfrm>
          <a:prstGeom prst="ellipse">
            <a:avLst/>
          </a:prstGeom>
          <a:solidFill>
            <a:srgbClr val="42D3C4"/>
          </a:solidFill>
          <a:ln w="12700">
            <a:solidFill>
              <a:srgbClr val="42D3C4"/>
            </a:solidFill>
            <a:prstDash val="solid"/>
          </a:ln>
        </p:spPr>
        <p:txBody>
          <a:bodyPr/>
          <a:lstStyle/>
          <a:p>
            <a:endParaRPr/>
          </a:p>
        </p:txBody>
      </p:sp>
      <p:sp>
        <p:nvSpPr>
          <p:cNvPr id="15" name="Text 13"/>
          <p:cNvSpPr/>
          <p:nvPr/>
        </p:nvSpPr>
        <p:spPr>
          <a:xfrm>
            <a:off x="1078992" y="4050792"/>
            <a:ext cx="1013155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Проверка погрешности на эталонных предметах.</a:t>
            </a:r>
            <a:endParaRPr lang="en-US" sz="2000" dirty="0"/>
          </a:p>
        </p:txBody>
      </p:sp>
      <p:sp>
        <p:nvSpPr>
          <p:cNvPr id="16" name="Shape 14"/>
          <p:cNvSpPr/>
          <p:nvPr/>
        </p:nvSpPr>
        <p:spPr>
          <a:xfrm>
            <a:off x="786384" y="5020056"/>
            <a:ext cx="100584" cy="100584"/>
          </a:xfrm>
          <a:prstGeom prst="ellipse">
            <a:avLst/>
          </a:prstGeom>
          <a:solidFill>
            <a:srgbClr val="42D3C4"/>
          </a:solidFill>
          <a:ln w="12700">
            <a:solidFill>
              <a:srgbClr val="42D3C4"/>
            </a:solidFill>
            <a:prstDash val="solid"/>
          </a:ln>
        </p:spPr>
        <p:txBody>
          <a:bodyPr/>
          <a:lstStyle/>
          <a:p>
            <a:endParaRPr/>
          </a:p>
        </p:txBody>
      </p:sp>
      <p:sp>
        <p:nvSpPr>
          <p:cNvPr id="17" name="Text 15"/>
          <p:cNvSpPr/>
          <p:nvPr/>
        </p:nvSpPr>
        <p:spPr>
          <a:xfrm>
            <a:off x="1078992" y="4892040"/>
            <a:ext cx="10131552" cy="438912"/>
          </a:xfrm>
          <a:prstGeom prst="rect">
            <a:avLst/>
          </a:prstGeom>
          <a:noFill/>
          <a:ln/>
        </p:spPr>
        <p:txBody>
          <a:bodyPr wrap="square" lIns="0" tIns="0" rIns="0" bIns="0" rtlCol="0" anchor="t">
            <a:normAutofit/>
          </a:bodyPr>
          <a:lstStyle/>
          <a:p>
            <a:pPr marL="0" indent="0">
              <a:buNone/>
            </a:pPr>
            <a:r>
              <a:rPr lang="en-US" sz="2000" dirty="0">
                <a:solidFill>
                  <a:srgbClr val="F2F9FC"/>
                </a:solidFill>
                <a:latin typeface="Segoe UI" pitchFamily="34" charset="0"/>
                <a:ea typeface="Aptos" pitchFamily="34" charset="-122"/>
                <a:cs typeface="Aptos" pitchFamily="34" charset="-120"/>
              </a:rPr>
              <a:t>Метаданные устройства и протокол качества.</a:t>
            </a:r>
            <a:endParaRPr lang="en-US" sz="2000" dirty="0"/>
          </a:p>
        </p:txBody>
      </p:sp>
      <p:sp>
        <p:nvSpPr>
          <p:cNvPr id="25" name="Rounded Rectangle 24"/>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28</a:t>
            </a:r>
          </a:p>
        </p:txBody>
      </p:sp>
      <p:sp>
        <p:nvSpPr>
          <p:cNvPr id="26" name="Oval 26"/>
          <p:cNvSpPr/>
          <p:nvPr/>
        </p:nvSpPr>
        <p:spPr>
          <a:xfrm>
            <a:off x="-726569" y="5422392"/>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1226"/>
        </a:solidFill>
        <a:effectLst/>
      </p:bgPr>
    </p:bg>
    <p:spTree>
      <p:nvGrpSpPr>
        <p:cNvPr id="1" name=""/>
        <p:cNvGrpSpPr/>
        <p:nvPr/>
      </p:nvGrpSpPr>
      <p:grpSpPr>
        <a:xfrm>
          <a:off x="0" y="0"/>
          <a:ext cx="0" cy="0"/>
          <a:chOff x="0" y="0"/>
          <a:chExt cx="0" cy="0"/>
        </a:xfrm>
      </p:grpSpPr>
      <p:sp>
        <p:nvSpPr>
          <p:cNvPr id="21" name="Rounded Rectangle 20"/>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Ограничения и инженерные риски</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29</a:t>
            </a:r>
            <a:endParaRPr lang="en-US" sz="900" dirty="0"/>
          </a:p>
        </p:txBody>
      </p:sp>
      <p:sp>
        <p:nvSpPr>
          <p:cNvPr id="12" name="Shape 10"/>
          <p:cNvSpPr/>
          <p:nvPr/>
        </p:nvSpPr>
        <p:spPr>
          <a:xfrm>
            <a:off x="6172200" y="1490472"/>
            <a:ext cx="5285232" cy="4297680"/>
          </a:xfrm>
          <a:prstGeom prst="roundRect">
            <a:avLst>
              <a:gd name="adj" fmla="val 2979"/>
            </a:avLst>
          </a:prstGeom>
          <a:solidFill>
            <a:srgbClr val="183047"/>
          </a:solidFill>
          <a:ln w="15240">
            <a:solidFill>
              <a:srgbClr val="355064"/>
            </a:solidFill>
            <a:prstDash val="solid"/>
          </a:ln>
        </p:spPr>
        <p:txBody>
          <a:bodyPr/>
          <a:lstStyle/>
          <a:p>
            <a:endParaRPr/>
          </a:p>
        </p:txBody>
      </p:sp>
      <p:sp>
        <p:nvSpPr>
          <p:cNvPr id="13" name="Shape 11"/>
          <p:cNvSpPr/>
          <p:nvPr/>
        </p:nvSpPr>
        <p:spPr>
          <a:xfrm>
            <a:off x="6327648" y="1709928"/>
            <a:ext cx="59436" cy="347472"/>
          </a:xfrm>
          <a:prstGeom prst="rect">
            <a:avLst/>
          </a:prstGeom>
          <a:solidFill>
            <a:srgbClr val="42D3C4"/>
          </a:solidFill>
          <a:ln w="12700">
            <a:solidFill>
              <a:srgbClr val="42D3C4"/>
            </a:solidFill>
            <a:prstDash val="solid"/>
          </a:ln>
        </p:spPr>
        <p:txBody>
          <a:bodyPr/>
          <a:lstStyle/>
          <a:p>
            <a:endParaRPr/>
          </a:p>
        </p:txBody>
      </p:sp>
      <p:sp>
        <p:nvSpPr>
          <p:cNvPr id="14" name="Text 12"/>
          <p:cNvSpPr/>
          <p:nvPr/>
        </p:nvSpPr>
        <p:spPr>
          <a:xfrm>
            <a:off x="6483096" y="1691640"/>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ЗАДАЧИ СЛЕДУЮЩЕГО ЭТАПА</a:t>
            </a:r>
            <a:endParaRPr lang="en-US" sz="1800" dirty="0"/>
          </a:p>
        </p:txBody>
      </p:sp>
      <p:sp>
        <p:nvSpPr>
          <p:cNvPr id="15" name="Text 13"/>
          <p:cNvSpPr/>
          <p:nvPr/>
        </p:nvSpPr>
        <p:spPr>
          <a:xfrm>
            <a:off x="6400800" y="2176272"/>
            <a:ext cx="4837176" cy="3511296"/>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 Сверка БД и файлов</a:t>
            </a:r>
            <a:endParaRPr lang="en-US" sz="1600" dirty="0"/>
          </a:p>
          <a:p>
            <a:pPr marL="0" indent="0">
              <a:buNone/>
            </a:pPr>
            <a:r>
              <a:rPr lang="en-US" sz="1600" dirty="0">
                <a:solidFill>
                  <a:srgbClr val="F2F9FC"/>
                </a:solidFill>
                <a:latin typeface="Segoe UI" pitchFamily="34" charset="0"/>
                <a:ea typeface="Aptos" pitchFamily="34" charset="-122"/>
                <a:cs typeface="Aptos" pitchFamily="34" charset="-120"/>
              </a:rPr>
              <a:t>• Миграции и мониторинг</a:t>
            </a:r>
            <a:endParaRPr lang="en-US" sz="1600" dirty="0"/>
          </a:p>
          <a:p>
            <a:pPr marL="0" indent="0">
              <a:buNone/>
            </a:pPr>
            <a:r>
              <a:rPr lang="en-US" sz="1600" dirty="0">
                <a:solidFill>
                  <a:srgbClr val="F2F9FC"/>
                </a:solidFill>
                <a:latin typeface="Segoe UI" pitchFamily="34" charset="0"/>
                <a:ea typeface="Aptos" pitchFamily="34" charset="-122"/>
                <a:cs typeface="Aptos" pitchFamily="34" charset="-120"/>
              </a:rPr>
              <a:t>• Больше браузерных испытаний</a:t>
            </a:r>
            <a:endParaRPr lang="en-US" sz="1600" dirty="0"/>
          </a:p>
          <a:p>
            <a:pPr marL="0" indent="0">
              <a:buNone/>
            </a:pPr>
            <a:r>
              <a:rPr lang="en-US" sz="1600" dirty="0">
                <a:solidFill>
                  <a:srgbClr val="F2F9FC"/>
                </a:solidFill>
                <a:latin typeface="Segoe UI" pitchFamily="34" charset="0"/>
                <a:ea typeface="Aptos" pitchFamily="34" charset="-122"/>
                <a:cs typeface="Aptos" pitchFamily="34" charset="-120"/>
              </a:rPr>
              <a:t>• Интеграция с SDK и метрология</a:t>
            </a:r>
            <a:endParaRPr lang="en-US" sz="1600" dirty="0"/>
          </a:p>
        </p:txBody>
      </p:sp>
      <p:sp>
        <p:nvSpPr>
          <p:cNvPr id="23" name="Rounded Rectangle 2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29</a:t>
            </a:r>
          </a:p>
        </p:txBody>
      </p:sp>
      <p:sp>
        <p:nvSpPr>
          <p:cNvPr id="24"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8" name="Shape 6"/>
          <p:cNvSpPr/>
          <p:nvPr/>
        </p:nvSpPr>
        <p:spPr>
          <a:xfrm>
            <a:off x="640080" y="1490472"/>
            <a:ext cx="5285232" cy="4297680"/>
          </a:xfrm>
          <a:prstGeom prst="roundRect">
            <a:avLst>
              <a:gd name="adj" fmla="val 2979"/>
            </a:avLst>
          </a:prstGeom>
          <a:solidFill>
            <a:srgbClr val="183047"/>
          </a:solidFill>
          <a:ln w="15240">
            <a:solidFill>
              <a:srgbClr val="355064"/>
            </a:solidFill>
            <a:prstDash val="solid"/>
          </a:ln>
        </p:spPr>
        <p:txBody>
          <a:bodyPr/>
          <a:lstStyle/>
          <a:p>
            <a:endParaRPr/>
          </a:p>
        </p:txBody>
      </p:sp>
      <p:sp>
        <p:nvSpPr>
          <p:cNvPr id="9" name="Shape 7"/>
          <p:cNvSpPr/>
          <p:nvPr/>
        </p:nvSpPr>
        <p:spPr>
          <a:xfrm>
            <a:off x="795528" y="1709928"/>
            <a:ext cx="59436" cy="347472"/>
          </a:xfrm>
          <a:prstGeom prst="rect">
            <a:avLst/>
          </a:prstGeom>
          <a:solidFill>
            <a:srgbClr val="EBC980"/>
          </a:solidFill>
          <a:ln w="12700">
            <a:solidFill>
              <a:srgbClr val="EBC980"/>
            </a:solidFill>
            <a:prstDash val="solid"/>
          </a:ln>
        </p:spPr>
        <p:txBody>
          <a:bodyPr/>
          <a:lstStyle/>
          <a:p>
            <a:endParaRPr/>
          </a:p>
        </p:txBody>
      </p:sp>
      <p:sp>
        <p:nvSpPr>
          <p:cNvPr id="10" name="Text 8"/>
          <p:cNvSpPr/>
          <p:nvPr/>
        </p:nvSpPr>
        <p:spPr>
          <a:xfrm>
            <a:off x="950976" y="1691640"/>
            <a:ext cx="4828032"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ТЕКУЩИЕ ОГРАНИЧЕНИЯ</a:t>
            </a:r>
            <a:endParaRPr lang="en-US" sz="1800" dirty="0"/>
          </a:p>
        </p:txBody>
      </p:sp>
      <p:sp>
        <p:nvSpPr>
          <p:cNvPr id="11" name="Text 9"/>
          <p:cNvSpPr/>
          <p:nvPr/>
        </p:nvSpPr>
        <p:spPr>
          <a:xfrm>
            <a:off x="868680" y="2176272"/>
            <a:ext cx="4837176" cy="3511296"/>
          </a:xfrm>
          <a:prstGeom prst="rect">
            <a:avLst/>
          </a:prstGeom>
          <a:noFill/>
          <a:ln/>
        </p:spPr>
        <p:txBody>
          <a:bodyPr wrap="square" lIns="0" tIns="0" rIns="0" bIns="0" rtlCol="0" anchor="t">
            <a:normAutofit/>
          </a:bodyPr>
          <a:lstStyle/>
          <a:p>
            <a:pPr marL="0" indent="0">
              <a:buNone/>
            </a:pPr>
            <a:r>
              <a:rPr lang="en-US" sz="1600" dirty="0">
                <a:solidFill>
                  <a:srgbClr val="F2F9FC"/>
                </a:solidFill>
                <a:latin typeface="Segoe UI" pitchFamily="34" charset="0"/>
                <a:ea typeface="Aptos" pitchFamily="34" charset="-122"/>
                <a:cs typeface="Aptos" pitchFamily="34" charset="-120"/>
              </a:rPr>
              <a:t>• Нет реального захвата поверхности</a:t>
            </a:r>
            <a:endParaRPr lang="en-US" sz="1600" dirty="0"/>
          </a:p>
          <a:p>
            <a:pPr marL="0" indent="0">
              <a:buNone/>
            </a:pPr>
            <a:r>
              <a:rPr lang="en-US" sz="1600" dirty="0">
                <a:solidFill>
                  <a:srgbClr val="F2F9FC"/>
                </a:solidFill>
                <a:latin typeface="Segoe UI" pitchFamily="34" charset="0"/>
                <a:ea typeface="Aptos" pitchFamily="34" charset="-122"/>
                <a:cs typeface="Aptos" pitchFamily="34" charset="-120"/>
              </a:rPr>
              <a:t>• Нет измерительной калибровки</a:t>
            </a:r>
            <a:endParaRPr lang="en-US" sz="1600" dirty="0"/>
          </a:p>
          <a:p>
            <a:pPr marL="0" indent="0">
              <a:buNone/>
            </a:pPr>
            <a:r>
              <a:rPr lang="en-US" sz="1600" dirty="0">
                <a:solidFill>
                  <a:srgbClr val="F2F9FC"/>
                </a:solidFill>
                <a:latin typeface="Segoe UI" pitchFamily="34" charset="0"/>
                <a:ea typeface="Aptos" pitchFamily="34" charset="-122"/>
                <a:cs typeface="Aptos" pitchFamily="34" charset="-120"/>
              </a:rPr>
              <a:t>• Нет GLB / STL / binary PLY</a:t>
            </a:r>
            <a:endParaRPr lang="en-US" sz="1600" dirty="0"/>
          </a:p>
          <a:p>
            <a:pPr marL="0" indent="0">
              <a:buNone/>
            </a:pPr>
            <a:r>
              <a:rPr lang="en-US" sz="1600" dirty="0">
                <a:solidFill>
                  <a:srgbClr val="F2F9FC"/>
                </a:solidFill>
                <a:latin typeface="Segoe UI" pitchFamily="34" charset="0"/>
                <a:ea typeface="Aptos" pitchFamily="34" charset="-122"/>
                <a:cs typeface="Aptos" pitchFamily="34" charset="-120"/>
              </a:rPr>
              <a:t>• Нет восстановления пароля</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1226"/>
        </a:solidFill>
        <a:effectLst/>
      </p:bgPr>
    </p:bg>
    <p:spTree>
      <p:nvGrpSpPr>
        <p:cNvPr id="1" name=""/>
        <p:cNvGrpSpPr/>
        <p:nvPr/>
      </p:nvGrpSpPr>
      <p:grpSpPr>
        <a:xfrm>
          <a:off x="0" y="0"/>
          <a:ext cx="0" cy="0"/>
          <a:chOff x="0" y="0"/>
          <a:chExt cx="0" cy="0"/>
        </a:xfrm>
      </p:grpSpPr>
      <p:sp>
        <p:nvSpPr>
          <p:cNvPr id="28" name="Rectangle 27"/>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План дальнейшего развития</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30</a:t>
            </a:r>
            <a:endParaRPr lang="en-US" sz="900" dirty="0"/>
          </a:p>
        </p:txBody>
      </p:sp>
      <p:sp>
        <p:nvSpPr>
          <p:cNvPr id="8" name="Shape 6"/>
          <p:cNvSpPr/>
          <p:nvPr/>
        </p:nvSpPr>
        <p:spPr>
          <a:xfrm>
            <a:off x="731520" y="1335024"/>
            <a:ext cx="10561320" cy="950976"/>
          </a:xfrm>
          <a:prstGeom prst="roundRect">
            <a:avLst>
              <a:gd name="adj" fmla="val 13462"/>
            </a:avLst>
          </a:prstGeom>
          <a:solidFill>
            <a:srgbClr val="183047"/>
          </a:solidFill>
          <a:ln w="15240">
            <a:solidFill>
              <a:srgbClr val="355064"/>
            </a:solidFill>
            <a:prstDash val="solid"/>
          </a:ln>
        </p:spPr>
        <p:txBody>
          <a:bodyPr/>
          <a:lstStyle/>
          <a:p>
            <a:endParaRPr/>
          </a:p>
        </p:txBody>
      </p:sp>
      <p:sp>
        <p:nvSpPr>
          <p:cNvPr id="9" name="Text 7"/>
          <p:cNvSpPr/>
          <p:nvPr/>
        </p:nvSpPr>
        <p:spPr>
          <a:xfrm>
            <a:off x="950976" y="1554480"/>
            <a:ext cx="411480" cy="365760"/>
          </a:xfrm>
          <a:prstGeom prst="rect">
            <a:avLst/>
          </a:prstGeom>
          <a:noFill/>
          <a:ln/>
        </p:spPr>
        <p:txBody>
          <a:bodyPr wrap="square" lIns="0" tIns="0" rIns="0" bIns="0" rtlCol="0" anchor="ctr">
            <a:normAutofit/>
          </a:bodyPr>
          <a:lstStyle/>
          <a:p>
            <a:pPr marL="0" indent="0">
              <a:buNone/>
            </a:pPr>
            <a:r>
              <a:rPr lang="en-US" sz="2300" b="1" dirty="0">
                <a:solidFill>
                  <a:srgbClr val="42D3C4"/>
                </a:solidFill>
                <a:latin typeface="Segoe UI" pitchFamily="34" charset="0"/>
                <a:ea typeface="Aptos" pitchFamily="34" charset="-122"/>
                <a:cs typeface="Aptos" pitchFamily="34" charset="-120"/>
              </a:rPr>
              <a:t>I</a:t>
            </a:r>
            <a:endParaRPr lang="en-US" sz="2300" dirty="0"/>
          </a:p>
        </p:txBody>
      </p:sp>
      <p:sp>
        <p:nvSpPr>
          <p:cNvPr id="10" name="Text 8"/>
          <p:cNvSpPr/>
          <p:nvPr/>
        </p:nvSpPr>
        <p:spPr>
          <a:xfrm>
            <a:off x="1517904" y="1536192"/>
            <a:ext cx="3291840" cy="411480"/>
          </a:xfrm>
          <a:prstGeom prst="rect">
            <a:avLst/>
          </a:prstGeom>
          <a:noFill/>
          <a:ln/>
        </p:spPr>
        <p:txBody>
          <a:bodyPr wrap="square" lIns="0" tIns="0" rIns="0" bIns="0" rtlCol="0" anchor="ctr">
            <a:normAutofit/>
          </a:bodyPr>
          <a:lstStyle/>
          <a:p>
            <a:pPr marL="0" indent="0">
              <a:buNone/>
            </a:pPr>
            <a:r>
              <a:rPr lang="en-US" sz="1900" b="1" dirty="0">
                <a:solidFill>
                  <a:srgbClr val="F2F9FC"/>
                </a:solidFill>
                <a:latin typeface="Segoe UI" pitchFamily="34" charset="0"/>
                <a:ea typeface="Aptos" pitchFamily="34" charset="-122"/>
                <a:cs typeface="Aptos" pitchFamily="34" charset="-120"/>
              </a:rPr>
              <a:t>Стабилизация</a:t>
            </a:r>
            <a:endParaRPr lang="en-US" sz="1900" dirty="0"/>
          </a:p>
        </p:txBody>
      </p:sp>
      <p:sp>
        <p:nvSpPr>
          <p:cNvPr id="11" name="Text 9"/>
          <p:cNvSpPr/>
          <p:nvPr/>
        </p:nvSpPr>
        <p:spPr>
          <a:xfrm>
            <a:off x="4709160" y="1563624"/>
            <a:ext cx="6144768" cy="347472"/>
          </a:xfrm>
          <a:prstGeom prst="rect">
            <a:avLst/>
          </a:prstGeom>
          <a:noFill/>
          <a:ln/>
        </p:spPr>
        <p:txBody>
          <a:bodyPr wrap="square" lIns="0" tIns="0" rIns="0" bIns="0" rtlCol="0" anchor="ctr">
            <a:normAutofit/>
          </a:bodyPr>
          <a:lstStyle/>
          <a:p>
            <a:pPr marL="0" indent="0">
              <a:buNone/>
            </a:pPr>
            <a:r>
              <a:rPr lang="en-US" sz="1700" dirty="0">
                <a:solidFill>
                  <a:srgbClr val="ADC3D1"/>
                </a:solidFill>
                <a:latin typeface="Segoe UI" pitchFamily="34" charset="0"/>
                <a:ea typeface="Aptos" pitchFamily="34" charset="-122"/>
                <a:cs typeface="Aptos" pitchFamily="34" charset="-120"/>
              </a:rPr>
              <a:t>Регрессия, восстановление, миграции</a:t>
            </a:r>
            <a:endParaRPr lang="en-US" sz="1700" dirty="0"/>
          </a:p>
        </p:txBody>
      </p:sp>
      <p:sp>
        <p:nvSpPr>
          <p:cNvPr id="12" name="Shape 10"/>
          <p:cNvSpPr/>
          <p:nvPr/>
        </p:nvSpPr>
        <p:spPr>
          <a:xfrm>
            <a:off x="731520" y="2478024"/>
            <a:ext cx="10561320" cy="950976"/>
          </a:xfrm>
          <a:prstGeom prst="roundRect">
            <a:avLst>
              <a:gd name="adj" fmla="val 13462"/>
            </a:avLst>
          </a:prstGeom>
          <a:solidFill>
            <a:srgbClr val="183047"/>
          </a:solidFill>
          <a:ln w="15240">
            <a:solidFill>
              <a:srgbClr val="355064"/>
            </a:solidFill>
            <a:prstDash val="solid"/>
          </a:ln>
        </p:spPr>
        <p:txBody>
          <a:bodyPr/>
          <a:lstStyle/>
          <a:p>
            <a:endParaRPr/>
          </a:p>
        </p:txBody>
      </p:sp>
      <p:sp>
        <p:nvSpPr>
          <p:cNvPr id="13" name="Text 11"/>
          <p:cNvSpPr/>
          <p:nvPr/>
        </p:nvSpPr>
        <p:spPr>
          <a:xfrm>
            <a:off x="950976" y="2697480"/>
            <a:ext cx="411480" cy="365760"/>
          </a:xfrm>
          <a:prstGeom prst="rect">
            <a:avLst/>
          </a:prstGeom>
          <a:noFill/>
          <a:ln/>
        </p:spPr>
        <p:txBody>
          <a:bodyPr wrap="square" lIns="0" tIns="0" rIns="0" bIns="0" rtlCol="0" anchor="ctr">
            <a:normAutofit/>
          </a:bodyPr>
          <a:lstStyle/>
          <a:p>
            <a:pPr marL="0" indent="0">
              <a:buNone/>
            </a:pPr>
            <a:r>
              <a:rPr lang="en-US" sz="2300" b="1" dirty="0">
                <a:solidFill>
                  <a:srgbClr val="42D3C4"/>
                </a:solidFill>
                <a:latin typeface="Segoe UI" pitchFamily="34" charset="0"/>
                <a:ea typeface="Aptos" pitchFamily="34" charset="-122"/>
                <a:cs typeface="Aptos" pitchFamily="34" charset="-120"/>
              </a:rPr>
              <a:t>II</a:t>
            </a:r>
            <a:endParaRPr lang="en-US" sz="2300" dirty="0"/>
          </a:p>
        </p:txBody>
      </p:sp>
      <p:sp>
        <p:nvSpPr>
          <p:cNvPr id="14" name="Text 12"/>
          <p:cNvSpPr/>
          <p:nvPr/>
        </p:nvSpPr>
        <p:spPr>
          <a:xfrm>
            <a:off x="1517904" y="2679192"/>
            <a:ext cx="3291840" cy="411480"/>
          </a:xfrm>
          <a:prstGeom prst="rect">
            <a:avLst/>
          </a:prstGeom>
          <a:noFill/>
          <a:ln/>
        </p:spPr>
        <p:txBody>
          <a:bodyPr wrap="square" lIns="0" tIns="0" rIns="0" bIns="0" rtlCol="0" anchor="ctr">
            <a:normAutofit/>
          </a:bodyPr>
          <a:lstStyle/>
          <a:p>
            <a:pPr marL="0" indent="0">
              <a:buNone/>
            </a:pPr>
            <a:r>
              <a:rPr lang="en-US" sz="1900" b="1" dirty="0">
                <a:solidFill>
                  <a:srgbClr val="F2F9FC"/>
                </a:solidFill>
                <a:latin typeface="Segoe UI" pitchFamily="34" charset="0"/>
                <a:ea typeface="Aptos" pitchFamily="34" charset="-122"/>
                <a:cs typeface="Aptos" pitchFamily="34" charset="-120"/>
              </a:rPr>
              <a:t>Аппаратный адаптер</a:t>
            </a:r>
            <a:endParaRPr lang="en-US" sz="1900" dirty="0"/>
          </a:p>
        </p:txBody>
      </p:sp>
      <p:sp>
        <p:nvSpPr>
          <p:cNvPr id="15" name="Text 13"/>
          <p:cNvSpPr/>
          <p:nvPr/>
        </p:nvSpPr>
        <p:spPr>
          <a:xfrm>
            <a:off x="4709160" y="2706624"/>
            <a:ext cx="6144768" cy="347472"/>
          </a:xfrm>
          <a:prstGeom prst="rect">
            <a:avLst/>
          </a:prstGeom>
          <a:noFill/>
          <a:ln/>
        </p:spPr>
        <p:txBody>
          <a:bodyPr wrap="square" lIns="0" tIns="0" rIns="0" bIns="0" rtlCol="0" anchor="ctr">
            <a:normAutofit/>
          </a:bodyPr>
          <a:lstStyle/>
          <a:p>
            <a:pPr marL="0" indent="0">
              <a:buNone/>
            </a:pPr>
            <a:r>
              <a:rPr lang="en-US" sz="1700" dirty="0">
                <a:solidFill>
                  <a:srgbClr val="ADC3D1"/>
                </a:solidFill>
                <a:latin typeface="Segoe UI" pitchFamily="34" charset="0"/>
                <a:ea typeface="Aptos" pitchFamily="34" charset="-122"/>
                <a:cs typeface="Aptos" pitchFamily="34" charset="-120"/>
              </a:rPr>
              <a:t>SDK, команды, события, отмена</a:t>
            </a:r>
            <a:endParaRPr lang="en-US" sz="1700" dirty="0"/>
          </a:p>
        </p:txBody>
      </p:sp>
      <p:sp>
        <p:nvSpPr>
          <p:cNvPr id="16" name="Shape 14"/>
          <p:cNvSpPr/>
          <p:nvPr/>
        </p:nvSpPr>
        <p:spPr>
          <a:xfrm>
            <a:off x="731520" y="3621024"/>
            <a:ext cx="10561320" cy="950976"/>
          </a:xfrm>
          <a:prstGeom prst="roundRect">
            <a:avLst>
              <a:gd name="adj" fmla="val 13462"/>
            </a:avLst>
          </a:prstGeom>
          <a:solidFill>
            <a:srgbClr val="183047"/>
          </a:solidFill>
          <a:ln w="15240">
            <a:solidFill>
              <a:srgbClr val="355064"/>
            </a:solidFill>
            <a:prstDash val="solid"/>
          </a:ln>
        </p:spPr>
        <p:txBody>
          <a:bodyPr/>
          <a:lstStyle/>
          <a:p>
            <a:endParaRPr/>
          </a:p>
        </p:txBody>
      </p:sp>
      <p:sp>
        <p:nvSpPr>
          <p:cNvPr id="17" name="Text 15"/>
          <p:cNvSpPr/>
          <p:nvPr/>
        </p:nvSpPr>
        <p:spPr>
          <a:xfrm>
            <a:off x="950976" y="3840480"/>
            <a:ext cx="411480" cy="365760"/>
          </a:xfrm>
          <a:prstGeom prst="rect">
            <a:avLst/>
          </a:prstGeom>
          <a:noFill/>
          <a:ln/>
        </p:spPr>
        <p:txBody>
          <a:bodyPr wrap="square" lIns="0" tIns="0" rIns="0" bIns="0" rtlCol="0" anchor="ctr">
            <a:normAutofit/>
          </a:bodyPr>
          <a:lstStyle/>
          <a:p>
            <a:pPr marL="0" indent="0">
              <a:buNone/>
            </a:pPr>
            <a:r>
              <a:rPr lang="en-US" sz="2300" b="1" dirty="0">
                <a:solidFill>
                  <a:srgbClr val="42D3C4"/>
                </a:solidFill>
                <a:latin typeface="Segoe UI" pitchFamily="34" charset="0"/>
                <a:ea typeface="Aptos" pitchFamily="34" charset="-122"/>
                <a:cs typeface="Aptos" pitchFamily="34" charset="-120"/>
              </a:rPr>
              <a:t>III</a:t>
            </a:r>
            <a:endParaRPr lang="en-US" sz="2300" dirty="0"/>
          </a:p>
        </p:txBody>
      </p:sp>
      <p:sp>
        <p:nvSpPr>
          <p:cNvPr id="18" name="Text 16"/>
          <p:cNvSpPr/>
          <p:nvPr/>
        </p:nvSpPr>
        <p:spPr>
          <a:xfrm>
            <a:off x="1517904" y="3822192"/>
            <a:ext cx="3291840" cy="411480"/>
          </a:xfrm>
          <a:prstGeom prst="rect">
            <a:avLst/>
          </a:prstGeom>
          <a:noFill/>
          <a:ln/>
        </p:spPr>
        <p:txBody>
          <a:bodyPr wrap="square" lIns="0" tIns="0" rIns="0" bIns="0" rtlCol="0" anchor="ctr">
            <a:normAutofit/>
          </a:bodyPr>
          <a:lstStyle/>
          <a:p>
            <a:pPr marL="0" indent="0">
              <a:buNone/>
            </a:pPr>
            <a:r>
              <a:rPr lang="en-US" sz="1900" b="1" dirty="0">
                <a:solidFill>
                  <a:srgbClr val="F2F9FC"/>
                </a:solidFill>
                <a:latin typeface="Segoe UI" pitchFamily="34" charset="0"/>
                <a:ea typeface="Aptos" pitchFamily="34" charset="-122"/>
                <a:cs typeface="Aptos" pitchFamily="34" charset="-120"/>
              </a:rPr>
              <a:t>Реконструкция</a:t>
            </a:r>
            <a:endParaRPr lang="en-US" sz="1900" dirty="0"/>
          </a:p>
        </p:txBody>
      </p:sp>
      <p:sp>
        <p:nvSpPr>
          <p:cNvPr id="19" name="Text 17"/>
          <p:cNvSpPr/>
          <p:nvPr/>
        </p:nvSpPr>
        <p:spPr>
          <a:xfrm>
            <a:off x="4709160" y="3849624"/>
            <a:ext cx="6144768" cy="347472"/>
          </a:xfrm>
          <a:prstGeom prst="rect">
            <a:avLst/>
          </a:prstGeom>
          <a:noFill/>
          <a:ln/>
        </p:spPr>
        <p:txBody>
          <a:bodyPr wrap="square" lIns="0" tIns="0" rIns="0" bIns="0" rtlCol="0" anchor="ctr">
            <a:normAutofit/>
          </a:bodyPr>
          <a:lstStyle/>
          <a:p>
            <a:pPr marL="0" indent="0">
              <a:buNone/>
            </a:pPr>
            <a:r>
              <a:rPr lang="en-US" sz="1700" dirty="0">
                <a:solidFill>
                  <a:srgbClr val="ADC3D1"/>
                </a:solidFill>
                <a:latin typeface="Segoe UI" pitchFamily="34" charset="0"/>
                <a:ea typeface="Aptos" pitchFamily="34" charset="-122"/>
                <a:cs typeface="Aptos" pitchFamily="34" charset="-120"/>
              </a:rPr>
              <a:t>Фильтрация облака точек, сетка</a:t>
            </a:r>
            <a:endParaRPr lang="en-US" sz="1700" dirty="0"/>
          </a:p>
        </p:txBody>
      </p:sp>
      <p:sp>
        <p:nvSpPr>
          <p:cNvPr id="31" name="Rounded Rectangle 30"/>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30</a:t>
            </a:r>
          </a:p>
        </p:txBody>
      </p:sp>
      <p:sp>
        <p:nvSpPr>
          <p:cNvPr id="32" name="Oval 26"/>
          <p:cNvSpPr/>
          <p:nvPr/>
        </p:nvSpPr>
        <p:spPr>
          <a:xfrm>
            <a:off x="-484632" y="4642881"/>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20" name="Shape 18"/>
          <p:cNvSpPr/>
          <p:nvPr/>
        </p:nvSpPr>
        <p:spPr>
          <a:xfrm>
            <a:off x="731520" y="4764024"/>
            <a:ext cx="10561320" cy="950976"/>
          </a:xfrm>
          <a:prstGeom prst="roundRect">
            <a:avLst>
              <a:gd name="adj" fmla="val 13462"/>
            </a:avLst>
          </a:prstGeom>
          <a:solidFill>
            <a:srgbClr val="183047"/>
          </a:solidFill>
          <a:ln w="15240">
            <a:solidFill>
              <a:srgbClr val="355064"/>
            </a:solidFill>
            <a:prstDash val="solid"/>
          </a:ln>
        </p:spPr>
        <p:txBody>
          <a:bodyPr/>
          <a:lstStyle/>
          <a:p>
            <a:endParaRPr/>
          </a:p>
        </p:txBody>
      </p:sp>
      <p:sp>
        <p:nvSpPr>
          <p:cNvPr id="21" name="Text 19"/>
          <p:cNvSpPr/>
          <p:nvPr/>
        </p:nvSpPr>
        <p:spPr>
          <a:xfrm>
            <a:off x="950976" y="4983480"/>
            <a:ext cx="411480" cy="365760"/>
          </a:xfrm>
          <a:prstGeom prst="rect">
            <a:avLst/>
          </a:prstGeom>
          <a:noFill/>
          <a:ln/>
        </p:spPr>
        <p:txBody>
          <a:bodyPr wrap="square" lIns="0" tIns="0" rIns="0" bIns="0" rtlCol="0" anchor="ctr">
            <a:normAutofit/>
          </a:bodyPr>
          <a:lstStyle/>
          <a:p>
            <a:pPr marL="0" indent="0">
              <a:buNone/>
            </a:pPr>
            <a:r>
              <a:rPr lang="en-US" sz="2300" b="1" dirty="0">
                <a:solidFill>
                  <a:srgbClr val="42D3C4"/>
                </a:solidFill>
                <a:latin typeface="Segoe UI" pitchFamily="34" charset="0"/>
                <a:ea typeface="Aptos" pitchFamily="34" charset="-122"/>
                <a:cs typeface="Aptos" pitchFamily="34" charset="-120"/>
              </a:rPr>
              <a:t>IV</a:t>
            </a:r>
            <a:endParaRPr lang="en-US" sz="2300" dirty="0"/>
          </a:p>
        </p:txBody>
      </p:sp>
      <p:sp>
        <p:nvSpPr>
          <p:cNvPr id="22" name="Text 20"/>
          <p:cNvSpPr/>
          <p:nvPr/>
        </p:nvSpPr>
        <p:spPr>
          <a:xfrm>
            <a:off x="1517904" y="4965192"/>
            <a:ext cx="3291840" cy="411480"/>
          </a:xfrm>
          <a:prstGeom prst="rect">
            <a:avLst/>
          </a:prstGeom>
          <a:noFill/>
          <a:ln/>
        </p:spPr>
        <p:txBody>
          <a:bodyPr wrap="square" lIns="0" tIns="0" rIns="0" bIns="0" rtlCol="0" anchor="ctr">
            <a:normAutofit/>
          </a:bodyPr>
          <a:lstStyle/>
          <a:p>
            <a:pPr marL="0" indent="0">
              <a:buNone/>
            </a:pPr>
            <a:r>
              <a:rPr lang="en-US" sz="1900" b="1" dirty="0">
                <a:solidFill>
                  <a:srgbClr val="F2F9FC"/>
                </a:solidFill>
                <a:latin typeface="Segoe UI" pitchFamily="34" charset="0"/>
                <a:ea typeface="Aptos" pitchFamily="34" charset="-122"/>
                <a:cs typeface="Aptos" pitchFamily="34" charset="-120"/>
              </a:rPr>
              <a:t>Валидация</a:t>
            </a:r>
            <a:endParaRPr lang="en-US" sz="1900" dirty="0"/>
          </a:p>
        </p:txBody>
      </p:sp>
      <p:sp>
        <p:nvSpPr>
          <p:cNvPr id="23" name="Text 21"/>
          <p:cNvSpPr/>
          <p:nvPr/>
        </p:nvSpPr>
        <p:spPr>
          <a:xfrm>
            <a:off x="4709160" y="4992624"/>
            <a:ext cx="6144768" cy="347472"/>
          </a:xfrm>
          <a:prstGeom prst="rect">
            <a:avLst/>
          </a:prstGeom>
          <a:noFill/>
          <a:ln/>
        </p:spPr>
        <p:txBody>
          <a:bodyPr wrap="square" lIns="0" tIns="0" rIns="0" bIns="0" rtlCol="0" anchor="ctr">
            <a:normAutofit/>
          </a:bodyPr>
          <a:lstStyle/>
          <a:p>
            <a:pPr marL="0" indent="0">
              <a:buNone/>
            </a:pPr>
            <a:r>
              <a:rPr lang="en-US" sz="1700" dirty="0">
                <a:solidFill>
                  <a:srgbClr val="ADC3D1"/>
                </a:solidFill>
                <a:latin typeface="Segoe UI" pitchFamily="34" charset="0"/>
                <a:ea typeface="Aptos" pitchFamily="34" charset="-122"/>
                <a:cs typeface="Aptos" pitchFamily="34" charset="-120"/>
              </a:rPr>
              <a:t>Эталоны, метрики, протоколы</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1226"/>
        </a:solidFill>
        <a:effectLst/>
      </p:bgPr>
    </p:bg>
    <p:spTree>
      <p:nvGrpSpPr>
        <p:cNvPr id="1" name=""/>
        <p:cNvGrpSpPr/>
        <p:nvPr/>
      </p:nvGrpSpPr>
      <p:grpSpPr>
        <a:xfrm>
          <a:off x="0" y="0"/>
          <a:ext cx="0" cy="0"/>
          <a:chOff x="0" y="0"/>
          <a:chExt cx="0" cy="0"/>
        </a:xfrm>
      </p:grpSpPr>
      <p:sp>
        <p:nvSpPr>
          <p:cNvPr id="23" name="Rounded Rectangle 22"/>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Демонстрация функционала MyCreative</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31</a:t>
            </a:r>
            <a:endParaRPr lang="en-US" sz="900" dirty="0"/>
          </a:p>
        </p:txBody>
      </p:sp>
      <p:sp>
        <p:nvSpPr>
          <p:cNvPr id="8" name="Shape 6"/>
          <p:cNvSpPr/>
          <p:nvPr/>
        </p:nvSpPr>
        <p:spPr>
          <a:xfrm>
            <a:off x="749808" y="1609344"/>
            <a:ext cx="100584" cy="100584"/>
          </a:xfrm>
          <a:prstGeom prst="ellipse">
            <a:avLst/>
          </a:prstGeom>
          <a:solidFill>
            <a:srgbClr val="42D3C4"/>
          </a:solidFill>
          <a:ln w="12700">
            <a:solidFill>
              <a:srgbClr val="42D3C4"/>
            </a:solidFill>
            <a:prstDash val="solid"/>
          </a:ln>
        </p:spPr>
        <p:txBody>
          <a:bodyPr/>
          <a:lstStyle/>
          <a:p>
            <a:endParaRPr/>
          </a:p>
        </p:txBody>
      </p:sp>
      <p:sp>
        <p:nvSpPr>
          <p:cNvPr id="9" name="Text 7"/>
          <p:cNvSpPr/>
          <p:nvPr/>
        </p:nvSpPr>
        <p:spPr>
          <a:xfrm>
            <a:off x="1042416" y="1481328"/>
            <a:ext cx="10360152" cy="438912"/>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Запустить приложение и открыть страницу концепции.</a:t>
            </a:r>
            <a:endParaRPr lang="en-US" sz="1900" dirty="0"/>
          </a:p>
        </p:txBody>
      </p:sp>
      <p:sp>
        <p:nvSpPr>
          <p:cNvPr id="10" name="Shape 8"/>
          <p:cNvSpPr/>
          <p:nvPr/>
        </p:nvSpPr>
        <p:spPr>
          <a:xfrm>
            <a:off x="749808" y="2468880"/>
            <a:ext cx="100584" cy="100584"/>
          </a:xfrm>
          <a:prstGeom prst="ellipse">
            <a:avLst/>
          </a:prstGeom>
          <a:solidFill>
            <a:srgbClr val="42D3C4"/>
          </a:solidFill>
          <a:ln w="12700">
            <a:solidFill>
              <a:srgbClr val="42D3C4"/>
            </a:solidFill>
            <a:prstDash val="solid"/>
          </a:ln>
        </p:spPr>
        <p:txBody>
          <a:bodyPr/>
          <a:lstStyle/>
          <a:p>
            <a:endParaRPr/>
          </a:p>
        </p:txBody>
      </p:sp>
      <p:sp>
        <p:nvSpPr>
          <p:cNvPr id="11" name="Text 9"/>
          <p:cNvSpPr/>
          <p:nvPr/>
        </p:nvSpPr>
        <p:spPr>
          <a:xfrm>
            <a:off x="1042416" y="2340864"/>
            <a:ext cx="10360152" cy="438912"/>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Выбрать кольцо, запустить сеанс и показать отмену.</a:t>
            </a:r>
            <a:endParaRPr lang="en-US" sz="1900" dirty="0"/>
          </a:p>
        </p:txBody>
      </p:sp>
      <p:sp>
        <p:nvSpPr>
          <p:cNvPr id="12" name="Shape 10"/>
          <p:cNvSpPr/>
          <p:nvPr/>
        </p:nvSpPr>
        <p:spPr>
          <a:xfrm>
            <a:off x="749808" y="3328416"/>
            <a:ext cx="100584" cy="100584"/>
          </a:xfrm>
          <a:prstGeom prst="ellipse">
            <a:avLst/>
          </a:prstGeom>
          <a:solidFill>
            <a:srgbClr val="42D3C4"/>
          </a:solidFill>
          <a:ln w="12700">
            <a:solidFill>
              <a:srgbClr val="42D3C4"/>
            </a:solidFill>
            <a:prstDash val="solid"/>
          </a:ln>
        </p:spPr>
        <p:txBody>
          <a:bodyPr/>
          <a:lstStyle/>
          <a:p>
            <a:endParaRPr/>
          </a:p>
        </p:txBody>
      </p:sp>
      <p:sp>
        <p:nvSpPr>
          <p:cNvPr id="13" name="Text 11"/>
          <p:cNvSpPr/>
          <p:nvPr/>
        </p:nvSpPr>
        <p:spPr>
          <a:xfrm>
            <a:off x="1042416" y="3200400"/>
            <a:ext cx="10360152" cy="438912"/>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Запустить снова: 100%, каркас, вращение.</a:t>
            </a:r>
            <a:endParaRPr lang="en-US" sz="1900" dirty="0"/>
          </a:p>
        </p:txBody>
      </p:sp>
      <p:sp>
        <p:nvSpPr>
          <p:cNvPr id="14" name="Shape 12"/>
          <p:cNvSpPr/>
          <p:nvPr/>
        </p:nvSpPr>
        <p:spPr>
          <a:xfrm>
            <a:off x="749808" y="4187952"/>
            <a:ext cx="100584" cy="100584"/>
          </a:xfrm>
          <a:prstGeom prst="ellipse">
            <a:avLst/>
          </a:prstGeom>
          <a:solidFill>
            <a:srgbClr val="42D3C4"/>
          </a:solidFill>
          <a:ln w="12700">
            <a:solidFill>
              <a:srgbClr val="42D3C4"/>
            </a:solidFill>
            <a:prstDash val="solid"/>
          </a:ln>
        </p:spPr>
        <p:txBody>
          <a:bodyPr/>
          <a:lstStyle/>
          <a:p>
            <a:endParaRPr/>
          </a:p>
        </p:txBody>
      </p:sp>
      <p:sp>
        <p:nvSpPr>
          <p:cNvPr id="15" name="Text 13"/>
          <p:cNvSpPr/>
          <p:nvPr/>
        </p:nvSpPr>
        <p:spPr>
          <a:xfrm>
            <a:off x="1042416" y="4059936"/>
            <a:ext cx="10360152" cy="438912"/>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Скачать OBJ / PLY / GLTF и сохранить в библиотеку.</a:t>
            </a:r>
            <a:endParaRPr lang="en-US" sz="1900" dirty="0"/>
          </a:p>
        </p:txBody>
      </p:sp>
      <p:sp>
        <p:nvSpPr>
          <p:cNvPr id="16" name="Shape 14"/>
          <p:cNvSpPr/>
          <p:nvPr/>
        </p:nvSpPr>
        <p:spPr>
          <a:xfrm>
            <a:off x="749808" y="5047488"/>
            <a:ext cx="100584" cy="100584"/>
          </a:xfrm>
          <a:prstGeom prst="ellipse">
            <a:avLst/>
          </a:prstGeom>
          <a:solidFill>
            <a:srgbClr val="42D3C4"/>
          </a:solidFill>
          <a:ln w="12700">
            <a:solidFill>
              <a:srgbClr val="42D3C4"/>
            </a:solidFill>
            <a:prstDash val="solid"/>
          </a:ln>
        </p:spPr>
        <p:txBody>
          <a:bodyPr/>
          <a:lstStyle/>
          <a:p>
            <a:endParaRPr/>
          </a:p>
        </p:txBody>
      </p:sp>
      <p:sp>
        <p:nvSpPr>
          <p:cNvPr id="17" name="Text 15"/>
          <p:cNvSpPr/>
          <p:nvPr/>
        </p:nvSpPr>
        <p:spPr>
          <a:xfrm>
            <a:off x="1042416" y="4919472"/>
            <a:ext cx="10360152" cy="438912"/>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Открыть библиотеку и результаты npm test.</a:t>
            </a:r>
            <a:endParaRPr lang="en-US" sz="1900" dirty="0"/>
          </a:p>
        </p:txBody>
      </p:sp>
      <p:sp>
        <p:nvSpPr>
          <p:cNvPr id="25" name="Rounded Rectangle 24"/>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31</a:t>
            </a:r>
          </a:p>
        </p:txBody>
      </p:sp>
      <p:sp>
        <p:nvSpPr>
          <p:cNvPr id="26" name="Oval 26"/>
          <p:cNvSpPr/>
          <p:nvPr/>
        </p:nvSpPr>
        <p:spPr>
          <a:xfrm>
            <a:off x="-713232" y="531266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1226"/>
        </a:solidFill>
        <a:effectLst/>
      </p:bgPr>
    </p:bg>
    <p:spTree>
      <p:nvGrpSpPr>
        <p:cNvPr id="1" name=""/>
        <p:cNvGrpSpPr/>
        <p:nvPr/>
      </p:nvGrpSpPr>
      <p:grpSpPr>
        <a:xfrm>
          <a:off x="0" y="0"/>
          <a:ext cx="0" cy="0"/>
          <a:chOff x="0" y="0"/>
          <a:chExt cx="0" cy="0"/>
        </a:xfrm>
      </p:grpSpPr>
      <p:sp>
        <p:nvSpPr>
          <p:cNvPr id="21" name="Rounded Rectangle 20"/>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Итог: программная платформа готова к демонстрации</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32</a:t>
            </a:r>
            <a:endParaRPr lang="en-US" sz="900" dirty="0"/>
          </a:p>
        </p:txBody>
      </p:sp>
      <p:sp>
        <p:nvSpPr>
          <p:cNvPr id="12" name="Shape 10"/>
          <p:cNvSpPr/>
          <p:nvPr/>
        </p:nvSpPr>
        <p:spPr>
          <a:xfrm>
            <a:off x="7424928" y="1581912"/>
            <a:ext cx="3886200" cy="4297680"/>
          </a:xfrm>
          <a:prstGeom prst="roundRect">
            <a:avLst>
              <a:gd name="adj" fmla="val 3294"/>
            </a:avLst>
          </a:prstGeom>
          <a:solidFill>
            <a:srgbClr val="183047"/>
          </a:solidFill>
          <a:ln w="15240">
            <a:solidFill>
              <a:srgbClr val="355064"/>
            </a:solidFill>
            <a:prstDash val="solid"/>
          </a:ln>
        </p:spPr>
        <p:txBody>
          <a:bodyPr/>
          <a:lstStyle/>
          <a:p>
            <a:endParaRPr/>
          </a:p>
        </p:txBody>
      </p:sp>
      <p:sp>
        <p:nvSpPr>
          <p:cNvPr id="13" name="Shape 11"/>
          <p:cNvSpPr/>
          <p:nvPr/>
        </p:nvSpPr>
        <p:spPr>
          <a:xfrm>
            <a:off x="7580376" y="1801368"/>
            <a:ext cx="59436" cy="347472"/>
          </a:xfrm>
          <a:prstGeom prst="rect">
            <a:avLst/>
          </a:prstGeom>
          <a:solidFill>
            <a:srgbClr val="EBC980"/>
          </a:solidFill>
          <a:ln w="12700">
            <a:solidFill>
              <a:srgbClr val="EBC980"/>
            </a:solidFill>
            <a:prstDash val="solid"/>
          </a:ln>
        </p:spPr>
        <p:txBody>
          <a:bodyPr/>
          <a:lstStyle/>
          <a:p>
            <a:endParaRPr/>
          </a:p>
        </p:txBody>
      </p:sp>
      <p:sp>
        <p:nvSpPr>
          <p:cNvPr id="14" name="Text 12"/>
          <p:cNvSpPr/>
          <p:nvPr/>
        </p:nvSpPr>
        <p:spPr>
          <a:xfrm>
            <a:off x="7735824" y="1783080"/>
            <a:ext cx="3429000"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ГРАНИЦА</a:t>
            </a:r>
            <a:endParaRPr lang="en-US" sz="1800" dirty="0"/>
          </a:p>
        </p:txBody>
      </p:sp>
      <p:sp>
        <p:nvSpPr>
          <p:cNvPr id="15" name="Text 13"/>
          <p:cNvSpPr/>
          <p:nvPr/>
        </p:nvSpPr>
        <p:spPr>
          <a:xfrm>
            <a:off x="7653528" y="2267712"/>
            <a:ext cx="3438144" cy="3511296"/>
          </a:xfrm>
          <a:prstGeom prst="rect">
            <a:avLst/>
          </a:prstGeom>
          <a:noFill/>
          <a:ln/>
        </p:spPr>
        <p:txBody>
          <a:bodyPr wrap="square" lIns="0" tIns="0" rIns="0" bIns="0" rtlCol="0" anchor="t">
            <a:normAutofit/>
          </a:bodyPr>
          <a:lstStyle/>
          <a:p>
            <a:pPr marL="0" indent="0">
              <a:buNone/>
            </a:pPr>
            <a:r>
              <a:rPr lang="en-US" sz="1800" dirty="0">
                <a:solidFill>
                  <a:srgbClr val="F2F9FC"/>
                </a:solidFill>
                <a:latin typeface="Segoe UI" pitchFamily="34" charset="0"/>
                <a:ea typeface="Aptos" pitchFamily="34" charset="-122"/>
                <a:cs typeface="Aptos" pitchFamily="34" charset="-120"/>
              </a:rPr>
              <a:t>Физический захват пока заменён симуляцией. Интеграция с оборудованием — следующий этап.</a:t>
            </a:r>
            <a:endParaRPr lang="en-US" sz="1800" dirty="0"/>
          </a:p>
        </p:txBody>
      </p:sp>
      <p:sp>
        <p:nvSpPr>
          <p:cNvPr id="23" name="Rounded Rectangle 22"/>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32</a:t>
            </a:r>
          </a:p>
        </p:txBody>
      </p:sp>
      <p:sp>
        <p:nvSpPr>
          <p:cNvPr id="24"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8" name="Shape 6"/>
          <p:cNvSpPr/>
          <p:nvPr/>
        </p:nvSpPr>
        <p:spPr>
          <a:xfrm>
            <a:off x="713232" y="1581912"/>
            <a:ext cx="6446520" cy="4297680"/>
          </a:xfrm>
          <a:prstGeom prst="roundRect">
            <a:avLst>
              <a:gd name="adj" fmla="val 2979"/>
            </a:avLst>
          </a:prstGeom>
          <a:solidFill>
            <a:srgbClr val="183047"/>
          </a:solidFill>
          <a:ln w="15240">
            <a:solidFill>
              <a:srgbClr val="355064"/>
            </a:solidFill>
            <a:prstDash val="solid"/>
          </a:ln>
        </p:spPr>
        <p:txBody>
          <a:bodyPr/>
          <a:lstStyle/>
          <a:p>
            <a:endParaRPr/>
          </a:p>
        </p:txBody>
      </p:sp>
      <p:sp>
        <p:nvSpPr>
          <p:cNvPr id="9" name="Shape 7"/>
          <p:cNvSpPr/>
          <p:nvPr/>
        </p:nvSpPr>
        <p:spPr>
          <a:xfrm>
            <a:off x="868680" y="1801368"/>
            <a:ext cx="59436" cy="347472"/>
          </a:xfrm>
          <a:prstGeom prst="rect">
            <a:avLst/>
          </a:prstGeom>
          <a:solidFill>
            <a:srgbClr val="42D3C4"/>
          </a:solidFill>
          <a:ln w="12700">
            <a:solidFill>
              <a:srgbClr val="42D3C4"/>
            </a:solidFill>
            <a:prstDash val="solid"/>
          </a:ln>
        </p:spPr>
        <p:txBody>
          <a:bodyPr/>
          <a:lstStyle/>
          <a:p>
            <a:endParaRPr/>
          </a:p>
        </p:txBody>
      </p:sp>
      <p:sp>
        <p:nvSpPr>
          <p:cNvPr id="10" name="Text 8"/>
          <p:cNvSpPr/>
          <p:nvPr/>
        </p:nvSpPr>
        <p:spPr>
          <a:xfrm>
            <a:off x="1024128" y="1783080"/>
            <a:ext cx="5989320" cy="338328"/>
          </a:xfrm>
          <a:prstGeom prst="rect">
            <a:avLst/>
          </a:prstGeom>
          <a:noFill/>
          <a:ln/>
        </p:spPr>
        <p:txBody>
          <a:bodyPr wrap="square" lIns="0" tIns="0" rIns="0" bIns="0" rtlCol="0" anchor="ctr">
            <a:normAutofit/>
          </a:bodyPr>
          <a:lstStyle/>
          <a:p>
            <a:pPr marL="0" indent="0">
              <a:buNone/>
            </a:pPr>
            <a:r>
              <a:rPr lang="en-US" sz="1800" b="1" dirty="0">
                <a:solidFill>
                  <a:srgbClr val="34DBD6"/>
                </a:solidFill>
                <a:latin typeface="Segoe UI" pitchFamily="34" charset="0"/>
                <a:ea typeface="Aptos" pitchFamily="34" charset="-122"/>
                <a:cs typeface="Aptos" pitchFamily="34" charset="-120"/>
              </a:rPr>
              <a:t>РЕЗУЛЬТАТ</a:t>
            </a:r>
            <a:endParaRPr lang="en-US" sz="1800" dirty="0"/>
          </a:p>
        </p:txBody>
      </p:sp>
      <p:sp>
        <p:nvSpPr>
          <p:cNvPr id="11" name="Text 9"/>
          <p:cNvSpPr/>
          <p:nvPr/>
        </p:nvSpPr>
        <p:spPr>
          <a:xfrm>
            <a:off x="941832" y="2267712"/>
            <a:ext cx="5998464" cy="3511296"/>
          </a:xfrm>
          <a:prstGeom prst="rect">
            <a:avLst/>
          </a:prstGeom>
          <a:noFill/>
          <a:ln/>
        </p:spPr>
        <p:txBody>
          <a:bodyPr wrap="square" lIns="0" tIns="0" rIns="0" bIns="0" rtlCol="0" anchor="t">
            <a:normAutofit/>
          </a:bodyPr>
          <a:lstStyle/>
          <a:p>
            <a:pPr marL="0" indent="0">
              <a:buNone/>
            </a:pPr>
            <a:r>
              <a:rPr lang="en-US" sz="1900" dirty="0">
                <a:solidFill>
                  <a:srgbClr val="F2F9FC"/>
                </a:solidFill>
                <a:latin typeface="Segoe UI" pitchFamily="34" charset="0"/>
                <a:ea typeface="Aptos" pitchFamily="34" charset="-122"/>
                <a:cs typeface="Aptos" pitchFamily="34" charset="-120"/>
              </a:rPr>
              <a:t>Спроектировано и реализовано веб-приложение: 3D-студия, экспорт, сервер, авторизация и персональная библиотека моделей.</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1226"/>
        </a:solidFill>
        <a:effectLst/>
      </p:bgPr>
    </p:bg>
    <p:spTree>
      <p:nvGrpSpPr>
        <p:cNvPr id="1" name=""/>
        <p:cNvGrpSpPr/>
        <p:nvPr/>
      </p:nvGrpSpPr>
      <p:grpSpPr>
        <a:xfrm>
          <a:off x="0" y="0"/>
          <a:ext cx="0" cy="0"/>
          <a:chOff x="0" y="0"/>
          <a:chExt cx="0" cy="0"/>
        </a:xfrm>
      </p:grpSpPr>
      <p:sp>
        <p:nvSpPr>
          <p:cNvPr id="23" name="Rounded Rectangle 22"/>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Источники и документация проекта</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33</a:t>
            </a:r>
            <a:endParaRPr lang="en-US" sz="900" dirty="0"/>
          </a:p>
        </p:txBody>
      </p:sp>
      <p:sp>
        <p:nvSpPr>
          <p:cNvPr id="8" name="Shape 6"/>
          <p:cNvSpPr/>
          <p:nvPr/>
        </p:nvSpPr>
        <p:spPr>
          <a:xfrm>
            <a:off x="768096" y="1618488"/>
            <a:ext cx="100584" cy="100584"/>
          </a:xfrm>
          <a:prstGeom prst="ellipse">
            <a:avLst/>
          </a:prstGeom>
          <a:solidFill>
            <a:srgbClr val="42D3C4"/>
          </a:solidFill>
          <a:ln w="12700">
            <a:solidFill>
              <a:srgbClr val="42D3C4"/>
            </a:solidFill>
            <a:prstDash val="solid"/>
          </a:ln>
        </p:spPr>
        <p:txBody>
          <a:bodyPr/>
          <a:lstStyle/>
          <a:p>
            <a:endParaRPr/>
          </a:p>
        </p:txBody>
      </p:sp>
      <p:sp>
        <p:nvSpPr>
          <p:cNvPr id="9" name="Text 7"/>
          <p:cNvSpPr/>
          <p:nvPr/>
        </p:nvSpPr>
        <p:spPr>
          <a:xfrm>
            <a:off x="1060704" y="1490472"/>
            <a:ext cx="10405872" cy="438912"/>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Исходный архив MyCreative 2.0: README / docs / код.</a:t>
            </a:r>
            <a:endParaRPr lang="en-US" sz="1700" dirty="0"/>
          </a:p>
        </p:txBody>
      </p:sp>
      <p:sp>
        <p:nvSpPr>
          <p:cNvPr id="10" name="Shape 8"/>
          <p:cNvSpPr/>
          <p:nvPr/>
        </p:nvSpPr>
        <p:spPr>
          <a:xfrm>
            <a:off x="768096" y="2487168"/>
            <a:ext cx="100584" cy="100584"/>
          </a:xfrm>
          <a:prstGeom prst="ellipse">
            <a:avLst/>
          </a:prstGeom>
          <a:solidFill>
            <a:srgbClr val="42D3C4"/>
          </a:solidFill>
          <a:ln w="12700">
            <a:solidFill>
              <a:srgbClr val="42D3C4"/>
            </a:solidFill>
            <a:prstDash val="solid"/>
          </a:ln>
        </p:spPr>
        <p:txBody>
          <a:bodyPr/>
          <a:lstStyle/>
          <a:p>
            <a:endParaRPr/>
          </a:p>
        </p:txBody>
      </p:sp>
      <p:sp>
        <p:nvSpPr>
          <p:cNvPr id="11" name="Text 9"/>
          <p:cNvSpPr/>
          <p:nvPr/>
        </p:nvSpPr>
        <p:spPr>
          <a:xfrm>
            <a:off x="1060704" y="2359152"/>
            <a:ext cx="10405872" cy="438912"/>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Three.js: документация и экспортёры.</a:t>
            </a:r>
            <a:endParaRPr lang="en-US" sz="1700" dirty="0"/>
          </a:p>
        </p:txBody>
      </p:sp>
      <p:sp>
        <p:nvSpPr>
          <p:cNvPr id="12" name="Shape 10"/>
          <p:cNvSpPr/>
          <p:nvPr/>
        </p:nvSpPr>
        <p:spPr>
          <a:xfrm>
            <a:off x="768096" y="3355848"/>
            <a:ext cx="100584" cy="100584"/>
          </a:xfrm>
          <a:prstGeom prst="ellipse">
            <a:avLst/>
          </a:prstGeom>
          <a:solidFill>
            <a:srgbClr val="42D3C4"/>
          </a:solidFill>
          <a:ln w="12700">
            <a:solidFill>
              <a:srgbClr val="42D3C4"/>
            </a:solidFill>
            <a:prstDash val="solid"/>
          </a:ln>
        </p:spPr>
        <p:txBody>
          <a:bodyPr/>
          <a:lstStyle/>
          <a:p>
            <a:endParaRPr/>
          </a:p>
        </p:txBody>
      </p:sp>
      <p:sp>
        <p:nvSpPr>
          <p:cNvPr id="13" name="Text 11"/>
          <p:cNvSpPr/>
          <p:nvPr/>
        </p:nvSpPr>
        <p:spPr>
          <a:xfrm>
            <a:off x="1060704" y="3227832"/>
            <a:ext cx="10405872" cy="438912"/>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PostgreSQL и PGlite: схема и локальная БД.</a:t>
            </a:r>
            <a:endParaRPr lang="en-US" sz="1700" dirty="0"/>
          </a:p>
        </p:txBody>
      </p:sp>
      <p:sp>
        <p:nvSpPr>
          <p:cNvPr id="14" name="Shape 12"/>
          <p:cNvSpPr/>
          <p:nvPr/>
        </p:nvSpPr>
        <p:spPr>
          <a:xfrm>
            <a:off x="768096" y="4224528"/>
            <a:ext cx="100584" cy="100584"/>
          </a:xfrm>
          <a:prstGeom prst="ellipse">
            <a:avLst/>
          </a:prstGeom>
          <a:solidFill>
            <a:srgbClr val="42D3C4"/>
          </a:solidFill>
          <a:ln w="12700">
            <a:solidFill>
              <a:srgbClr val="42D3C4"/>
            </a:solidFill>
            <a:prstDash val="solid"/>
          </a:ln>
        </p:spPr>
        <p:txBody>
          <a:bodyPr/>
          <a:lstStyle/>
          <a:p>
            <a:endParaRPr/>
          </a:p>
        </p:txBody>
      </p:sp>
      <p:sp>
        <p:nvSpPr>
          <p:cNvPr id="15" name="Text 13"/>
          <p:cNvSpPr/>
          <p:nvPr/>
        </p:nvSpPr>
        <p:spPr>
          <a:xfrm>
            <a:off x="1060704" y="4096512"/>
            <a:ext cx="10405872" cy="438912"/>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OWASP: рекомендации по загрузке и сессиям.</a:t>
            </a:r>
            <a:endParaRPr lang="en-US" sz="1700" dirty="0"/>
          </a:p>
        </p:txBody>
      </p:sp>
      <p:sp>
        <p:nvSpPr>
          <p:cNvPr id="16" name="Shape 14"/>
          <p:cNvSpPr/>
          <p:nvPr/>
        </p:nvSpPr>
        <p:spPr>
          <a:xfrm>
            <a:off x="768096" y="5093208"/>
            <a:ext cx="100584" cy="100584"/>
          </a:xfrm>
          <a:prstGeom prst="ellipse">
            <a:avLst/>
          </a:prstGeom>
          <a:solidFill>
            <a:srgbClr val="42D3C4"/>
          </a:solidFill>
          <a:ln w="12700">
            <a:solidFill>
              <a:srgbClr val="42D3C4"/>
            </a:solidFill>
            <a:prstDash val="solid"/>
          </a:ln>
        </p:spPr>
        <p:txBody>
          <a:bodyPr/>
          <a:lstStyle/>
          <a:p>
            <a:endParaRPr/>
          </a:p>
        </p:txBody>
      </p:sp>
      <p:sp>
        <p:nvSpPr>
          <p:cNvPr id="17" name="Text 15"/>
          <p:cNvSpPr/>
          <p:nvPr/>
        </p:nvSpPr>
        <p:spPr>
          <a:xfrm>
            <a:off x="1060704" y="4965192"/>
            <a:ext cx="10405872" cy="438912"/>
          </a:xfrm>
          <a:prstGeom prst="rect">
            <a:avLst/>
          </a:prstGeom>
          <a:noFill/>
          <a:ln/>
        </p:spPr>
        <p:txBody>
          <a:bodyPr wrap="square" lIns="0" tIns="0" rIns="0" bIns="0" rtlCol="0" anchor="t">
            <a:normAutofit/>
          </a:bodyPr>
          <a:lstStyle/>
          <a:p>
            <a:pPr marL="0" indent="0">
              <a:buNone/>
            </a:pPr>
            <a:r>
              <a:rPr lang="en-US" sz="1700" dirty="0">
                <a:solidFill>
                  <a:srgbClr val="F2F9FC"/>
                </a:solidFill>
                <a:latin typeface="Segoe UI" pitchFamily="34" charset="0"/>
                <a:ea typeface="Aptos" pitchFamily="34" charset="-122"/>
                <a:cs typeface="Aptos" pitchFamily="34" charset="-120"/>
              </a:rPr>
              <a:t>GitHub: electric-sql/pglite.</a:t>
            </a:r>
            <a:endParaRPr lang="en-US" sz="1700" dirty="0"/>
          </a:p>
        </p:txBody>
      </p:sp>
      <p:sp>
        <p:nvSpPr>
          <p:cNvPr id="25" name="Rounded Rectangle 24"/>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33</a:t>
            </a:r>
          </a:p>
        </p:txBody>
      </p:sp>
      <p:sp>
        <p:nvSpPr>
          <p:cNvPr id="26" name="Oval 26"/>
          <p:cNvSpPr/>
          <p:nvPr/>
        </p:nvSpPr>
        <p:spPr>
          <a:xfrm>
            <a:off x="-685800" y="5422392"/>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1226"/>
        </a:solidFill>
        <a:effectLst/>
      </p:bgPr>
    </p:bg>
    <p:spTree>
      <p:nvGrpSpPr>
        <p:cNvPr id="1" name=""/>
        <p:cNvGrpSpPr/>
        <p:nvPr/>
      </p:nvGrpSpPr>
      <p:grpSpPr>
        <a:xfrm>
          <a:off x="0" y="0"/>
          <a:ext cx="0" cy="0"/>
          <a:chOff x="0" y="0"/>
          <a:chExt cx="0" cy="0"/>
        </a:xfrm>
      </p:grpSpPr>
      <p:sp>
        <p:nvSpPr>
          <p:cNvPr id="15" name="Rounded Rectangle 14"/>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Shape 0"/>
          <p:cNvSpPr/>
          <p:nvPr/>
        </p:nvSpPr>
        <p:spPr>
          <a:xfrm>
            <a:off x="0" y="0"/>
            <a:ext cx="91440" cy="6858000"/>
          </a:xfrm>
          <a:prstGeom prst="rect">
            <a:avLst/>
          </a:prstGeom>
          <a:solidFill>
            <a:srgbClr val="42D3C4"/>
          </a:solidFill>
          <a:ln w="12700">
            <a:solidFill>
              <a:srgbClr val="42D3C4">
                <a:alpha val="0"/>
              </a:srgbClr>
            </a:solidFill>
            <a:prstDash val="solid"/>
          </a:ln>
        </p:spPr>
        <p:txBody>
          <a:bodyPr/>
          <a:lstStyle/>
          <a:p>
            <a:endParaRPr/>
          </a:p>
        </p:txBody>
      </p:sp>
      <p:sp>
        <p:nvSpPr>
          <p:cNvPr id="3" name="Shape 1"/>
          <p:cNvSpPr/>
          <p:nvPr/>
        </p:nvSpPr>
        <p:spPr>
          <a:xfrm>
            <a:off x="512064" y="6391656"/>
            <a:ext cx="11173968" cy="0"/>
          </a:xfrm>
          <a:prstGeom prst="line">
            <a:avLst/>
          </a:prstGeom>
          <a:noFill/>
          <a:ln w="12700">
            <a:solidFill>
              <a:srgbClr val="355064"/>
            </a:solidFill>
            <a:prstDash val="solid"/>
          </a:ln>
        </p:spPr>
        <p:txBody>
          <a:bodyPr/>
          <a:lstStyle/>
          <a:p>
            <a:endParaRPr/>
          </a:p>
        </p:txBody>
      </p:sp>
      <p:sp>
        <p:nvSpPr>
          <p:cNvPr id="4" name="Text 2"/>
          <p:cNvSpPr/>
          <p:nvPr/>
        </p:nvSpPr>
        <p:spPr>
          <a:xfrm>
            <a:off x="594360" y="246888"/>
            <a:ext cx="9144000" cy="256032"/>
          </a:xfrm>
          <a:prstGeom prst="rect">
            <a:avLst/>
          </a:prstGeom>
          <a:noFill/>
          <a:ln/>
        </p:spPr>
        <p:txBody>
          <a:bodyPr wrap="square" lIns="0" tIns="0" rIns="0" bIns="0" rtlCol="0" anchor="ctr">
            <a:normAutofit/>
          </a:bodyPr>
          <a:lstStyle/>
          <a:p>
            <a:pPr marL="0" indent="0">
              <a:buNone/>
            </a:pPr>
            <a:r>
              <a:rPr lang="en-US" sz="1200" b="1" kern="0" spc="110" dirty="0">
                <a:solidFill>
                  <a:srgbClr val="ACBDD2"/>
                </a:solidFill>
                <a:latin typeface="Segoe UI" pitchFamily="34" charset="0"/>
                <a:ea typeface="Aptos" pitchFamily="34" charset="-122"/>
                <a:cs typeface="Aptos" pitchFamily="34" charset="-120"/>
              </a:rPr>
              <a:t>MYCREATIVE / КУРСОВОЙ ПРОЕКТ • ПМ.09</a:t>
            </a:r>
            <a:endParaRPr lang="en-US" sz="1000" dirty="0"/>
          </a:p>
        </p:txBody>
      </p:sp>
      <p:sp>
        <p:nvSpPr>
          <p:cNvPr id="5" name="Text 3"/>
          <p:cNvSpPr/>
          <p:nvPr/>
        </p:nvSpPr>
        <p:spPr>
          <a:xfrm>
            <a:off x="594360" y="658368"/>
            <a:ext cx="10927080" cy="603504"/>
          </a:xfrm>
          <a:prstGeom prst="rect">
            <a:avLst/>
          </a:prstGeom>
          <a:noFill/>
          <a:ln/>
        </p:spPr>
        <p:txBody>
          <a:bodyPr wrap="square" lIns="0" tIns="0" rIns="0" bIns="0" rtlCol="0" anchor="ctr">
            <a:normAutofit/>
          </a:bodyPr>
          <a:lstStyle/>
          <a:p>
            <a:pPr marL="0" indent="0">
              <a:buNone/>
            </a:pPr>
            <a:r>
              <a:rPr lang="en-US" sz="2800" b="1" dirty="0">
                <a:solidFill>
                  <a:srgbClr val="F2F9FC"/>
                </a:solidFill>
                <a:latin typeface="Segoe UI" pitchFamily="34" charset="0"/>
                <a:ea typeface="Aptos" pitchFamily="34" charset="-122"/>
                <a:cs typeface="Aptos" pitchFamily="34" charset="-120"/>
              </a:rPr>
              <a:t>Спасибо за </a:t>
            </a:r>
            <a:r>
              <a:rPr lang="en-US" sz="2800" b="1" dirty="0" smtClean="0">
                <a:solidFill>
                  <a:srgbClr val="F2F9FC"/>
                </a:solidFill>
                <a:latin typeface="Segoe UI" pitchFamily="34" charset="0"/>
                <a:ea typeface="Aptos" pitchFamily="34" charset="-122"/>
                <a:cs typeface="Aptos" pitchFamily="34" charset="-120"/>
              </a:rPr>
              <a:t>внимание</a:t>
            </a:r>
            <a:r>
              <a:rPr lang="ru-RU" sz="2800" b="1" dirty="0" smtClean="0">
                <a:solidFill>
                  <a:srgbClr val="F2F9FC"/>
                </a:solidFill>
                <a:latin typeface="Segoe UI" pitchFamily="34" charset="0"/>
                <a:ea typeface="Aptos" pitchFamily="34" charset="-122"/>
                <a:cs typeface="Aptos" pitchFamily="34" charset="-120"/>
              </a:rPr>
              <a:t> !</a:t>
            </a:r>
            <a:endParaRPr lang="en-US" sz="2800" dirty="0"/>
          </a:p>
        </p:txBody>
      </p:sp>
      <p:sp>
        <p:nvSpPr>
          <p:cNvPr id="7" name="Text 5"/>
          <p:cNvSpPr/>
          <p:nvPr/>
        </p:nvSpPr>
        <p:spPr>
          <a:xfrm>
            <a:off x="10972800" y="6510528"/>
            <a:ext cx="530352" cy="164592"/>
          </a:xfrm>
          <a:prstGeom prst="rect">
            <a:avLst/>
          </a:prstGeom>
          <a:noFill/>
          <a:ln/>
        </p:spPr>
        <p:txBody>
          <a:bodyPr wrap="square" lIns="0" tIns="0" rIns="0" bIns="0" rtlCol="0" anchor="ctr">
            <a:normAutofit/>
          </a:bodyPr>
          <a:lstStyle/>
          <a:p>
            <a:pPr marL="0" indent="0" algn="r">
              <a:buNone/>
            </a:pPr>
            <a:r>
              <a:rPr lang="en-US" sz="900" dirty="0">
                <a:solidFill>
                  <a:srgbClr val="ADC3D1"/>
                </a:solidFill>
                <a:latin typeface="Segoe UI" pitchFamily="34" charset="0"/>
                <a:ea typeface="Aptos" pitchFamily="34" charset="-122"/>
                <a:cs typeface="Aptos" pitchFamily="34" charset="-120"/>
              </a:rPr>
              <a:t>34</a:t>
            </a:r>
            <a:endParaRPr lang="en-US" sz="900" dirty="0"/>
          </a:p>
        </p:txBody>
      </p:sp>
      <p:sp>
        <p:nvSpPr>
          <p:cNvPr id="9" name="Text 7"/>
          <p:cNvSpPr/>
          <p:nvPr/>
        </p:nvSpPr>
        <p:spPr>
          <a:xfrm>
            <a:off x="1315571" y="4159246"/>
            <a:ext cx="10424160" cy="594360"/>
          </a:xfrm>
          <a:prstGeom prst="rect">
            <a:avLst/>
          </a:prstGeom>
          <a:noFill/>
          <a:ln/>
        </p:spPr>
        <p:txBody>
          <a:bodyPr wrap="square" lIns="0" tIns="0" rIns="0" bIns="0" rtlCol="0" anchor="ctr">
            <a:normAutofit/>
          </a:bodyPr>
          <a:lstStyle/>
          <a:p>
            <a:pPr marL="0" indent="0" algn="ctr">
              <a:buNone/>
            </a:pPr>
            <a:r>
              <a:rPr lang="en-US" sz="2200" dirty="0">
                <a:solidFill>
                  <a:srgbClr val="ADC3D1"/>
                </a:solidFill>
                <a:latin typeface="Segoe UI" pitchFamily="34" charset="0"/>
                <a:ea typeface="Aptos" pitchFamily="34" charset="-122"/>
                <a:cs typeface="Aptos" pitchFamily="34" charset="-120"/>
              </a:rPr>
              <a:t>MyCreative 2.0 • веб-приложение и концепция 3D-сканера</a:t>
            </a:r>
            <a:endParaRPr lang="en-US" sz="2200" dirty="0"/>
          </a:p>
        </p:txBody>
      </p:sp>
      <p:sp>
        <p:nvSpPr>
          <p:cNvPr id="17" name="Rounded Rectangle 16"/>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34</a:t>
            </a:r>
          </a:p>
        </p:txBody>
      </p:sp>
      <p:sp>
        <p:nvSpPr>
          <p:cNvPr id="18" name="Rounded Rectangle 17"/>
          <p:cNvSpPr/>
          <p:nvPr/>
        </p:nvSpPr>
        <p:spPr>
          <a:xfrm>
            <a:off x="640080" y="1969753"/>
            <a:ext cx="4663440" cy="1639579"/>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15042" y="2358479"/>
            <a:ext cx="4543578" cy="769441"/>
          </a:xfrm>
          <a:prstGeom prst="rect">
            <a:avLst/>
          </a:prstGeom>
          <a:noFill/>
        </p:spPr>
        <p:txBody>
          <a:bodyPr wrap="square">
            <a:spAutoFit/>
          </a:bodyPr>
          <a:lstStyle/>
          <a:p>
            <a:r>
              <a:rPr lang="ru-RU" sz="3100" b="1" dirty="0" smtClean="0">
                <a:solidFill>
                  <a:srgbClr val="34DBD6"/>
                </a:solidFill>
                <a:latin typeface="Segoe UI"/>
              </a:rPr>
              <a:t>Остались вопросы</a:t>
            </a:r>
            <a:r>
              <a:rPr sz="3100" b="1" dirty="0" smtClean="0">
                <a:solidFill>
                  <a:srgbClr val="34DBD6"/>
                </a:solidFill>
                <a:latin typeface="Segoe UI"/>
              </a:rPr>
              <a:t>?</a:t>
            </a:r>
            <a:endParaRPr sz="3100" b="1" dirty="0">
              <a:solidFill>
                <a:srgbClr val="34DBD6"/>
              </a:solidFill>
              <a:latin typeface="Segoe UI"/>
            </a:endParaRPr>
          </a:p>
          <a:p>
            <a:r>
              <a:rPr sz="1300" b="0" dirty="0" err="1">
                <a:solidFill>
                  <a:srgbClr val="ACBDD2"/>
                </a:solidFill>
                <a:latin typeface="Segoe UI"/>
              </a:rPr>
              <a:t>Будем</a:t>
            </a:r>
            <a:r>
              <a:rPr sz="1300" b="0" dirty="0">
                <a:solidFill>
                  <a:srgbClr val="ACBDD2"/>
                </a:solidFill>
                <a:latin typeface="Segoe UI"/>
              </a:rPr>
              <a:t> </a:t>
            </a:r>
            <a:r>
              <a:rPr sz="1300" b="0" dirty="0" err="1">
                <a:solidFill>
                  <a:srgbClr val="ACBDD2"/>
                </a:solidFill>
                <a:latin typeface="Segoe UI"/>
              </a:rPr>
              <a:t>рады</a:t>
            </a:r>
            <a:r>
              <a:rPr sz="1300" b="0" dirty="0">
                <a:solidFill>
                  <a:srgbClr val="ACBDD2"/>
                </a:solidFill>
                <a:latin typeface="Segoe UI"/>
              </a:rPr>
              <a:t> </a:t>
            </a:r>
            <a:r>
              <a:rPr sz="1300" b="0" dirty="0" err="1">
                <a:solidFill>
                  <a:srgbClr val="ACBDD2"/>
                </a:solidFill>
                <a:latin typeface="Segoe UI"/>
              </a:rPr>
              <a:t>обсудить</a:t>
            </a:r>
            <a:r>
              <a:rPr sz="1300" b="0" dirty="0">
                <a:solidFill>
                  <a:srgbClr val="ACBDD2"/>
                </a:solidFill>
                <a:latin typeface="Segoe UI"/>
              </a:rPr>
              <a:t> </a:t>
            </a:r>
            <a:r>
              <a:rPr sz="1300" b="0" dirty="0" err="1">
                <a:solidFill>
                  <a:srgbClr val="ACBDD2"/>
                </a:solidFill>
                <a:latin typeface="Segoe UI"/>
              </a:rPr>
              <a:t>проект</a:t>
            </a:r>
            <a:r>
              <a:rPr sz="1300" b="0" dirty="0">
                <a:solidFill>
                  <a:srgbClr val="ACBDD2"/>
                </a:solidFill>
                <a:latin typeface="Segoe UI"/>
              </a:rPr>
              <a:t> и </a:t>
            </a:r>
            <a:r>
              <a:rPr sz="1300" b="0" dirty="0" err="1">
                <a:solidFill>
                  <a:srgbClr val="ACBDD2"/>
                </a:solidFill>
                <a:latin typeface="Segoe UI"/>
              </a:rPr>
              <a:t>его</a:t>
            </a:r>
            <a:r>
              <a:rPr sz="1300" b="0" dirty="0">
                <a:solidFill>
                  <a:srgbClr val="ACBDD2"/>
                </a:solidFill>
                <a:latin typeface="Segoe UI"/>
              </a:rPr>
              <a:t> </a:t>
            </a:r>
            <a:r>
              <a:rPr sz="1300" b="0" dirty="0" err="1">
                <a:solidFill>
                  <a:srgbClr val="ACBDD2"/>
                </a:solidFill>
                <a:latin typeface="Segoe UI"/>
              </a:rPr>
              <a:t>развитие</a:t>
            </a:r>
            <a:r>
              <a:rPr sz="1300" b="0" dirty="0">
                <a:solidFill>
                  <a:srgbClr val="ACBDD2"/>
                </a:solidFill>
                <a:latin typeface="Segoe UI"/>
              </a:rPr>
              <a:t>.</a:t>
            </a:r>
          </a:p>
        </p:txBody>
      </p:sp>
      <p:pic>
        <p:nvPicPr>
          <p:cNvPr id="20" name="Picture 19" descr="image.png"/>
          <p:cNvPicPr>
            <a:picLocks noChangeAspect="1"/>
          </p:cNvPicPr>
          <p:nvPr/>
        </p:nvPicPr>
        <p:blipFill>
          <a:blip r:embed="rId3"/>
          <a:stretch>
            <a:fillRect/>
          </a:stretch>
        </p:blipFill>
        <p:spPr>
          <a:xfrm>
            <a:off x="5669280" y="1097280"/>
            <a:ext cx="5669280" cy="3068081"/>
          </a:xfrm>
          <a:prstGeom prst="rect">
            <a:avLst/>
          </a:prstGeom>
        </p:spPr>
      </p:pic>
      <p:sp>
        <p:nvSpPr>
          <p:cNvPr id="21"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
        <p:nvSpPr>
          <p:cNvPr id="10" name="Oval 9"/>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71226"/>
        </a:solidFill>
        <a:effectLst/>
      </p:bgPr>
    </p:bg>
    <p:spTree>
      <p:nvGrpSpPr>
        <p:cNvPr id="1" name=""/>
        <p:cNvGrpSpPr/>
        <p:nvPr/>
      </p:nvGrpSpPr>
      <p:grpSpPr>
        <a:xfrm>
          <a:off x="0" y="0"/>
          <a:ext cx="0" cy="0"/>
          <a:chOff x="0" y="0"/>
          <a:chExt cx="0" cy="0"/>
        </a:xfrm>
      </p:grpSpPr>
      <p:sp>
        <p:nvSpPr>
          <p:cNvPr id="7" name="Rounded Rectangle 6"/>
          <p:cNvSpPr/>
          <p:nvPr/>
        </p:nvSpPr>
        <p:spPr>
          <a:xfrm>
            <a:off x="0" y="6473952"/>
            <a:ext cx="12188952" cy="384048"/>
          </a:xfrm>
          <a:prstGeom prst="roundRect">
            <a:avLst/>
          </a:prstGeom>
          <a:solidFill>
            <a:srgbClr val="09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201168"/>
            <a:ext cx="73152" cy="420624"/>
          </a:xfrm>
          <a:prstGeom prst="rect">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20040" y="201168"/>
            <a:ext cx="4754880" cy="420624"/>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412480" y="4754880"/>
            <a:ext cx="2011680" cy="201168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Oval 1"/>
          <p:cNvSpPr/>
          <p:nvPr/>
        </p:nvSpPr>
        <p:spPr>
          <a:xfrm>
            <a:off x="9875520" y="-822960"/>
            <a:ext cx="2926080" cy="2926080"/>
          </a:xfrm>
          <a:prstGeom prst="ellipse">
            <a:avLst/>
          </a:prstGeom>
          <a:solidFill>
            <a:srgbClr val="6C8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320272" y="6501384"/>
            <a:ext cx="502920" cy="201168"/>
          </a:xfrm>
          <a:prstGeom prst="roundRect">
            <a:avLst/>
          </a:prstGeom>
          <a:solidFill>
            <a:srgbClr val="153157"/>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2F7FF"/>
                </a:solidFill>
                <a:latin typeface="Segoe UI"/>
              </a:rPr>
              <a:t>35</a:t>
            </a:r>
          </a:p>
        </p:txBody>
      </p:sp>
      <p:sp>
        <p:nvSpPr>
          <p:cNvPr id="10" name="TextBox 9"/>
          <p:cNvSpPr txBox="1"/>
          <p:nvPr/>
        </p:nvSpPr>
        <p:spPr>
          <a:xfrm>
            <a:off x="594360" y="274320"/>
            <a:ext cx="4389120" cy="228600"/>
          </a:xfrm>
          <a:prstGeom prst="rect">
            <a:avLst/>
          </a:prstGeom>
          <a:noFill/>
        </p:spPr>
        <p:txBody>
          <a:bodyPr wrap="none">
            <a:spAutoFit/>
          </a:bodyPr>
          <a:lstStyle/>
          <a:p>
            <a:r>
              <a:rPr sz="1200" b="1">
                <a:solidFill>
                  <a:srgbClr val="ACBDD2"/>
                </a:solidFill>
                <a:latin typeface="Segoe UI"/>
              </a:rPr>
              <a:t>MYCREATIVE / КУРСОВОЙ ПРОЕКТ • ПМ.09</a:t>
            </a:r>
          </a:p>
        </p:txBody>
      </p:sp>
      <p:sp>
        <p:nvSpPr>
          <p:cNvPr id="11" name="TextBox 10"/>
          <p:cNvSpPr txBox="1"/>
          <p:nvPr/>
        </p:nvSpPr>
        <p:spPr>
          <a:xfrm>
            <a:off x="594360" y="621792"/>
            <a:ext cx="6400800" cy="548640"/>
          </a:xfrm>
          <a:prstGeom prst="rect">
            <a:avLst/>
          </a:prstGeom>
          <a:noFill/>
        </p:spPr>
        <p:txBody>
          <a:bodyPr wrap="none">
            <a:spAutoFit/>
          </a:bodyPr>
          <a:lstStyle/>
          <a:p>
            <a:r>
              <a:rPr sz="2600" b="1">
                <a:solidFill>
                  <a:srgbClr val="F2F7FF"/>
                </a:solidFill>
                <a:latin typeface="Segoe UI"/>
              </a:rPr>
              <a:t>Контакты и информация о команде</a:t>
            </a:r>
          </a:p>
        </p:txBody>
      </p:sp>
      <p:sp>
        <p:nvSpPr>
          <p:cNvPr id="12" name="TextBox 11"/>
          <p:cNvSpPr txBox="1"/>
          <p:nvPr/>
        </p:nvSpPr>
        <p:spPr>
          <a:xfrm>
            <a:off x="621792" y="1078992"/>
            <a:ext cx="7863840" cy="320040"/>
          </a:xfrm>
          <a:prstGeom prst="rect">
            <a:avLst/>
          </a:prstGeom>
          <a:noFill/>
        </p:spPr>
        <p:txBody>
          <a:bodyPr wrap="none">
            <a:spAutoFit/>
          </a:bodyPr>
          <a:lstStyle/>
          <a:p>
            <a:r>
              <a:rPr sz="1250">
                <a:solidFill>
                  <a:srgbClr val="ACBDD2"/>
                </a:solidFill>
                <a:latin typeface="Segoe UI"/>
              </a:rPr>
              <a:t>Если у вас появятся вопросы по проекту, с нами можно связаться по данным ниже.</a:t>
            </a:r>
          </a:p>
        </p:txBody>
      </p:sp>
      <p:sp>
        <p:nvSpPr>
          <p:cNvPr id="13" name="Rounded Rectangle 12"/>
          <p:cNvSpPr/>
          <p:nvPr/>
        </p:nvSpPr>
        <p:spPr>
          <a:xfrm>
            <a:off x="3529583" y="1399032"/>
            <a:ext cx="5074920" cy="4343400"/>
          </a:xfrm>
          <a:prstGeom prst="roundRect">
            <a:avLst/>
          </a:prstGeom>
          <a:solidFill>
            <a:srgbClr val="102543"/>
          </a:solidFill>
          <a:ln>
            <a:solidFill>
              <a:srgbClr val="2D44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785615" y="1673352"/>
            <a:ext cx="713232" cy="713232"/>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71226"/>
                </a:solidFill>
                <a:latin typeface="Segoe UI"/>
              </a:rPr>
              <a:t>О</a:t>
            </a:r>
          </a:p>
        </p:txBody>
      </p:sp>
      <p:sp>
        <p:nvSpPr>
          <p:cNvPr id="15" name="TextBox 14"/>
          <p:cNvSpPr txBox="1"/>
          <p:nvPr/>
        </p:nvSpPr>
        <p:spPr>
          <a:xfrm>
            <a:off x="4608575" y="1655064"/>
            <a:ext cx="3611880" cy="566928"/>
          </a:xfrm>
          <a:prstGeom prst="rect">
            <a:avLst/>
          </a:prstGeom>
          <a:noFill/>
        </p:spPr>
        <p:txBody>
          <a:bodyPr wrap="square">
            <a:spAutoFit/>
          </a:bodyPr>
          <a:lstStyle/>
          <a:p>
            <a:r>
              <a:rPr sz="1700" b="1">
                <a:solidFill>
                  <a:srgbClr val="F2F7FF"/>
                </a:solidFill>
                <a:latin typeface="Segoe UI"/>
              </a:rPr>
              <a:t>Вашкинель Олег</a:t>
            </a:r>
          </a:p>
          <a:p>
            <a:r>
              <a:rPr sz="1500" b="1">
                <a:solidFill>
                  <a:srgbClr val="F2F7FF"/>
                </a:solidFill>
                <a:latin typeface="Segoe UI"/>
              </a:rPr>
              <a:t>Владиславович</a:t>
            </a:r>
          </a:p>
        </p:txBody>
      </p:sp>
      <p:sp>
        <p:nvSpPr>
          <p:cNvPr id="16" name="TextBox 15"/>
          <p:cNvSpPr txBox="1"/>
          <p:nvPr/>
        </p:nvSpPr>
        <p:spPr>
          <a:xfrm>
            <a:off x="4608575" y="2176272"/>
            <a:ext cx="3657600" cy="320040"/>
          </a:xfrm>
          <a:prstGeom prst="rect">
            <a:avLst/>
          </a:prstGeom>
          <a:noFill/>
        </p:spPr>
        <p:txBody>
          <a:bodyPr wrap="none">
            <a:spAutoFit/>
          </a:bodyPr>
          <a:lstStyle/>
          <a:p>
            <a:r>
              <a:rPr sz="1120" b="1">
                <a:solidFill>
                  <a:srgbClr val="34DBD6"/>
                </a:solidFill>
                <a:latin typeface="Segoe UI"/>
              </a:rPr>
              <a:t>Руководитель проекта / главный дизайнер</a:t>
            </a:r>
          </a:p>
        </p:txBody>
      </p:sp>
      <p:sp>
        <p:nvSpPr>
          <p:cNvPr id="17" name="TextBox 16"/>
          <p:cNvSpPr txBox="1"/>
          <p:nvPr/>
        </p:nvSpPr>
        <p:spPr>
          <a:xfrm>
            <a:off x="3803903" y="2660904"/>
            <a:ext cx="4480560" cy="228600"/>
          </a:xfrm>
          <a:prstGeom prst="rect">
            <a:avLst/>
          </a:prstGeom>
          <a:noFill/>
        </p:spPr>
        <p:txBody>
          <a:bodyPr wrap="none">
            <a:spAutoFit/>
          </a:bodyPr>
          <a:lstStyle/>
          <a:p>
            <a:r>
              <a:rPr sz="1150" b="1">
                <a:solidFill>
                  <a:srgbClr val="ACBDD2"/>
                </a:solidFill>
                <a:latin typeface="Segoe UI"/>
              </a:rPr>
              <a:t>Основные функции</a:t>
            </a:r>
          </a:p>
        </p:txBody>
      </p:sp>
      <p:sp>
        <p:nvSpPr>
          <p:cNvPr id="18" name="TextBox 17"/>
          <p:cNvSpPr txBox="1"/>
          <p:nvPr/>
        </p:nvSpPr>
        <p:spPr>
          <a:xfrm>
            <a:off x="3822191" y="2907792"/>
            <a:ext cx="4480560" cy="1051560"/>
          </a:xfrm>
          <a:prstGeom prst="rect">
            <a:avLst/>
          </a:prstGeom>
          <a:noFill/>
        </p:spPr>
        <p:txBody>
          <a:bodyPr wrap="square">
            <a:spAutoFit/>
          </a:bodyPr>
          <a:lstStyle/>
          <a:p>
            <a:r>
              <a:rPr sz="1130">
                <a:solidFill>
                  <a:srgbClr val="F2F7FF"/>
                </a:solidFill>
                <a:latin typeface="Segoe UI"/>
              </a:rPr>
              <a:t>• Координация команды</a:t>
            </a:r>
          </a:p>
          <a:p>
            <a:r>
              <a:rPr sz="1130">
                <a:solidFill>
                  <a:srgbClr val="F2F7FF"/>
                </a:solidFill>
                <a:latin typeface="Segoe UI"/>
              </a:rPr>
              <a:t>• UI/UX и визуальная концепция</a:t>
            </a:r>
          </a:p>
          <a:p>
            <a:r>
              <a:rPr sz="1130">
                <a:solidFill>
                  <a:srgbClr val="F2F7FF"/>
                </a:solidFill>
                <a:latin typeface="Segoe UI"/>
              </a:rPr>
              <a:t>• Документация и защита проекта</a:t>
            </a:r>
          </a:p>
        </p:txBody>
      </p:sp>
      <p:sp>
        <p:nvSpPr>
          <p:cNvPr id="19" name="TextBox 18"/>
          <p:cNvSpPr txBox="1"/>
          <p:nvPr/>
        </p:nvSpPr>
        <p:spPr>
          <a:xfrm>
            <a:off x="3803903" y="4160520"/>
            <a:ext cx="4480560" cy="228600"/>
          </a:xfrm>
          <a:prstGeom prst="rect">
            <a:avLst/>
          </a:prstGeom>
          <a:noFill/>
        </p:spPr>
        <p:txBody>
          <a:bodyPr wrap="none">
            <a:spAutoFit/>
          </a:bodyPr>
          <a:lstStyle/>
          <a:p>
            <a:r>
              <a:rPr sz="1150" b="1">
                <a:solidFill>
                  <a:srgbClr val="ACBDD2"/>
                </a:solidFill>
                <a:latin typeface="Segoe UI"/>
              </a:rPr>
              <a:t>Контактные данные</a:t>
            </a:r>
          </a:p>
        </p:txBody>
      </p:sp>
      <p:sp>
        <p:nvSpPr>
          <p:cNvPr id="20" name="TextBox 19"/>
          <p:cNvSpPr txBox="1"/>
          <p:nvPr/>
        </p:nvSpPr>
        <p:spPr>
          <a:xfrm>
            <a:off x="3822191" y="4407408"/>
            <a:ext cx="4526280" cy="1051560"/>
          </a:xfrm>
          <a:prstGeom prst="rect">
            <a:avLst/>
          </a:prstGeom>
          <a:noFill/>
        </p:spPr>
        <p:txBody>
          <a:bodyPr wrap="square">
            <a:spAutoFit/>
          </a:bodyPr>
          <a:lstStyle/>
          <a:p>
            <a:r>
              <a:rPr sz="1110">
                <a:solidFill>
                  <a:srgbClr val="F2F7FF"/>
                </a:solidFill>
                <a:latin typeface="Segoe UI"/>
              </a:rPr>
              <a:t>Телефон: +7 977 255-62-50</a:t>
            </a:r>
          </a:p>
          <a:p>
            <a:r>
              <a:rPr sz="1110">
                <a:solidFill>
                  <a:srgbClr val="F2F7FF"/>
                </a:solidFill>
                <a:latin typeface="Segoe UI"/>
              </a:rPr>
              <a:t>GitHub: github.com/Crsader8998</a:t>
            </a:r>
          </a:p>
          <a:p>
            <a:r>
              <a:rPr sz="1110">
                <a:solidFill>
                  <a:srgbClr val="F2F7FF"/>
                </a:solidFill>
                <a:latin typeface="Segoe UI"/>
              </a:rPr>
              <a:t>Проект: github.com/Crsader8998/mycreative-3d-scanner</a:t>
            </a:r>
          </a:p>
        </p:txBody>
      </p:sp>
      <p:sp>
        <p:nvSpPr>
          <p:cNvPr id="29" name="Rounded Rectangle 28"/>
          <p:cNvSpPr/>
          <p:nvPr/>
        </p:nvSpPr>
        <p:spPr>
          <a:xfrm>
            <a:off x="3776471" y="5202936"/>
            <a:ext cx="4572000" cy="411480"/>
          </a:xfrm>
          <a:prstGeom prst="roundRect">
            <a:avLst/>
          </a:prstGeom>
          <a:solidFill>
            <a:srgbClr val="153157"/>
          </a:solidFill>
          <a:ln>
            <a:solidFill>
              <a:srgbClr val="34DBD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dirty="0" err="1">
                <a:solidFill>
                  <a:srgbClr val="F2F7FF"/>
                </a:solidFill>
                <a:latin typeface="Segoe UI"/>
              </a:rPr>
              <a:t>MyCreative</a:t>
            </a:r>
            <a:r>
              <a:rPr sz="1150" b="1" dirty="0">
                <a:solidFill>
                  <a:srgbClr val="F2F7FF"/>
                </a:solidFill>
                <a:latin typeface="Segoe UI"/>
              </a:rPr>
              <a:t> 2.0 • </a:t>
            </a:r>
            <a:r>
              <a:rPr sz="1150" b="1" dirty="0" err="1">
                <a:solidFill>
                  <a:srgbClr val="F2F7FF"/>
                </a:solidFill>
                <a:latin typeface="Segoe UI"/>
              </a:rPr>
              <a:t>веб-приложение</a:t>
            </a:r>
            <a:r>
              <a:rPr sz="1150" b="1" dirty="0">
                <a:solidFill>
                  <a:srgbClr val="F2F7FF"/>
                </a:solidFill>
                <a:latin typeface="Segoe UI"/>
              </a:rPr>
              <a:t> и </a:t>
            </a:r>
            <a:r>
              <a:rPr sz="1150" b="1" dirty="0" err="1">
                <a:solidFill>
                  <a:srgbClr val="F2F7FF"/>
                </a:solidFill>
                <a:latin typeface="Segoe UI"/>
              </a:rPr>
              <a:t>концепция</a:t>
            </a:r>
            <a:r>
              <a:rPr sz="1150" b="1" dirty="0">
                <a:solidFill>
                  <a:srgbClr val="F2F7FF"/>
                </a:solidFill>
                <a:latin typeface="Segoe UI"/>
              </a:rPr>
              <a:t> 3D-сканера</a:t>
            </a:r>
          </a:p>
        </p:txBody>
      </p:sp>
      <p:sp>
        <p:nvSpPr>
          <p:cNvPr id="30" name="Oval 26"/>
          <p:cNvSpPr/>
          <p:nvPr/>
        </p:nvSpPr>
        <p:spPr>
          <a:xfrm>
            <a:off x="-512064" y="4695444"/>
            <a:ext cx="2560320" cy="2560320"/>
          </a:xfrm>
          <a:prstGeom prst="ellipse">
            <a:avLst/>
          </a:prstGeom>
          <a:solidFill>
            <a:srgbClr val="34DB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6519672"/>
            <a:ext cx="3701654" cy="284693"/>
          </a:xfrm>
          <a:prstGeom prst="rect">
            <a:avLst/>
          </a:prstGeom>
          <a:noFill/>
        </p:spPr>
        <p:txBody>
          <a:bodyPr wrap="none">
            <a:spAutoFit/>
          </a:bodyPr>
          <a:lstStyle/>
          <a:p>
            <a:r>
              <a:rPr sz="1250" dirty="0">
                <a:latin typeface="Segoe UI"/>
              </a:rPr>
              <a:t>Вашкинель </a:t>
            </a:r>
            <a:r>
              <a:rPr sz="1250" dirty="0" err="1">
                <a:latin typeface="Segoe UI"/>
              </a:rPr>
              <a:t>Олег</a:t>
            </a:r>
            <a:r>
              <a:rPr sz="1250" dirty="0">
                <a:latin typeface="Segoe UI"/>
              </a:rPr>
              <a:t> и </a:t>
            </a:r>
            <a:r>
              <a:rPr sz="1250" dirty="0" err="1">
                <a:solidFill>
                  <a:schemeClr val="bg1">
                    <a:lumMod val="95000"/>
                  </a:schemeClr>
                </a:solidFill>
                <a:latin typeface="Segoe UI"/>
              </a:rPr>
              <a:t>Денисов</a:t>
            </a:r>
            <a:r>
              <a:rPr sz="1250" dirty="0">
                <a:solidFill>
                  <a:schemeClr val="bg1">
                    <a:lumMod val="95000"/>
                  </a:schemeClr>
                </a:solidFill>
                <a:latin typeface="Segoe UI"/>
              </a:rPr>
              <a:t> </a:t>
            </a:r>
            <a:r>
              <a:rPr sz="1250" dirty="0" err="1">
                <a:solidFill>
                  <a:schemeClr val="bg1">
                    <a:lumMod val="95000"/>
                  </a:schemeClr>
                </a:solidFill>
                <a:latin typeface="Segoe UI"/>
              </a:rPr>
              <a:t>Вячеслав</a:t>
            </a:r>
            <a:r>
              <a:rPr sz="1250" dirty="0">
                <a:solidFill>
                  <a:schemeClr val="bg1">
                    <a:lumMod val="95000"/>
                  </a:schemeClr>
                </a:solidFill>
                <a:latin typeface="Segoe UI"/>
              </a:rPr>
              <a:t> • 23ИС4-1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2971</Words>
  <Application>Microsoft Office PowerPoint</Application>
  <PresentationFormat>Широкоэкранный</PresentationFormat>
  <Paragraphs>523</Paragraphs>
  <Slides>35</Slides>
  <Notes>34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35</vt:i4>
      </vt:variant>
    </vt:vector>
  </HeadingPairs>
  <TitlesOfParts>
    <vt:vector size="41" baseType="lpstr">
      <vt:lpstr>Aptos</vt:lpstr>
      <vt:lpstr>Arial</vt:lpstr>
      <vt:lpstr>Calibri</vt:lpstr>
      <vt:lpstr>Consolas</vt:lpstr>
      <vt:lpstr>Segoe UI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MyCreative 2.0 — защита курсовой</dc:title>
  <dc:subject>Курсовая работа: 3D Scanner Concept</dc:subject>
  <dc:creator>Учебный проект MyCreative</dc:creator>
  <cp:lastModifiedBy>Oleg</cp:lastModifiedBy>
  <cp:revision>4</cp:revision>
  <dcterms:created xsi:type="dcterms:W3CDTF">2026-10-30T09:42:57Z</dcterms:created>
  <dcterms:modified xsi:type="dcterms:W3CDTF">2026-10-30T11:56:19Z</dcterms:modified>
</cp:coreProperties>
</file>